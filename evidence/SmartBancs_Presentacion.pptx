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06" autoAdjust="0"/>
    <p:restoredTop sz="94610"/>
  </p:normalViewPr>
  <p:slideViewPr>
    <p:cSldViewPr snapToGrid="0" snapToObjects="1">
      <p:cViewPr>
        <p:scale>
          <a:sx n="92" d="100"/>
          <a:sy n="92" d="100"/>
        </p:scale>
        <p:origin x="197" y="-3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601166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CH"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" name="Shape 1"/>
          <p:cNvSpPr/>
          <p:nvPr/>
        </p:nvSpPr>
        <p:spPr>
          <a:xfrm>
            <a:off x="320040" y="6473952"/>
            <a:ext cx="11567160" cy="0"/>
          </a:xfrm>
          <a:prstGeom prst="line">
            <a:avLst/>
          </a:prstGeom>
          <a:noFill/>
          <a:ln w="12700">
            <a:solidFill>
              <a:srgbClr val="17314D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" name="Text 2"/>
          <p:cNvSpPr/>
          <p:nvPr/>
        </p:nvSpPr>
        <p:spPr>
          <a:xfrm>
            <a:off x="438912" y="6510528"/>
            <a:ext cx="4480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60" dirty="0">
                <a:solidFill>
                  <a:srgbClr val="6F8C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SMARTBANCS / TECHNICAL CHALLENGE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73952"/>
            <a:ext cx="36576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F8CA8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73952"/>
            <a:ext cx="36576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F8CA8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74320"/>
            <a:ext cx="0" cy="6035040"/>
          </a:xfrm>
          <a:prstGeom prst="line">
            <a:avLst/>
          </a:prstGeom>
          <a:noFill/>
          <a:ln w="4445">
            <a:solidFill>
              <a:srgbClr val="12304A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" name="Shape 1"/>
          <p:cNvSpPr/>
          <p:nvPr/>
        </p:nvSpPr>
        <p:spPr>
          <a:xfrm>
            <a:off x="914400" y="274320"/>
            <a:ext cx="0" cy="6035040"/>
          </a:xfrm>
          <a:prstGeom prst="line">
            <a:avLst/>
          </a:prstGeom>
          <a:noFill/>
          <a:ln w="4445">
            <a:solidFill>
              <a:srgbClr val="12304A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" name="Shape 2"/>
          <p:cNvSpPr/>
          <p:nvPr/>
        </p:nvSpPr>
        <p:spPr>
          <a:xfrm>
            <a:off x="1417320" y="274320"/>
            <a:ext cx="0" cy="6035040"/>
          </a:xfrm>
          <a:prstGeom prst="line">
            <a:avLst/>
          </a:prstGeom>
          <a:noFill/>
          <a:ln w="4445">
            <a:solidFill>
              <a:srgbClr val="12304A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5" name="Shape 3"/>
          <p:cNvSpPr/>
          <p:nvPr/>
        </p:nvSpPr>
        <p:spPr>
          <a:xfrm>
            <a:off x="1920240" y="274320"/>
            <a:ext cx="0" cy="6035040"/>
          </a:xfrm>
          <a:prstGeom prst="line">
            <a:avLst/>
          </a:prstGeom>
          <a:noFill/>
          <a:ln w="4445">
            <a:solidFill>
              <a:srgbClr val="12304A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6" name="Shape 4"/>
          <p:cNvSpPr/>
          <p:nvPr/>
        </p:nvSpPr>
        <p:spPr>
          <a:xfrm>
            <a:off x="2423160" y="274320"/>
            <a:ext cx="0" cy="6035040"/>
          </a:xfrm>
          <a:prstGeom prst="line">
            <a:avLst/>
          </a:prstGeom>
          <a:noFill/>
          <a:ln w="4445">
            <a:solidFill>
              <a:srgbClr val="12304A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7" name="Shape 5"/>
          <p:cNvSpPr/>
          <p:nvPr/>
        </p:nvSpPr>
        <p:spPr>
          <a:xfrm>
            <a:off x="2926080" y="274320"/>
            <a:ext cx="0" cy="6035040"/>
          </a:xfrm>
          <a:prstGeom prst="line">
            <a:avLst/>
          </a:prstGeom>
          <a:noFill/>
          <a:ln w="4445">
            <a:solidFill>
              <a:srgbClr val="12304A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8" name="Shape 6"/>
          <p:cNvSpPr/>
          <p:nvPr/>
        </p:nvSpPr>
        <p:spPr>
          <a:xfrm>
            <a:off x="3429000" y="274320"/>
            <a:ext cx="0" cy="6035040"/>
          </a:xfrm>
          <a:prstGeom prst="line">
            <a:avLst/>
          </a:prstGeom>
          <a:noFill/>
          <a:ln w="4445">
            <a:solidFill>
              <a:srgbClr val="12304A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9" name="Shape 7"/>
          <p:cNvSpPr/>
          <p:nvPr/>
        </p:nvSpPr>
        <p:spPr>
          <a:xfrm>
            <a:off x="3931920" y="274320"/>
            <a:ext cx="0" cy="6035040"/>
          </a:xfrm>
          <a:prstGeom prst="line">
            <a:avLst/>
          </a:prstGeom>
          <a:noFill/>
          <a:ln w="4445">
            <a:solidFill>
              <a:srgbClr val="12304A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0" name="Shape 8"/>
          <p:cNvSpPr/>
          <p:nvPr/>
        </p:nvSpPr>
        <p:spPr>
          <a:xfrm>
            <a:off x="4044142" y="548640"/>
            <a:ext cx="0" cy="6035040"/>
          </a:xfrm>
          <a:prstGeom prst="line">
            <a:avLst/>
          </a:prstGeom>
          <a:noFill/>
          <a:ln w="4445">
            <a:solidFill>
              <a:srgbClr val="12304A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1" name="Shape 9"/>
          <p:cNvSpPr/>
          <p:nvPr/>
        </p:nvSpPr>
        <p:spPr>
          <a:xfrm>
            <a:off x="4937760" y="274320"/>
            <a:ext cx="0" cy="6035040"/>
          </a:xfrm>
          <a:prstGeom prst="line">
            <a:avLst/>
          </a:prstGeom>
          <a:noFill/>
          <a:ln w="4445">
            <a:solidFill>
              <a:srgbClr val="12304A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2" name="Shape 10"/>
          <p:cNvSpPr/>
          <p:nvPr/>
        </p:nvSpPr>
        <p:spPr>
          <a:xfrm>
            <a:off x="5440680" y="274320"/>
            <a:ext cx="0" cy="6035040"/>
          </a:xfrm>
          <a:prstGeom prst="line">
            <a:avLst/>
          </a:prstGeom>
          <a:noFill/>
          <a:ln w="4445">
            <a:solidFill>
              <a:srgbClr val="12304A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3" name="Shape 11"/>
          <p:cNvSpPr/>
          <p:nvPr/>
        </p:nvSpPr>
        <p:spPr>
          <a:xfrm>
            <a:off x="5943600" y="274320"/>
            <a:ext cx="0" cy="6035040"/>
          </a:xfrm>
          <a:prstGeom prst="line">
            <a:avLst/>
          </a:prstGeom>
          <a:noFill/>
          <a:ln w="4445">
            <a:solidFill>
              <a:srgbClr val="12304A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4" name="Shape 12"/>
          <p:cNvSpPr/>
          <p:nvPr/>
        </p:nvSpPr>
        <p:spPr>
          <a:xfrm>
            <a:off x="6446520" y="274320"/>
            <a:ext cx="0" cy="6035040"/>
          </a:xfrm>
          <a:prstGeom prst="line">
            <a:avLst/>
          </a:prstGeom>
          <a:noFill/>
          <a:ln w="4445">
            <a:solidFill>
              <a:srgbClr val="12304A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5" name="Shape 13"/>
          <p:cNvSpPr/>
          <p:nvPr/>
        </p:nvSpPr>
        <p:spPr>
          <a:xfrm>
            <a:off x="6949440" y="274320"/>
            <a:ext cx="0" cy="6035040"/>
          </a:xfrm>
          <a:prstGeom prst="line">
            <a:avLst/>
          </a:prstGeom>
          <a:noFill/>
          <a:ln w="4445">
            <a:solidFill>
              <a:srgbClr val="12304A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6" name="Shape 14"/>
          <p:cNvSpPr/>
          <p:nvPr/>
        </p:nvSpPr>
        <p:spPr>
          <a:xfrm>
            <a:off x="7452360" y="274320"/>
            <a:ext cx="0" cy="6035040"/>
          </a:xfrm>
          <a:prstGeom prst="line">
            <a:avLst/>
          </a:prstGeom>
          <a:noFill/>
          <a:ln w="4445">
            <a:solidFill>
              <a:srgbClr val="12304A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7" name="Shape 15"/>
          <p:cNvSpPr/>
          <p:nvPr/>
        </p:nvSpPr>
        <p:spPr>
          <a:xfrm>
            <a:off x="7955280" y="274320"/>
            <a:ext cx="0" cy="6035040"/>
          </a:xfrm>
          <a:prstGeom prst="line">
            <a:avLst/>
          </a:prstGeom>
          <a:noFill/>
          <a:ln w="4445">
            <a:solidFill>
              <a:srgbClr val="12304A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8" name="Shape 16"/>
          <p:cNvSpPr/>
          <p:nvPr/>
        </p:nvSpPr>
        <p:spPr>
          <a:xfrm>
            <a:off x="8458200" y="274320"/>
            <a:ext cx="0" cy="6035040"/>
          </a:xfrm>
          <a:prstGeom prst="line">
            <a:avLst/>
          </a:prstGeom>
          <a:noFill/>
          <a:ln w="4445">
            <a:solidFill>
              <a:srgbClr val="12304A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9" name="Shape 17"/>
          <p:cNvSpPr/>
          <p:nvPr/>
        </p:nvSpPr>
        <p:spPr>
          <a:xfrm>
            <a:off x="8961120" y="274320"/>
            <a:ext cx="0" cy="6035040"/>
          </a:xfrm>
          <a:prstGeom prst="line">
            <a:avLst/>
          </a:prstGeom>
          <a:noFill/>
          <a:ln w="4445">
            <a:solidFill>
              <a:srgbClr val="12304A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0" name="Shape 18"/>
          <p:cNvSpPr/>
          <p:nvPr/>
        </p:nvSpPr>
        <p:spPr>
          <a:xfrm>
            <a:off x="9464040" y="274320"/>
            <a:ext cx="0" cy="6035040"/>
          </a:xfrm>
          <a:prstGeom prst="line">
            <a:avLst/>
          </a:prstGeom>
          <a:noFill/>
          <a:ln w="4445">
            <a:solidFill>
              <a:srgbClr val="12304A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1" name="Shape 19"/>
          <p:cNvSpPr/>
          <p:nvPr/>
        </p:nvSpPr>
        <p:spPr>
          <a:xfrm>
            <a:off x="9966960" y="274320"/>
            <a:ext cx="0" cy="6035040"/>
          </a:xfrm>
          <a:prstGeom prst="line">
            <a:avLst/>
          </a:prstGeom>
          <a:noFill/>
          <a:ln w="4445">
            <a:solidFill>
              <a:srgbClr val="12304A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2" name="Shape 20"/>
          <p:cNvSpPr/>
          <p:nvPr/>
        </p:nvSpPr>
        <p:spPr>
          <a:xfrm>
            <a:off x="10469880" y="274320"/>
            <a:ext cx="0" cy="6035040"/>
          </a:xfrm>
          <a:prstGeom prst="line">
            <a:avLst/>
          </a:prstGeom>
          <a:noFill/>
          <a:ln w="4445">
            <a:solidFill>
              <a:srgbClr val="12304A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3" name="Shape 21"/>
          <p:cNvSpPr/>
          <p:nvPr/>
        </p:nvSpPr>
        <p:spPr>
          <a:xfrm>
            <a:off x="10972800" y="274320"/>
            <a:ext cx="0" cy="6035040"/>
          </a:xfrm>
          <a:prstGeom prst="line">
            <a:avLst/>
          </a:prstGeom>
          <a:noFill/>
          <a:ln w="4445">
            <a:solidFill>
              <a:srgbClr val="12304A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4" name="Shape 22"/>
          <p:cNvSpPr/>
          <p:nvPr/>
        </p:nvSpPr>
        <p:spPr>
          <a:xfrm>
            <a:off x="11475720" y="274320"/>
            <a:ext cx="0" cy="6035040"/>
          </a:xfrm>
          <a:prstGeom prst="line">
            <a:avLst/>
          </a:prstGeom>
          <a:noFill/>
          <a:ln w="4445">
            <a:solidFill>
              <a:srgbClr val="12304A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5" name="Shape 23"/>
          <p:cNvSpPr/>
          <p:nvPr/>
        </p:nvSpPr>
        <p:spPr>
          <a:xfrm>
            <a:off x="320040" y="365760"/>
            <a:ext cx="11521440" cy="0"/>
          </a:xfrm>
          <a:prstGeom prst="line">
            <a:avLst/>
          </a:prstGeom>
          <a:noFill/>
          <a:ln w="4445">
            <a:solidFill>
              <a:srgbClr val="12304A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6" name="Shape 24"/>
          <p:cNvSpPr/>
          <p:nvPr/>
        </p:nvSpPr>
        <p:spPr>
          <a:xfrm>
            <a:off x="320040" y="822960"/>
            <a:ext cx="11521440" cy="0"/>
          </a:xfrm>
          <a:prstGeom prst="line">
            <a:avLst/>
          </a:prstGeom>
          <a:noFill/>
          <a:ln w="4445">
            <a:solidFill>
              <a:srgbClr val="12304A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7" name="Shape 25"/>
          <p:cNvSpPr/>
          <p:nvPr/>
        </p:nvSpPr>
        <p:spPr>
          <a:xfrm>
            <a:off x="320040" y="1280160"/>
            <a:ext cx="11521440" cy="0"/>
          </a:xfrm>
          <a:prstGeom prst="line">
            <a:avLst/>
          </a:prstGeom>
          <a:noFill/>
          <a:ln w="4445">
            <a:solidFill>
              <a:srgbClr val="12304A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8" name="Shape 26"/>
          <p:cNvSpPr/>
          <p:nvPr/>
        </p:nvSpPr>
        <p:spPr>
          <a:xfrm>
            <a:off x="320040" y="1737360"/>
            <a:ext cx="11521440" cy="0"/>
          </a:xfrm>
          <a:prstGeom prst="line">
            <a:avLst/>
          </a:prstGeom>
          <a:noFill/>
          <a:ln w="4445">
            <a:solidFill>
              <a:srgbClr val="12304A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9" name="Shape 27"/>
          <p:cNvSpPr/>
          <p:nvPr/>
        </p:nvSpPr>
        <p:spPr>
          <a:xfrm>
            <a:off x="320040" y="2194560"/>
            <a:ext cx="11521440" cy="0"/>
          </a:xfrm>
          <a:prstGeom prst="line">
            <a:avLst/>
          </a:prstGeom>
          <a:noFill/>
          <a:ln w="4445">
            <a:solidFill>
              <a:srgbClr val="12304A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0" name="Shape 28"/>
          <p:cNvSpPr/>
          <p:nvPr/>
        </p:nvSpPr>
        <p:spPr>
          <a:xfrm>
            <a:off x="320040" y="2651760"/>
            <a:ext cx="11521440" cy="0"/>
          </a:xfrm>
          <a:prstGeom prst="line">
            <a:avLst/>
          </a:prstGeom>
          <a:noFill/>
          <a:ln w="4445">
            <a:solidFill>
              <a:srgbClr val="12304A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1" name="Shape 29"/>
          <p:cNvSpPr/>
          <p:nvPr/>
        </p:nvSpPr>
        <p:spPr>
          <a:xfrm>
            <a:off x="320040" y="3108960"/>
            <a:ext cx="11521440" cy="0"/>
          </a:xfrm>
          <a:prstGeom prst="line">
            <a:avLst/>
          </a:prstGeom>
          <a:noFill/>
          <a:ln w="4445">
            <a:solidFill>
              <a:srgbClr val="12304A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2" name="Shape 30"/>
          <p:cNvSpPr/>
          <p:nvPr/>
        </p:nvSpPr>
        <p:spPr>
          <a:xfrm>
            <a:off x="320040" y="3566160"/>
            <a:ext cx="11521440" cy="0"/>
          </a:xfrm>
          <a:prstGeom prst="line">
            <a:avLst/>
          </a:prstGeom>
          <a:noFill/>
          <a:ln w="4445">
            <a:solidFill>
              <a:srgbClr val="12304A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3" name="Shape 31"/>
          <p:cNvSpPr/>
          <p:nvPr/>
        </p:nvSpPr>
        <p:spPr>
          <a:xfrm>
            <a:off x="320040" y="4023360"/>
            <a:ext cx="11521440" cy="0"/>
          </a:xfrm>
          <a:prstGeom prst="line">
            <a:avLst/>
          </a:prstGeom>
          <a:noFill/>
          <a:ln w="4445">
            <a:solidFill>
              <a:srgbClr val="12304A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4" name="Shape 32"/>
          <p:cNvSpPr/>
          <p:nvPr/>
        </p:nvSpPr>
        <p:spPr>
          <a:xfrm>
            <a:off x="320040" y="4480560"/>
            <a:ext cx="11521440" cy="0"/>
          </a:xfrm>
          <a:prstGeom prst="line">
            <a:avLst/>
          </a:prstGeom>
          <a:noFill/>
          <a:ln w="4445">
            <a:solidFill>
              <a:srgbClr val="12304A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5" name="Shape 33"/>
          <p:cNvSpPr/>
          <p:nvPr/>
        </p:nvSpPr>
        <p:spPr>
          <a:xfrm>
            <a:off x="320040" y="4937760"/>
            <a:ext cx="11521440" cy="0"/>
          </a:xfrm>
          <a:prstGeom prst="line">
            <a:avLst/>
          </a:prstGeom>
          <a:noFill/>
          <a:ln w="4445">
            <a:solidFill>
              <a:srgbClr val="12304A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6" name="Shape 34"/>
          <p:cNvSpPr/>
          <p:nvPr/>
        </p:nvSpPr>
        <p:spPr>
          <a:xfrm>
            <a:off x="320040" y="5394960"/>
            <a:ext cx="11521440" cy="0"/>
          </a:xfrm>
          <a:prstGeom prst="line">
            <a:avLst/>
          </a:prstGeom>
          <a:noFill/>
          <a:ln w="4445">
            <a:solidFill>
              <a:srgbClr val="12304A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7" name="Shape 35"/>
          <p:cNvSpPr/>
          <p:nvPr/>
        </p:nvSpPr>
        <p:spPr>
          <a:xfrm>
            <a:off x="320040" y="5852160"/>
            <a:ext cx="11521440" cy="0"/>
          </a:xfrm>
          <a:prstGeom prst="line">
            <a:avLst/>
          </a:prstGeom>
          <a:noFill/>
          <a:ln w="4445">
            <a:solidFill>
              <a:srgbClr val="12304A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8" name="Shape 36"/>
          <p:cNvSpPr/>
          <p:nvPr/>
        </p:nvSpPr>
        <p:spPr>
          <a:xfrm>
            <a:off x="320040" y="6309360"/>
            <a:ext cx="11521440" cy="0"/>
          </a:xfrm>
          <a:prstGeom prst="line">
            <a:avLst/>
          </a:prstGeom>
          <a:noFill/>
          <a:ln w="4445">
            <a:solidFill>
              <a:srgbClr val="12304A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9" name="Shape 37"/>
          <p:cNvSpPr/>
          <p:nvPr/>
        </p:nvSpPr>
        <p:spPr>
          <a:xfrm>
            <a:off x="18288" y="18288"/>
            <a:ext cx="1920240" cy="1920240"/>
          </a:xfrm>
          <a:prstGeom prst="ellipse">
            <a:avLst/>
          </a:prstGeom>
          <a:solidFill>
            <a:srgbClr val="27D3FF">
              <a:alpha val="18000"/>
            </a:srgbClr>
          </a:solidFill>
          <a:ln w="12700">
            <a:solidFill>
              <a:srgbClr val="27D3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0" name="Shape 38"/>
          <p:cNvSpPr/>
          <p:nvPr/>
        </p:nvSpPr>
        <p:spPr>
          <a:xfrm>
            <a:off x="10195560" y="4526280"/>
            <a:ext cx="1737360" cy="1737360"/>
          </a:xfrm>
          <a:prstGeom prst="ellipse">
            <a:avLst/>
          </a:prstGeom>
          <a:solidFill>
            <a:srgbClr val="8C65FF">
              <a:alpha val="14000"/>
            </a:srgbClr>
          </a:solidFill>
          <a:ln w="12700">
            <a:solidFill>
              <a:srgbClr val="8C65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3" name="Text 41"/>
          <p:cNvSpPr/>
          <p:nvPr/>
        </p:nvSpPr>
        <p:spPr>
          <a:xfrm>
            <a:off x="676656" y="1417320"/>
            <a:ext cx="6949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5F9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SmartBancs</a:t>
            </a:r>
            <a:endParaRPr lang="en-US" sz="3400" dirty="0"/>
          </a:p>
        </p:txBody>
      </p:sp>
      <p:sp>
        <p:nvSpPr>
          <p:cNvPr id="44" name="Text 42"/>
          <p:cNvSpPr/>
          <p:nvPr/>
        </p:nvSpPr>
        <p:spPr>
          <a:xfrm>
            <a:off x="713232" y="2267712"/>
            <a:ext cx="65836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20" dirty="0">
                <a:solidFill>
                  <a:srgbClr val="9AB2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Transacciones financieras seguras, integración legacy e IA asíncrona</a:t>
            </a:r>
            <a:endParaRPr lang="en-US" sz="1820" dirty="0"/>
          </a:p>
        </p:txBody>
      </p:sp>
      <p:sp>
        <p:nvSpPr>
          <p:cNvPr id="45" name="Text 43"/>
          <p:cNvSpPr/>
          <p:nvPr/>
        </p:nvSpPr>
        <p:spPr>
          <a:xfrm>
            <a:off x="722376" y="3246120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7D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3.11  •  FastAPI  •  MariaDB  •  Docker Compose</a:t>
            </a:r>
            <a:endParaRPr lang="en-US" sz="1150" dirty="0"/>
          </a:p>
        </p:txBody>
      </p:sp>
      <p:sp>
        <p:nvSpPr>
          <p:cNvPr id="46" name="Shape 44"/>
          <p:cNvSpPr/>
          <p:nvPr/>
        </p:nvSpPr>
        <p:spPr>
          <a:xfrm>
            <a:off x="8001000" y="1143000"/>
            <a:ext cx="3246120" cy="3246120"/>
          </a:xfrm>
          <a:prstGeom prst="ellipse">
            <a:avLst/>
          </a:prstGeom>
          <a:solidFill>
            <a:srgbClr val="0A1F33"/>
          </a:solidFill>
          <a:ln w="17780">
            <a:solidFill>
              <a:srgbClr val="27D3FF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7" name="Shape 45"/>
          <p:cNvSpPr/>
          <p:nvPr/>
        </p:nvSpPr>
        <p:spPr>
          <a:xfrm>
            <a:off x="8385048" y="1527048"/>
            <a:ext cx="2468880" cy="2468880"/>
          </a:xfrm>
          <a:prstGeom prst="ellipse">
            <a:avLst/>
          </a:prstGeom>
          <a:solidFill>
            <a:srgbClr val="0A1B2C"/>
          </a:solidFill>
          <a:ln w="13970">
            <a:solidFill>
              <a:srgbClr val="4B7BFF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8" name="Shape 46"/>
          <p:cNvSpPr/>
          <p:nvPr/>
        </p:nvSpPr>
        <p:spPr>
          <a:xfrm>
            <a:off x="8842248" y="1984248"/>
            <a:ext cx="1554480" cy="1554480"/>
          </a:xfrm>
          <a:prstGeom prst="ellipse">
            <a:avLst/>
          </a:prstGeom>
          <a:solidFill>
            <a:srgbClr val="27D3FF">
              <a:alpha val="13000"/>
            </a:srgbClr>
          </a:solidFill>
          <a:ln w="17780">
            <a:solidFill>
              <a:srgbClr val="27D3FF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9" name="Text 47"/>
          <p:cNvSpPr/>
          <p:nvPr/>
        </p:nvSpPr>
        <p:spPr>
          <a:xfrm>
            <a:off x="9134856" y="2459736"/>
            <a:ext cx="960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F5F9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SB</a:t>
            </a:r>
            <a:endParaRPr lang="en-US" sz="2300" dirty="0"/>
          </a:p>
        </p:txBody>
      </p:sp>
      <p:sp>
        <p:nvSpPr>
          <p:cNvPr id="50" name="Shape 48"/>
          <p:cNvSpPr/>
          <p:nvPr/>
        </p:nvSpPr>
        <p:spPr>
          <a:xfrm>
            <a:off x="7598665" y="1175004"/>
            <a:ext cx="1097280" cy="310896"/>
          </a:xfrm>
          <a:prstGeom prst="roundRect">
            <a:avLst>
              <a:gd name="adj" fmla="val 35294"/>
            </a:avLst>
          </a:prstGeom>
          <a:solidFill>
            <a:srgbClr val="27D3FF">
              <a:alpha val="18000"/>
            </a:srgbClr>
          </a:solidFill>
          <a:ln w="10160">
            <a:solidFill>
              <a:srgbClr val="27D3FF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51" name="Text 49"/>
          <p:cNvSpPr/>
          <p:nvPr/>
        </p:nvSpPr>
        <p:spPr>
          <a:xfrm>
            <a:off x="7653529" y="1234440"/>
            <a:ext cx="9875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40" b="1" dirty="0">
                <a:solidFill>
                  <a:srgbClr val="27D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</a:t>
            </a:r>
            <a:endParaRPr lang="en-US" sz="940" dirty="0"/>
          </a:p>
        </p:txBody>
      </p:sp>
      <p:sp>
        <p:nvSpPr>
          <p:cNvPr id="52" name="Shape 50"/>
          <p:cNvSpPr/>
          <p:nvPr/>
        </p:nvSpPr>
        <p:spPr>
          <a:xfrm>
            <a:off x="10652759" y="1161288"/>
            <a:ext cx="1097280" cy="310896"/>
          </a:xfrm>
          <a:prstGeom prst="roundRect">
            <a:avLst>
              <a:gd name="adj" fmla="val 35294"/>
            </a:avLst>
          </a:prstGeom>
          <a:solidFill>
            <a:srgbClr val="4B7BFF">
              <a:alpha val="18000"/>
            </a:srgbClr>
          </a:solidFill>
          <a:ln w="10160">
            <a:solidFill>
              <a:srgbClr val="4B7BFF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53" name="Text 51"/>
          <p:cNvSpPr/>
          <p:nvPr/>
        </p:nvSpPr>
        <p:spPr>
          <a:xfrm>
            <a:off x="10707623" y="1220724"/>
            <a:ext cx="9875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40" b="1" dirty="0">
                <a:solidFill>
                  <a:srgbClr val="4B7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</a:t>
            </a:r>
            <a:endParaRPr lang="en-US" sz="940" dirty="0"/>
          </a:p>
        </p:txBody>
      </p:sp>
      <p:sp>
        <p:nvSpPr>
          <p:cNvPr id="54" name="Shape 52"/>
          <p:cNvSpPr/>
          <p:nvPr/>
        </p:nvSpPr>
        <p:spPr>
          <a:xfrm>
            <a:off x="10707624" y="4055364"/>
            <a:ext cx="1097280" cy="310896"/>
          </a:xfrm>
          <a:prstGeom prst="roundRect">
            <a:avLst>
              <a:gd name="adj" fmla="val 35294"/>
            </a:avLst>
          </a:prstGeom>
          <a:solidFill>
            <a:srgbClr val="8C65FF">
              <a:alpha val="18000"/>
            </a:srgbClr>
          </a:solidFill>
          <a:ln w="10160">
            <a:solidFill>
              <a:srgbClr val="8C65FF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55" name="Text 53"/>
          <p:cNvSpPr/>
          <p:nvPr/>
        </p:nvSpPr>
        <p:spPr>
          <a:xfrm>
            <a:off x="10762488" y="4114800"/>
            <a:ext cx="9875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40" b="1" dirty="0">
                <a:solidFill>
                  <a:srgbClr val="8C6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</a:t>
            </a:r>
            <a:endParaRPr lang="en-US" sz="940" dirty="0"/>
          </a:p>
        </p:txBody>
      </p:sp>
      <p:sp>
        <p:nvSpPr>
          <p:cNvPr id="56" name="Shape 54"/>
          <p:cNvSpPr/>
          <p:nvPr/>
        </p:nvSpPr>
        <p:spPr>
          <a:xfrm>
            <a:off x="7552945" y="4062222"/>
            <a:ext cx="1097280" cy="310896"/>
          </a:xfrm>
          <a:prstGeom prst="roundRect">
            <a:avLst>
              <a:gd name="adj" fmla="val 35294"/>
            </a:avLst>
          </a:prstGeom>
          <a:solidFill>
            <a:srgbClr val="31D49B">
              <a:alpha val="18000"/>
            </a:srgbClr>
          </a:solidFill>
          <a:ln w="10160">
            <a:solidFill>
              <a:srgbClr val="31D49B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57" name="Text 55"/>
          <p:cNvSpPr/>
          <p:nvPr/>
        </p:nvSpPr>
        <p:spPr>
          <a:xfrm>
            <a:off x="7607809" y="4121658"/>
            <a:ext cx="9875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40" b="1" dirty="0">
                <a:solidFill>
                  <a:srgbClr val="31D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OUTBOX</a:t>
            </a:r>
            <a:endParaRPr lang="en-US" sz="940" dirty="0"/>
          </a:p>
        </p:txBody>
      </p:sp>
      <p:sp>
        <p:nvSpPr>
          <p:cNvPr id="58" name="Text 56"/>
          <p:cNvSpPr/>
          <p:nvPr/>
        </p:nvSpPr>
        <p:spPr>
          <a:xfrm>
            <a:off x="722376" y="5029200"/>
            <a:ext cx="676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F5F9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MVP  </a:t>
            </a:r>
            <a:r>
              <a:rPr lang="en-US" sz="1220" dirty="0" err="1">
                <a:solidFill>
                  <a:srgbClr val="F5F9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técnico</a:t>
            </a:r>
            <a:r>
              <a:rPr lang="en-US" sz="1220" dirty="0">
                <a:solidFill>
                  <a:srgbClr val="F5F9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• Arquitectura desacoplada • Enfoque en consistencia y resiliencia</a:t>
            </a:r>
            <a:endParaRPr lang="en-US" sz="1220" dirty="0"/>
          </a:p>
        </p:txBody>
      </p:sp>
      <p:sp>
        <p:nvSpPr>
          <p:cNvPr id="5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73952"/>
            <a:ext cx="36576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F8CA8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1</a:t>
            </a:fld>
            <a:endParaRPr lang="en-US"/>
          </a:p>
        </p:txBody>
      </p:sp>
      <p:sp>
        <p:nvSpPr>
          <p:cNvPr id="61" name="Text 56">
            <a:extLst>
              <a:ext uri="{FF2B5EF4-FFF2-40B4-BE49-F238E27FC236}">
                <a16:creationId xmlns:a16="http://schemas.microsoft.com/office/drawing/2014/main" id="{E66F0733-C7BD-746E-55CC-473E868E514C}"/>
              </a:ext>
            </a:extLst>
          </p:cNvPr>
          <p:cNvSpPr/>
          <p:nvPr/>
        </p:nvSpPr>
        <p:spPr>
          <a:xfrm>
            <a:off x="722376" y="5420591"/>
            <a:ext cx="676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F5F9FD"/>
                </a:solidFill>
                <a:latin typeface="Arial" pitchFamily="34" charset="0"/>
                <a:cs typeface="Arial" pitchFamily="34" charset="-120"/>
              </a:rPr>
              <a:t>Por: Doménica Plaza</a:t>
            </a:r>
            <a:endParaRPr lang="en-US" sz="122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74320"/>
            <a:ext cx="0" cy="6035040"/>
          </a:xfrm>
          <a:prstGeom prst="line">
            <a:avLst/>
          </a:prstGeom>
          <a:noFill/>
          <a:ln w="4445">
            <a:solidFill>
              <a:srgbClr val="12304A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" name="Shape 1"/>
          <p:cNvSpPr/>
          <p:nvPr/>
        </p:nvSpPr>
        <p:spPr>
          <a:xfrm>
            <a:off x="914400" y="274320"/>
            <a:ext cx="0" cy="6035040"/>
          </a:xfrm>
          <a:prstGeom prst="line">
            <a:avLst/>
          </a:prstGeom>
          <a:noFill/>
          <a:ln w="4445">
            <a:solidFill>
              <a:srgbClr val="12304A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" name="Shape 2"/>
          <p:cNvSpPr/>
          <p:nvPr/>
        </p:nvSpPr>
        <p:spPr>
          <a:xfrm>
            <a:off x="1417320" y="274320"/>
            <a:ext cx="0" cy="6035040"/>
          </a:xfrm>
          <a:prstGeom prst="line">
            <a:avLst/>
          </a:prstGeom>
          <a:noFill/>
          <a:ln w="4445">
            <a:solidFill>
              <a:srgbClr val="12304A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5" name="Shape 3"/>
          <p:cNvSpPr/>
          <p:nvPr/>
        </p:nvSpPr>
        <p:spPr>
          <a:xfrm>
            <a:off x="1920240" y="274320"/>
            <a:ext cx="0" cy="6035040"/>
          </a:xfrm>
          <a:prstGeom prst="line">
            <a:avLst/>
          </a:prstGeom>
          <a:noFill/>
          <a:ln w="4445">
            <a:solidFill>
              <a:srgbClr val="12304A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6" name="Shape 4"/>
          <p:cNvSpPr/>
          <p:nvPr/>
        </p:nvSpPr>
        <p:spPr>
          <a:xfrm>
            <a:off x="2423160" y="274320"/>
            <a:ext cx="0" cy="6035040"/>
          </a:xfrm>
          <a:prstGeom prst="line">
            <a:avLst/>
          </a:prstGeom>
          <a:noFill/>
          <a:ln w="4445">
            <a:solidFill>
              <a:srgbClr val="12304A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7" name="Shape 5"/>
          <p:cNvSpPr/>
          <p:nvPr/>
        </p:nvSpPr>
        <p:spPr>
          <a:xfrm>
            <a:off x="2926080" y="274320"/>
            <a:ext cx="0" cy="6035040"/>
          </a:xfrm>
          <a:prstGeom prst="line">
            <a:avLst/>
          </a:prstGeom>
          <a:noFill/>
          <a:ln w="4445">
            <a:solidFill>
              <a:srgbClr val="12304A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8" name="Shape 6"/>
          <p:cNvSpPr/>
          <p:nvPr/>
        </p:nvSpPr>
        <p:spPr>
          <a:xfrm>
            <a:off x="3429000" y="274320"/>
            <a:ext cx="0" cy="6035040"/>
          </a:xfrm>
          <a:prstGeom prst="line">
            <a:avLst/>
          </a:prstGeom>
          <a:noFill/>
          <a:ln w="4445">
            <a:solidFill>
              <a:srgbClr val="12304A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9" name="Shape 7"/>
          <p:cNvSpPr/>
          <p:nvPr/>
        </p:nvSpPr>
        <p:spPr>
          <a:xfrm>
            <a:off x="3931920" y="274320"/>
            <a:ext cx="0" cy="6035040"/>
          </a:xfrm>
          <a:prstGeom prst="line">
            <a:avLst/>
          </a:prstGeom>
          <a:noFill/>
          <a:ln w="4445">
            <a:solidFill>
              <a:srgbClr val="12304A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0" name="Shape 8"/>
          <p:cNvSpPr/>
          <p:nvPr/>
        </p:nvSpPr>
        <p:spPr>
          <a:xfrm>
            <a:off x="4434840" y="274320"/>
            <a:ext cx="0" cy="6035040"/>
          </a:xfrm>
          <a:prstGeom prst="line">
            <a:avLst/>
          </a:prstGeom>
          <a:noFill/>
          <a:ln w="4445">
            <a:solidFill>
              <a:srgbClr val="12304A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1" name="Shape 9"/>
          <p:cNvSpPr/>
          <p:nvPr/>
        </p:nvSpPr>
        <p:spPr>
          <a:xfrm>
            <a:off x="4937760" y="274320"/>
            <a:ext cx="0" cy="6035040"/>
          </a:xfrm>
          <a:prstGeom prst="line">
            <a:avLst/>
          </a:prstGeom>
          <a:noFill/>
          <a:ln w="4445">
            <a:solidFill>
              <a:srgbClr val="12304A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2" name="Shape 10"/>
          <p:cNvSpPr/>
          <p:nvPr/>
        </p:nvSpPr>
        <p:spPr>
          <a:xfrm>
            <a:off x="5440680" y="274320"/>
            <a:ext cx="0" cy="6035040"/>
          </a:xfrm>
          <a:prstGeom prst="line">
            <a:avLst/>
          </a:prstGeom>
          <a:noFill/>
          <a:ln w="4445">
            <a:solidFill>
              <a:srgbClr val="12304A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3" name="Shape 11"/>
          <p:cNvSpPr/>
          <p:nvPr/>
        </p:nvSpPr>
        <p:spPr>
          <a:xfrm>
            <a:off x="5943600" y="274320"/>
            <a:ext cx="0" cy="6035040"/>
          </a:xfrm>
          <a:prstGeom prst="line">
            <a:avLst/>
          </a:prstGeom>
          <a:noFill/>
          <a:ln w="4445">
            <a:solidFill>
              <a:srgbClr val="12304A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4" name="Shape 12"/>
          <p:cNvSpPr/>
          <p:nvPr/>
        </p:nvSpPr>
        <p:spPr>
          <a:xfrm>
            <a:off x="6446520" y="274320"/>
            <a:ext cx="0" cy="6035040"/>
          </a:xfrm>
          <a:prstGeom prst="line">
            <a:avLst/>
          </a:prstGeom>
          <a:noFill/>
          <a:ln w="4445">
            <a:solidFill>
              <a:srgbClr val="12304A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5" name="Shape 13"/>
          <p:cNvSpPr/>
          <p:nvPr/>
        </p:nvSpPr>
        <p:spPr>
          <a:xfrm>
            <a:off x="6949440" y="274320"/>
            <a:ext cx="0" cy="6035040"/>
          </a:xfrm>
          <a:prstGeom prst="line">
            <a:avLst/>
          </a:prstGeom>
          <a:noFill/>
          <a:ln w="4445">
            <a:solidFill>
              <a:srgbClr val="12304A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6" name="Shape 14"/>
          <p:cNvSpPr/>
          <p:nvPr/>
        </p:nvSpPr>
        <p:spPr>
          <a:xfrm>
            <a:off x="7452360" y="274320"/>
            <a:ext cx="0" cy="6035040"/>
          </a:xfrm>
          <a:prstGeom prst="line">
            <a:avLst/>
          </a:prstGeom>
          <a:noFill/>
          <a:ln w="4445">
            <a:solidFill>
              <a:srgbClr val="12304A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7" name="Shape 15"/>
          <p:cNvSpPr/>
          <p:nvPr/>
        </p:nvSpPr>
        <p:spPr>
          <a:xfrm>
            <a:off x="7955280" y="274320"/>
            <a:ext cx="0" cy="6035040"/>
          </a:xfrm>
          <a:prstGeom prst="line">
            <a:avLst/>
          </a:prstGeom>
          <a:noFill/>
          <a:ln w="4445">
            <a:solidFill>
              <a:srgbClr val="12304A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8" name="Shape 16"/>
          <p:cNvSpPr/>
          <p:nvPr/>
        </p:nvSpPr>
        <p:spPr>
          <a:xfrm>
            <a:off x="8458200" y="274320"/>
            <a:ext cx="0" cy="6035040"/>
          </a:xfrm>
          <a:prstGeom prst="line">
            <a:avLst/>
          </a:prstGeom>
          <a:noFill/>
          <a:ln w="4445">
            <a:solidFill>
              <a:srgbClr val="12304A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9" name="Shape 17"/>
          <p:cNvSpPr/>
          <p:nvPr/>
        </p:nvSpPr>
        <p:spPr>
          <a:xfrm>
            <a:off x="8961120" y="274320"/>
            <a:ext cx="0" cy="6035040"/>
          </a:xfrm>
          <a:prstGeom prst="line">
            <a:avLst/>
          </a:prstGeom>
          <a:noFill/>
          <a:ln w="4445">
            <a:solidFill>
              <a:srgbClr val="12304A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0" name="Shape 18"/>
          <p:cNvSpPr/>
          <p:nvPr/>
        </p:nvSpPr>
        <p:spPr>
          <a:xfrm>
            <a:off x="9464040" y="274320"/>
            <a:ext cx="0" cy="6035040"/>
          </a:xfrm>
          <a:prstGeom prst="line">
            <a:avLst/>
          </a:prstGeom>
          <a:noFill/>
          <a:ln w="4445">
            <a:solidFill>
              <a:srgbClr val="12304A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1" name="Shape 19"/>
          <p:cNvSpPr/>
          <p:nvPr/>
        </p:nvSpPr>
        <p:spPr>
          <a:xfrm>
            <a:off x="9966960" y="274320"/>
            <a:ext cx="0" cy="6035040"/>
          </a:xfrm>
          <a:prstGeom prst="line">
            <a:avLst/>
          </a:prstGeom>
          <a:noFill/>
          <a:ln w="4445">
            <a:solidFill>
              <a:srgbClr val="12304A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2" name="Shape 20"/>
          <p:cNvSpPr/>
          <p:nvPr/>
        </p:nvSpPr>
        <p:spPr>
          <a:xfrm>
            <a:off x="10469880" y="274320"/>
            <a:ext cx="0" cy="6035040"/>
          </a:xfrm>
          <a:prstGeom prst="line">
            <a:avLst/>
          </a:prstGeom>
          <a:noFill/>
          <a:ln w="4445">
            <a:solidFill>
              <a:srgbClr val="12304A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3" name="Shape 21"/>
          <p:cNvSpPr/>
          <p:nvPr/>
        </p:nvSpPr>
        <p:spPr>
          <a:xfrm>
            <a:off x="10972800" y="274320"/>
            <a:ext cx="0" cy="6035040"/>
          </a:xfrm>
          <a:prstGeom prst="line">
            <a:avLst/>
          </a:prstGeom>
          <a:noFill/>
          <a:ln w="4445">
            <a:solidFill>
              <a:srgbClr val="12304A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4" name="Shape 22"/>
          <p:cNvSpPr/>
          <p:nvPr/>
        </p:nvSpPr>
        <p:spPr>
          <a:xfrm>
            <a:off x="11475720" y="274320"/>
            <a:ext cx="0" cy="6035040"/>
          </a:xfrm>
          <a:prstGeom prst="line">
            <a:avLst/>
          </a:prstGeom>
          <a:noFill/>
          <a:ln w="4445">
            <a:solidFill>
              <a:srgbClr val="12304A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5" name="Shape 23"/>
          <p:cNvSpPr/>
          <p:nvPr/>
        </p:nvSpPr>
        <p:spPr>
          <a:xfrm>
            <a:off x="320040" y="365760"/>
            <a:ext cx="11521440" cy="0"/>
          </a:xfrm>
          <a:prstGeom prst="line">
            <a:avLst/>
          </a:prstGeom>
          <a:noFill/>
          <a:ln w="4445">
            <a:solidFill>
              <a:srgbClr val="12304A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6" name="Shape 24"/>
          <p:cNvSpPr/>
          <p:nvPr/>
        </p:nvSpPr>
        <p:spPr>
          <a:xfrm>
            <a:off x="320040" y="822960"/>
            <a:ext cx="11521440" cy="0"/>
          </a:xfrm>
          <a:prstGeom prst="line">
            <a:avLst/>
          </a:prstGeom>
          <a:noFill/>
          <a:ln w="4445">
            <a:solidFill>
              <a:srgbClr val="12304A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7" name="Shape 25"/>
          <p:cNvSpPr/>
          <p:nvPr/>
        </p:nvSpPr>
        <p:spPr>
          <a:xfrm>
            <a:off x="320040" y="1280160"/>
            <a:ext cx="11521440" cy="0"/>
          </a:xfrm>
          <a:prstGeom prst="line">
            <a:avLst/>
          </a:prstGeom>
          <a:noFill/>
          <a:ln w="4445">
            <a:solidFill>
              <a:srgbClr val="12304A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8" name="Shape 26"/>
          <p:cNvSpPr/>
          <p:nvPr/>
        </p:nvSpPr>
        <p:spPr>
          <a:xfrm>
            <a:off x="320040" y="1737360"/>
            <a:ext cx="11521440" cy="0"/>
          </a:xfrm>
          <a:prstGeom prst="line">
            <a:avLst/>
          </a:prstGeom>
          <a:noFill/>
          <a:ln w="4445">
            <a:solidFill>
              <a:srgbClr val="12304A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9" name="Shape 27"/>
          <p:cNvSpPr/>
          <p:nvPr/>
        </p:nvSpPr>
        <p:spPr>
          <a:xfrm>
            <a:off x="320040" y="2194560"/>
            <a:ext cx="11521440" cy="0"/>
          </a:xfrm>
          <a:prstGeom prst="line">
            <a:avLst/>
          </a:prstGeom>
          <a:noFill/>
          <a:ln w="4445">
            <a:solidFill>
              <a:srgbClr val="12304A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0" name="Shape 28"/>
          <p:cNvSpPr/>
          <p:nvPr/>
        </p:nvSpPr>
        <p:spPr>
          <a:xfrm>
            <a:off x="320040" y="2651760"/>
            <a:ext cx="11521440" cy="0"/>
          </a:xfrm>
          <a:prstGeom prst="line">
            <a:avLst/>
          </a:prstGeom>
          <a:noFill/>
          <a:ln w="4445">
            <a:solidFill>
              <a:srgbClr val="12304A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1" name="Shape 29"/>
          <p:cNvSpPr/>
          <p:nvPr/>
        </p:nvSpPr>
        <p:spPr>
          <a:xfrm>
            <a:off x="320040" y="3108960"/>
            <a:ext cx="11521440" cy="0"/>
          </a:xfrm>
          <a:prstGeom prst="line">
            <a:avLst/>
          </a:prstGeom>
          <a:noFill/>
          <a:ln w="4445">
            <a:solidFill>
              <a:srgbClr val="12304A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2" name="Shape 30"/>
          <p:cNvSpPr/>
          <p:nvPr/>
        </p:nvSpPr>
        <p:spPr>
          <a:xfrm>
            <a:off x="320040" y="3566160"/>
            <a:ext cx="11521440" cy="0"/>
          </a:xfrm>
          <a:prstGeom prst="line">
            <a:avLst/>
          </a:prstGeom>
          <a:noFill/>
          <a:ln w="4445">
            <a:solidFill>
              <a:srgbClr val="12304A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3" name="Shape 31"/>
          <p:cNvSpPr/>
          <p:nvPr/>
        </p:nvSpPr>
        <p:spPr>
          <a:xfrm>
            <a:off x="320040" y="4023360"/>
            <a:ext cx="11521440" cy="0"/>
          </a:xfrm>
          <a:prstGeom prst="line">
            <a:avLst/>
          </a:prstGeom>
          <a:noFill/>
          <a:ln w="4445">
            <a:solidFill>
              <a:srgbClr val="12304A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4" name="Shape 32"/>
          <p:cNvSpPr/>
          <p:nvPr/>
        </p:nvSpPr>
        <p:spPr>
          <a:xfrm>
            <a:off x="320040" y="4480560"/>
            <a:ext cx="11521440" cy="0"/>
          </a:xfrm>
          <a:prstGeom prst="line">
            <a:avLst/>
          </a:prstGeom>
          <a:noFill/>
          <a:ln w="4445">
            <a:solidFill>
              <a:srgbClr val="12304A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5" name="Shape 33"/>
          <p:cNvSpPr/>
          <p:nvPr/>
        </p:nvSpPr>
        <p:spPr>
          <a:xfrm>
            <a:off x="320040" y="4937760"/>
            <a:ext cx="11521440" cy="0"/>
          </a:xfrm>
          <a:prstGeom prst="line">
            <a:avLst/>
          </a:prstGeom>
          <a:noFill/>
          <a:ln w="4445">
            <a:solidFill>
              <a:srgbClr val="12304A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6" name="Shape 34"/>
          <p:cNvSpPr/>
          <p:nvPr/>
        </p:nvSpPr>
        <p:spPr>
          <a:xfrm>
            <a:off x="320040" y="5394960"/>
            <a:ext cx="11521440" cy="0"/>
          </a:xfrm>
          <a:prstGeom prst="line">
            <a:avLst/>
          </a:prstGeom>
          <a:noFill/>
          <a:ln w="4445">
            <a:solidFill>
              <a:srgbClr val="12304A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7" name="Shape 35"/>
          <p:cNvSpPr/>
          <p:nvPr/>
        </p:nvSpPr>
        <p:spPr>
          <a:xfrm>
            <a:off x="320040" y="5852160"/>
            <a:ext cx="11521440" cy="0"/>
          </a:xfrm>
          <a:prstGeom prst="line">
            <a:avLst/>
          </a:prstGeom>
          <a:noFill/>
          <a:ln w="4445">
            <a:solidFill>
              <a:srgbClr val="12304A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8" name="Shape 36"/>
          <p:cNvSpPr/>
          <p:nvPr/>
        </p:nvSpPr>
        <p:spPr>
          <a:xfrm>
            <a:off x="320040" y="6309360"/>
            <a:ext cx="11521440" cy="0"/>
          </a:xfrm>
          <a:prstGeom prst="line">
            <a:avLst/>
          </a:prstGeom>
          <a:noFill/>
          <a:ln w="4445">
            <a:solidFill>
              <a:srgbClr val="12304A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9" name="Text 37"/>
          <p:cNvSpPr/>
          <p:nvPr/>
        </p:nvSpPr>
        <p:spPr>
          <a:xfrm>
            <a:off x="502920" y="38404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20" dirty="0">
                <a:solidFill>
                  <a:srgbClr val="27D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/ RETO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502920" y="694944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F5F9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problema que debe resolver SmartBancs</a:t>
            </a:r>
            <a:endParaRPr lang="en-US" sz="2700" dirty="0"/>
          </a:p>
        </p:txBody>
      </p:sp>
      <p:sp>
        <p:nvSpPr>
          <p:cNvPr id="41" name="Text 39"/>
          <p:cNvSpPr/>
          <p:nvPr/>
        </p:nvSpPr>
        <p:spPr>
          <a:xfrm>
            <a:off x="521208" y="1243584"/>
            <a:ext cx="10424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80" dirty="0">
                <a:solidFill>
                  <a:srgbClr val="9AB2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Procesar transferencias con baja latencia sin saturar el core legacy ni bloquearse por la IA.</a:t>
            </a:r>
            <a:endParaRPr lang="en-US" sz="1280" dirty="0"/>
          </a:p>
        </p:txBody>
      </p:sp>
      <p:sp>
        <p:nvSpPr>
          <p:cNvPr id="42" name="Shape 40"/>
          <p:cNvSpPr/>
          <p:nvPr/>
        </p:nvSpPr>
        <p:spPr>
          <a:xfrm>
            <a:off x="548640" y="1828800"/>
            <a:ext cx="2743200" cy="1353312"/>
          </a:xfrm>
          <a:prstGeom prst="roundRect">
            <a:avLst>
              <a:gd name="adj" fmla="val 5405"/>
            </a:avLst>
          </a:prstGeom>
          <a:solidFill>
            <a:srgbClr val="0C1B2D"/>
          </a:solidFill>
          <a:ln w="13970">
            <a:solidFill>
              <a:srgbClr val="1D3B58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3" name="Shape 41"/>
          <p:cNvSpPr/>
          <p:nvPr/>
        </p:nvSpPr>
        <p:spPr>
          <a:xfrm>
            <a:off x="585216" y="1883664"/>
            <a:ext cx="45720" cy="1243584"/>
          </a:xfrm>
          <a:prstGeom prst="rect">
            <a:avLst/>
          </a:prstGeom>
          <a:solidFill>
            <a:srgbClr val="27D3FF"/>
          </a:solidFill>
          <a:ln w="12700">
            <a:solidFill>
              <a:srgbClr val="27D3FF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4" name="Text 42"/>
          <p:cNvSpPr/>
          <p:nvPr/>
        </p:nvSpPr>
        <p:spPr>
          <a:xfrm>
            <a:off x="731520" y="1975104"/>
            <a:ext cx="2450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F5F9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Tiempo de respuesta</a:t>
            </a:r>
            <a:endParaRPr lang="en-US" sz="1450" dirty="0"/>
          </a:p>
        </p:txBody>
      </p:sp>
      <p:sp>
        <p:nvSpPr>
          <p:cNvPr id="45" name="Text 43"/>
          <p:cNvSpPr/>
          <p:nvPr/>
        </p:nvSpPr>
        <p:spPr>
          <a:xfrm>
            <a:off x="731520" y="2322576"/>
            <a:ext cx="2423160" cy="7498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9AB2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 del reto: transferencia financiera con respuesta menor a 2 segundos.</a:t>
            </a:r>
            <a:endParaRPr lang="en-US" sz="1120" dirty="0"/>
          </a:p>
        </p:txBody>
      </p:sp>
      <p:sp>
        <p:nvSpPr>
          <p:cNvPr id="46" name="Shape 44"/>
          <p:cNvSpPr/>
          <p:nvPr/>
        </p:nvSpPr>
        <p:spPr>
          <a:xfrm>
            <a:off x="3520440" y="1828800"/>
            <a:ext cx="2743200" cy="1353312"/>
          </a:xfrm>
          <a:prstGeom prst="roundRect">
            <a:avLst>
              <a:gd name="adj" fmla="val 5405"/>
            </a:avLst>
          </a:prstGeom>
          <a:solidFill>
            <a:srgbClr val="0C1B2D"/>
          </a:solidFill>
          <a:ln w="13970">
            <a:solidFill>
              <a:srgbClr val="1D3B58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7" name="Shape 45"/>
          <p:cNvSpPr/>
          <p:nvPr/>
        </p:nvSpPr>
        <p:spPr>
          <a:xfrm>
            <a:off x="3557016" y="1883664"/>
            <a:ext cx="45720" cy="1243584"/>
          </a:xfrm>
          <a:prstGeom prst="rect">
            <a:avLst/>
          </a:prstGeom>
          <a:solidFill>
            <a:srgbClr val="4B7BFF"/>
          </a:solidFill>
          <a:ln w="12700">
            <a:solidFill>
              <a:srgbClr val="4B7BFF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8" name="Text 46"/>
          <p:cNvSpPr/>
          <p:nvPr/>
        </p:nvSpPr>
        <p:spPr>
          <a:xfrm>
            <a:off x="3703320" y="1975104"/>
            <a:ext cx="2450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F5F9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Alta concurrencia</a:t>
            </a:r>
            <a:endParaRPr lang="en-US" sz="1450" dirty="0"/>
          </a:p>
        </p:txBody>
      </p:sp>
      <p:sp>
        <p:nvSpPr>
          <p:cNvPr id="49" name="Text 47"/>
          <p:cNvSpPr/>
          <p:nvPr/>
        </p:nvSpPr>
        <p:spPr>
          <a:xfrm>
            <a:off x="3703320" y="2322576"/>
            <a:ext cx="2423160" cy="7498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9AB2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Escenario de referencia del reto: picos de gran volumen (ej. 10.000 TPS). No se afirma como capacidad medida del MVP.</a:t>
            </a:r>
            <a:endParaRPr lang="en-US" sz="1120" dirty="0"/>
          </a:p>
        </p:txBody>
      </p:sp>
      <p:sp>
        <p:nvSpPr>
          <p:cNvPr id="50" name="Shape 48"/>
          <p:cNvSpPr/>
          <p:nvPr/>
        </p:nvSpPr>
        <p:spPr>
          <a:xfrm>
            <a:off x="6492240" y="1828800"/>
            <a:ext cx="2514600" cy="1353312"/>
          </a:xfrm>
          <a:prstGeom prst="roundRect">
            <a:avLst>
              <a:gd name="adj" fmla="val 5405"/>
            </a:avLst>
          </a:prstGeom>
          <a:solidFill>
            <a:srgbClr val="0C1B2D"/>
          </a:solidFill>
          <a:ln w="13970">
            <a:solidFill>
              <a:srgbClr val="1D3B58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51" name="Shape 49"/>
          <p:cNvSpPr/>
          <p:nvPr/>
        </p:nvSpPr>
        <p:spPr>
          <a:xfrm>
            <a:off x="6528816" y="1883664"/>
            <a:ext cx="45720" cy="1243584"/>
          </a:xfrm>
          <a:prstGeom prst="rect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52" name="Text 50"/>
          <p:cNvSpPr/>
          <p:nvPr/>
        </p:nvSpPr>
        <p:spPr>
          <a:xfrm>
            <a:off x="6675120" y="1975104"/>
            <a:ext cx="2221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F5F9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Bancs legacy</a:t>
            </a:r>
            <a:endParaRPr lang="en-US" sz="1450" dirty="0"/>
          </a:p>
        </p:txBody>
      </p:sp>
      <p:sp>
        <p:nvSpPr>
          <p:cNvPr id="53" name="Text 51"/>
          <p:cNvSpPr/>
          <p:nvPr/>
        </p:nvSpPr>
        <p:spPr>
          <a:xfrm>
            <a:off x="6675120" y="2322576"/>
            <a:ext cx="2194560" cy="7498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9AB2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sistema Bancs no debe recibir directamente la misma presión de consultas que la API pública.</a:t>
            </a:r>
            <a:endParaRPr lang="en-US" sz="1120" dirty="0"/>
          </a:p>
        </p:txBody>
      </p:sp>
      <p:sp>
        <p:nvSpPr>
          <p:cNvPr id="54" name="Shape 52"/>
          <p:cNvSpPr/>
          <p:nvPr/>
        </p:nvSpPr>
        <p:spPr>
          <a:xfrm>
            <a:off x="9235440" y="1828800"/>
            <a:ext cx="2331720" cy="1353312"/>
          </a:xfrm>
          <a:prstGeom prst="roundRect">
            <a:avLst>
              <a:gd name="adj" fmla="val 5405"/>
            </a:avLst>
          </a:prstGeom>
          <a:solidFill>
            <a:srgbClr val="0C1B2D"/>
          </a:solidFill>
          <a:ln w="13970">
            <a:solidFill>
              <a:srgbClr val="1D3B58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55" name="Shape 53"/>
          <p:cNvSpPr/>
          <p:nvPr/>
        </p:nvSpPr>
        <p:spPr>
          <a:xfrm>
            <a:off x="9272016" y="1883664"/>
            <a:ext cx="45720" cy="1243584"/>
          </a:xfrm>
          <a:prstGeom prst="rect">
            <a:avLst/>
          </a:prstGeom>
          <a:solidFill>
            <a:srgbClr val="8C65FF"/>
          </a:solidFill>
          <a:ln w="12700">
            <a:solidFill>
              <a:srgbClr val="8C65FF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56" name="Text 54"/>
          <p:cNvSpPr/>
          <p:nvPr/>
        </p:nvSpPr>
        <p:spPr>
          <a:xfrm>
            <a:off x="9418320" y="1975104"/>
            <a:ext cx="2039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F5F9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IA no bloqueante</a:t>
            </a:r>
            <a:endParaRPr lang="en-US" sz="1450" dirty="0"/>
          </a:p>
        </p:txBody>
      </p:sp>
      <p:sp>
        <p:nvSpPr>
          <p:cNvPr id="57" name="Text 55"/>
          <p:cNvSpPr/>
          <p:nvPr/>
        </p:nvSpPr>
        <p:spPr>
          <a:xfrm>
            <a:off x="9418320" y="2322576"/>
            <a:ext cx="2011680" cy="7498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9AB2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recomendaciones deben ejecutarse fuera del camino crítico de la transferencia.</a:t>
            </a:r>
            <a:endParaRPr lang="en-US" sz="1120" dirty="0"/>
          </a:p>
        </p:txBody>
      </p:sp>
      <p:sp>
        <p:nvSpPr>
          <p:cNvPr id="58" name="Text 56"/>
          <p:cNvSpPr/>
          <p:nvPr/>
        </p:nvSpPr>
        <p:spPr>
          <a:xfrm>
            <a:off x="566928" y="36576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F9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Principios de diseño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594360" y="4160520"/>
            <a:ext cx="2542032" cy="1417320"/>
          </a:xfrm>
          <a:prstGeom prst="roundRect">
            <a:avLst>
              <a:gd name="adj" fmla="val 5161"/>
            </a:avLst>
          </a:prstGeom>
          <a:solidFill>
            <a:srgbClr val="10263C"/>
          </a:solidFill>
          <a:ln w="12700">
            <a:solidFill>
              <a:srgbClr val="1D3B58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60" name="Shape 58"/>
          <p:cNvSpPr/>
          <p:nvPr/>
        </p:nvSpPr>
        <p:spPr>
          <a:xfrm>
            <a:off x="758952" y="4361688"/>
            <a:ext cx="347472" cy="347472"/>
          </a:xfrm>
          <a:prstGeom prst="ellipse">
            <a:avLst/>
          </a:prstGeom>
          <a:solidFill>
            <a:srgbClr val="31D49B">
              <a:alpha val="85000"/>
            </a:srgbClr>
          </a:solidFill>
          <a:ln w="12700">
            <a:solidFill>
              <a:srgbClr val="31D49B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61" name="Text 59"/>
          <p:cNvSpPr/>
          <p:nvPr/>
        </p:nvSpPr>
        <p:spPr>
          <a:xfrm>
            <a:off x="758952" y="4443984"/>
            <a:ext cx="3474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711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1216152" y="4297680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F5F9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Consistencia</a:t>
            </a:r>
            <a:endParaRPr lang="en-US" sz="1300" dirty="0"/>
          </a:p>
        </p:txBody>
      </p:sp>
      <p:sp>
        <p:nvSpPr>
          <p:cNvPr id="63" name="Text 61"/>
          <p:cNvSpPr/>
          <p:nvPr/>
        </p:nvSpPr>
        <p:spPr>
          <a:xfrm>
            <a:off x="1216152" y="4645152"/>
            <a:ext cx="17190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9AB2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ACID + rollback + bloqueo de filas</a:t>
            </a:r>
            <a:endParaRPr lang="en-US" sz="1030" dirty="0"/>
          </a:p>
        </p:txBody>
      </p:sp>
      <p:sp>
        <p:nvSpPr>
          <p:cNvPr id="64" name="Shape 62"/>
          <p:cNvSpPr/>
          <p:nvPr/>
        </p:nvSpPr>
        <p:spPr>
          <a:xfrm>
            <a:off x="3410712" y="4160520"/>
            <a:ext cx="2542032" cy="1417320"/>
          </a:xfrm>
          <a:prstGeom prst="roundRect">
            <a:avLst>
              <a:gd name="adj" fmla="val 5161"/>
            </a:avLst>
          </a:prstGeom>
          <a:solidFill>
            <a:srgbClr val="10263C"/>
          </a:solidFill>
          <a:ln w="12700">
            <a:solidFill>
              <a:srgbClr val="1D3B58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65" name="Shape 63"/>
          <p:cNvSpPr/>
          <p:nvPr/>
        </p:nvSpPr>
        <p:spPr>
          <a:xfrm>
            <a:off x="3575304" y="4361688"/>
            <a:ext cx="347472" cy="347472"/>
          </a:xfrm>
          <a:prstGeom prst="ellipse">
            <a:avLst/>
          </a:prstGeom>
          <a:solidFill>
            <a:srgbClr val="27D3FF">
              <a:alpha val="85000"/>
            </a:srgbClr>
          </a:solidFill>
          <a:ln w="12700">
            <a:solidFill>
              <a:srgbClr val="27D3FF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66" name="Text 64"/>
          <p:cNvSpPr/>
          <p:nvPr/>
        </p:nvSpPr>
        <p:spPr>
          <a:xfrm>
            <a:off x="3575304" y="4443984"/>
            <a:ext cx="3474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711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4032504" y="4297680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F5F9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Desacoplamiento</a:t>
            </a:r>
            <a:endParaRPr lang="en-US" sz="1300" dirty="0"/>
          </a:p>
        </p:txBody>
      </p:sp>
      <p:sp>
        <p:nvSpPr>
          <p:cNvPr id="68" name="Text 66"/>
          <p:cNvSpPr/>
          <p:nvPr/>
        </p:nvSpPr>
        <p:spPr>
          <a:xfrm>
            <a:off x="4032504" y="4645152"/>
            <a:ext cx="17190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9AB2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Transactional Outbox + Worker</a:t>
            </a:r>
            <a:endParaRPr lang="en-US" sz="1030" dirty="0"/>
          </a:p>
        </p:txBody>
      </p:sp>
      <p:sp>
        <p:nvSpPr>
          <p:cNvPr id="69" name="Shape 67"/>
          <p:cNvSpPr/>
          <p:nvPr/>
        </p:nvSpPr>
        <p:spPr>
          <a:xfrm>
            <a:off x="6227064" y="4160520"/>
            <a:ext cx="2542032" cy="1417320"/>
          </a:xfrm>
          <a:prstGeom prst="roundRect">
            <a:avLst>
              <a:gd name="adj" fmla="val 5161"/>
            </a:avLst>
          </a:prstGeom>
          <a:solidFill>
            <a:srgbClr val="10263C"/>
          </a:solidFill>
          <a:ln w="12700">
            <a:solidFill>
              <a:srgbClr val="1D3B58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70" name="Shape 68"/>
          <p:cNvSpPr/>
          <p:nvPr/>
        </p:nvSpPr>
        <p:spPr>
          <a:xfrm>
            <a:off x="6391656" y="4361688"/>
            <a:ext cx="347472" cy="347472"/>
          </a:xfrm>
          <a:prstGeom prst="ellipse">
            <a:avLst/>
          </a:prstGeom>
          <a:solidFill>
            <a:srgbClr val="4B7BFF">
              <a:alpha val="85000"/>
            </a:srgbClr>
          </a:solidFill>
          <a:ln w="12700">
            <a:solidFill>
              <a:srgbClr val="4B7BFF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71" name="Text 69"/>
          <p:cNvSpPr/>
          <p:nvPr/>
        </p:nvSpPr>
        <p:spPr>
          <a:xfrm>
            <a:off x="6391656" y="4443984"/>
            <a:ext cx="3474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711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00" dirty="0"/>
          </a:p>
        </p:txBody>
      </p:sp>
      <p:sp>
        <p:nvSpPr>
          <p:cNvPr id="72" name="Text 70"/>
          <p:cNvSpPr/>
          <p:nvPr/>
        </p:nvSpPr>
        <p:spPr>
          <a:xfrm>
            <a:off x="6848856" y="4297680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F5F9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Trazabilidad</a:t>
            </a:r>
            <a:endParaRPr lang="en-US" sz="1300" dirty="0"/>
          </a:p>
        </p:txBody>
      </p:sp>
      <p:sp>
        <p:nvSpPr>
          <p:cNvPr id="73" name="Text 71"/>
          <p:cNvSpPr/>
          <p:nvPr/>
        </p:nvSpPr>
        <p:spPr>
          <a:xfrm>
            <a:off x="6848856" y="4645152"/>
            <a:ext cx="17190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9AB2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Correlation ID + logs + métricas</a:t>
            </a:r>
            <a:endParaRPr lang="en-US" sz="1030" dirty="0"/>
          </a:p>
        </p:txBody>
      </p:sp>
      <p:sp>
        <p:nvSpPr>
          <p:cNvPr id="74" name="Shape 72"/>
          <p:cNvSpPr/>
          <p:nvPr/>
        </p:nvSpPr>
        <p:spPr>
          <a:xfrm>
            <a:off x="9043416" y="4160520"/>
            <a:ext cx="2542032" cy="1417320"/>
          </a:xfrm>
          <a:prstGeom prst="roundRect">
            <a:avLst>
              <a:gd name="adj" fmla="val 5161"/>
            </a:avLst>
          </a:prstGeom>
          <a:solidFill>
            <a:srgbClr val="10263C"/>
          </a:solidFill>
          <a:ln w="12700">
            <a:solidFill>
              <a:srgbClr val="1D3B58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75" name="Shape 73"/>
          <p:cNvSpPr/>
          <p:nvPr/>
        </p:nvSpPr>
        <p:spPr>
          <a:xfrm>
            <a:off x="9208008" y="4361688"/>
            <a:ext cx="347472" cy="347472"/>
          </a:xfrm>
          <a:prstGeom prst="ellipse">
            <a:avLst/>
          </a:prstGeom>
          <a:solidFill>
            <a:srgbClr val="8C65FF">
              <a:alpha val="85000"/>
            </a:srgbClr>
          </a:solidFill>
          <a:ln w="12700">
            <a:solidFill>
              <a:srgbClr val="8C65FF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76" name="Text 74"/>
          <p:cNvSpPr/>
          <p:nvPr/>
        </p:nvSpPr>
        <p:spPr>
          <a:xfrm>
            <a:off x="9208008" y="4443984"/>
            <a:ext cx="3474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711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00" dirty="0"/>
          </a:p>
        </p:txBody>
      </p:sp>
      <p:sp>
        <p:nvSpPr>
          <p:cNvPr id="77" name="Text 75"/>
          <p:cNvSpPr/>
          <p:nvPr/>
        </p:nvSpPr>
        <p:spPr>
          <a:xfrm>
            <a:off x="9665208" y="4297680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F5F9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Reproducibilidad</a:t>
            </a:r>
            <a:endParaRPr lang="en-US" sz="1300" dirty="0"/>
          </a:p>
        </p:txBody>
      </p:sp>
      <p:sp>
        <p:nvSpPr>
          <p:cNvPr id="78" name="Text 76"/>
          <p:cNvSpPr/>
          <p:nvPr/>
        </p:nvSpPr>
        <p:spPr>
          <a:xfrm>
            <a:off x="9665208" y="4645152"/>
            <a:ext cx="17190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9AB2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Compose + pruebas automatizadas</a:t>
            </a:r>
            <a:endParaRPr lang="en-US" sz="1030" dirty="0"/>
          </a:p>
        </p:txBody>
      </p:sp>
      <p:sp>
        <p:nvSpPr>
          <p:cNvPr id="7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73952"/>
            <a:ext cx="36576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F8CA8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74320"/>
            <a:ext cx="0" cy="6035040"/>
          </a:xfrm>
          <a:prstGeom prst="line">
            <a:avLst/>
          </a:prstGeom>
          <a:noFill/>
          <a:ln w="4445">
            <a:solidFill>
              <a:srgbClr val="12304A">
                <a:alpha val="7200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" name="Shape 1"/>
          <p:cNvSpPr/>
          <p:nvPr/>
        </p:nvSpPr>
        <p:spPr>
          <a:xfrm>
            <a:off x="914400" y="274320"/>
            <a:ext cx="0" cy="6035040"/>
          </a:xfrm>
          <a:prstGeom prst="line">
            <a:avLst/>
          </a:prstGeom>
          <a:noFill/>
          <a:ln w="4445">
            <a:solidFill>
              <a:srgbClr val="12304A">
                <a:alpha val="7200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" name="Shape 2"/>
          <p:cNvSpPr/>
          <p:nvPr/>
        </p:nvSpPr>
        <p:spPr>
          <a:xfrm>
            <a:off x="1417320" y="274320"/>
            <a:ext cx="0" cy="6035040"/>
          </a:xfrm>
          <a:prstGeom prst="line">
            <a:avLst/>
          </a:prstGeom>
          <a:noFill/>
          <a:ln w="4445">
            <a:solidFill>
              <a:srgbClr val="12304A">
                <a:alpha val="7200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5" name="Shape 3"/>
          <p:cNvSpPr/>
          <p:nvPr/>
        </p:nvSpPr>
        <p:spPr>
          <a:xfrm>
            <a:off x="1920240" y="274320"/>
            <a:ext cx="0" cy="6035040"/>
          </a:xfrm>
          <a:prstGeom prst="line">
            <a:avLst/>
          </a:prstGeom>
          <a:noFill/>
          <a:ln w="4445">
            <a:solidFill>
              <a:srgbClr val="12304A">
                <a:alpha val="7200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6" name="Shape 4"/>
          <p:cNvSpPr/>
          <p:nvPr/>
        </p:nvSpPr>
        <p:spPr>
          <a:xfrm>
            <a:off x="2423160" y="274320"/>
            <a:ext cx="0" cy="6035040"/>
          </a:xfrm>
          <a:prstGeom prst="line">
            <a:avLst/>
          </a:prstGeom>
          <a:noFill/>
          <a:ln w="4445">
            <a:solidFill>
              <a:srgbClr val="12304A">
                <a:alpha val="7200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7" name="Shape 5"/>
          <p:cNvSpPr/>
          <p:nvPr/>
        </p:nvSpPr>
        <p:spPr>
          <a:xfrm>
            <a:off x="2926080" y="274320"/>
            <a:ext cx="0" cy="6035040"/>
          </a:xfrm>
          <a:prstGeom prst="line">
            <a:avLst/>
          </a:prstGeom>
          <a:noFill/>
          <a:ln w="4445">
            <a:solidFill>
              <a:srgbClr val="12304A">
                <a:alpha val="7200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8" name="Shape 6"/>
          <p:cNvSpPr/>
          <p:nvPr/>
        </p:nvSpPr>
        <p:spPr>
          <a:xfrm>
            <a:off x="3429000" y="274320"/>
            <a:ext cx="0" cy="6035040"/>
          </a:xfrm>
          <a:prstGeom prst="line">
            <a:avLst/>
          </a:prstGeom>
          <a:noFill/>
          <a:ln w="4445">
            <a:solidFill>
              <a:srgbClr val="12304A">
                <a:alpha val="7200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9" name="Shape 7"/>
          <p:cNvSpPr/>
          <p:nvPr/>
        </p:nvSpPr>
        <p:spPr>
          <a:xfrm>
            <a:off x="3931920" y="274320"/>
            <a:ext cx="0" cy="6035040"/>
          </a:xfrm>
          <a:prstGeom prst="line">
            <a:avLst/>
          </a:prstGeom>
          <a:noFill/>
          <a:ln w="4445">
            <a:solidFill>
              <a:srgbClr val="12304A">
                <a:alpha val="7200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0" name="Shape 8"/>
          <p:cNvSpPr/>
          <p:nvPr/>
        </p:nvSpPr>
        <p:spPr>
          <a:xfrm>
            <a:off x="4434840" y="274320"/>
            <a:ext cx="0" cy="6035040"/>
          </a:xfrm>
          <a:prstGeom prst="line">
            <a:avLst/>
          </a:prstGeom>
          <a:noFill/>
          <a:ln w="4445">
            <a:solidFill>
              <a:srgbClr val="12304A">
                <a:alpha val="7200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1" name="Shape 9"/>
          <p:cNvSpPr/>
          <p:nvPr/>
        </p:nvSpPr>
        <p:spPr>
          <a:xfrm>
            <a:off x="4937760" y="274320"/>
            <a:ext cx="0" cy="6035040"/>
          </a:xfrm>
          <a:prstGeom prst="line">
            <a:avLst/>
          </a:prstGeom>
          <a:noFill/>
          <a:ln w="4445">
            <a:solidFill>
              <a:srgbClr val="12304A">
                <a:alpha val="7200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2" name="Shape 10"/>
          <p:cNvSpPr/>
          <p:nvPr/>
        </p:nvSpPr>
        <p:spPr>
          <a:xfrm>
            <a:off x="5440680" y="274320"/>
            <a:ext cx="0" cy="6035040"/>
          </a:xfrm>
          <a:prstGeom prst="line">
            <a:avLst/>
          </a:prstGeom>
          <a:noFill/>
          <a:ln w="4445">
            <a:solidFill>
              <a:srgbClr val="12304A">
                <a:alpha val="7200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3" name="Shape 11"/>
          <p:cNvSpPr/>
          <p:nvPr/>
        </p:nvSpPr>
        <p:spPr>
          <a:xfrm>
            <a:off x="5943600" y="274320"/>
            <a:ext cx="0" cy="6035040"/>
          </a:xfrm>
          <a:prstGeom prst="line">
            <a:avLst/>
          </a:prstGeom>
          <a:noFill/>
          <a:ln w="4445">
            <a:solidFill>
              <a:srgbClr val="12304A">
                <a:alpha val="7200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4" name="Shape 12"/>
          <p:cNvSpPr/>
          <p:nvPr/>
        </p:nvSpPr>
        <p:spPr>
          <a:xfrm>
            <a:off x="6446520" y="274320"/>
            <a:ext cx="0" cy="6035040"/>
          </a:xfrm>
          <a:prstGeom prst="line">
            <a:avLst/>
          </a:prstGeom>
          <a:noFill/>
          <a:ln w="4445">
            <a:solidFill>
              <a:srgbClr val="12304A">
                <a:alpha val="7200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5" name="Shape 13"/>
          <p:cNvSpPr/>
          <p:nvPr/>
        </p:nvSpPr>
        <p:spPr>
          <a:xfrm>
            <a:off x="6949440" y="274320"/>
            <a:ext cx="0" cy="6035040"/>
          </a:xfrm>
          <a:prstGeom prst="line">
            <a:avLst/>
          </a:prstGeom>
          <a:noFill/>
          <a:ln w="4445">
            <a:solidFill>
              <a:srgbClr val="12304A">
                <a:alpha val="7200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6" name="Shape 14"/>
          <p:cNvSpPr/>
          <p:nvPr/>
        </p:nvSpPr>
        <p:spPr>
          <a:xfrm>
            <a:off x="7452360" y="274320"/>
            <a:ext cx="0" cy="6035040"/>
          </a:xfrm>
          <a:prstGeom prst="line">
            <a:avLst/>
          </a:prstGeom>
          <a:noFill/>
          <a:ln w="4445">
            <a:solidFill>
              <a:srgbClr val="12304A">
                <a:alpha val="7200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7" name="Shape 15"/>
          <p:cNvSpPr/>
          <p:nvPr/>
        </p:nvSpPr>
        <p:spPr>
          <a:xfrm>
            <a:off x="7955280" y="274320"/>
            <a:ext cx="0" cy="6035040"/>
          </a:xfrm>
          <a:prstGeom prst="line">
            <a:avLst/>
          </a:prstGeom>
          <a:noFill/>
          <a:ln w="4445">
            <a:solidFill>
              <a:srgbClr val="12304A">
                <a:alpha val="7200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8" name="Shape 16"/>
          <p:cNvSpPr/>
          <p:nvPr/>
        </p:nvSpPr>
        <p:spPr>
          <a:xfrm>
            <a:off x="8458200" y="274320"/>
            <a:ext cx="0" cy="6035040"/>
          </a:xfrm>
          <a:prstGeom prst="line">
            <a:avLst/>
          </a:prstGeom>
          <a:noFill/>
          <a:ln w="4445">
            <a:solidFill>
              <a:srgbClr val="12304A">
                <a:alpha val="7200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9" name="Shape 17"/>
          <p:cNvSpPr/>
          <p:nvPr/>
        </p:nvSpPr>
        <p:spPr>
          <a:xfrm>
            <a:off x="8961120" y="274320"/>
            <a:ext cx="0" cy="6035040"/>
          </a:xfrm>
          <a:prstGeom prst="line">
            <a:avLst/>
          </a:prstGeom>
          <a:noFill/>
          <a:ln w="4445">
            <a:solidFill>
              <a:srgbClr val="12304A">
                <a:alpha val="7200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0" name="Shape 18"/>
          <p:cNvSpPr/>
          <p:nvPr/>
        </p:nvSpPr>
        <p:spPr>
          <a:xfrm>
            <a:off x="9464040" y="274320"/>
            <a:ext cx="0" cy="6035040"/>
          </a:xfrm>
          <a:prstGeom prst="line">
            <a:avLst/>
          </a:prstGeom>
          <a:noFill/>
          <a:ln w="4445">
            <a:solidFill>
              <a:srgbClr val="12304A">
                <a:alpha val="7200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1" name="Shape 19"/>
          <p:cNvSpPr/>
          <p:nvPr/>
        </p:nvSpPr>
        <p:spPr>
          <a:xfrm>
            <a:off x="9966960" y="274320"/>
            <a:ext cx="0" cy="6035040"/>
          </a:xfrm>
          <a:prstGeom prst="line">
            <a:avLst/>
          </a:prstGeom>
          <a:noFill/>
          <a:ln w="4445">
            <a:solidFill>
              <a:srgbClr val="12304A">
                <a:alpha val="7200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2" name="Shape 20"/>
          <p:cNvSpPr/>
          <p:nvPr/>
        </p:nvSpPr>
        <p:spPr>
          <a:xfrm>
            <a:off x="10469880" y="274320"/>
            <a:ext cx="0" cy="6035040"/>
          </a:xfrm>
          <a:prstGeom prst="line">
            <a:avLst/>
          </a:prstGeom>
          <a:noFill/>
          <a:ln w="4445">
            <a:solidFill>
              <a:srgbClr val="12304A">
                <a:alpha val="7200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3" name="Shape 21"/>
          <p:cNvSpPr/>
          <p:nvPr/>
        </p:nvSpPr>
        <p:spPr>
          <a:xfrm>
            <a:off x="10972800" y="274320"/>
            <a:ext cx="0" cy="6035040"/>
          </a:xfrm>
          <a:prstGeom prst="line">
            <a:avLst/>
          </a:prstGeom>
          <a:noFill/>
          <a:ln w="4445">
            <a:solidFill>
              <a:srgbClr val="12304A">
                <a:alpha val="7200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4" name="Shape 22"/>
          <p:cNvSpPr/>
          <p:nvPr/>
        </p:nvSpPr>
        <p:spPr>
          <a:xfrm>
            <a:off x="11475720" y="274320"/>
            <a:ext cx="0" cy="6035040"/>
          </a:xfrm>
          <a:prstGeom prst="line">
            <a:avLst/>
          </a:prstGeom>
          <a:noFill/>
          <a:ln w="4445">
            <a:solidFill>
              <a:srgbClr val="12304A">
                <a:alpha val="7200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5" name="Shape 23"/>
          <p:cNvSpPr/>
          <p:nvPr/>
        </p:nvSpPr>
        <p:spPr>
          <a:xfrm>
            <a:off x="320040" y="365760"/>
            <a:ext cx="11521440" cy="0"/>
          </a:xfrm>
          <a:prstGeom prst="line">
            <a:avLst/>
          </a:prstGeom>
          <a:noFill/>
          <a:ln w="4445">
            <a:solidFill>
              <a:srgbClr val="12304A">
                <a:alpha val="7200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6" name="Shape 24"/>
          <p:cNvSpPr/>
          <p:nvPr/>
        </p:nvSpPr>
        <p:spPr>
          <a:xfrm>
            <a:off x="320040" y="822960"/>
            <a:ext cx="11521440" cy="0"/>
          </a:xfrm>
          <a:prstGeom prst="line">
            <a:avLst/>
          </a:prstGeom>
          <a:noFill/>
          <a:ln w="4445">
            <a:solidFill>
              <a:srgbClr val="12304A">
                <a:alpha val="7200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7" name="Shape 25"/>
          <p:cNvSpPr/>
          <p:nvPr/>
        </p:nvSpPr>
        <p:spPr>
          <a:xfrm>
            <a:off x="320040" y="1280160"/>
            <a:ext cx="11521440" cy="0"/>
          </a:xfrm>
          <a:prstGeom prst="line">
            <a:avLst/>
          </a:prstGeom>
          <a:noFill/>
          <a:ln w="4445">
            <a:solidFill>
              <a:srgbClr val="12304A">
                <a:alpha val="7200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8" name="Shape 26"/>
          <p:cNvSpPr/>
          <p:nvPr/>
        </p:nvSpPr>
        <p:spPr>
          <a:xfrm>
            <a:off x="320040" y="1737360"/>
            <a:ext cx="11521440" cy="0"/>
          </a:xfrm>
          <a:prstGeom prst="line">
            <a:avLst/>
          </a:prstGeom>
          <a:noFill/>
          <a:ln w="4445">
            <a:solidFill>
              <a:srgbClr val="12304A">
                <a:alpha val="7200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9" name="Shape 27"/>
          <p:cNvSpPr/>
          <p:nvPr/>
        </p:nvSpPr>
        <p:spPr>
          <a:xfrm>
            <a:off x="320040" y="2194560"/>
            <a:ext cx="11521440" cy="0"/>
          </a:xfrm>
          <a:prstGeom prst="line">
            <a:avLst/>
          </a:prstGeom>
          <a:noFill/>
          <a:ln w="4445">
            <a:solidFill>
              <a:srgbClr val="12304A">
                <a:alpha val="7200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0" name="Shape 28"/>
          <p:cNvSpPr/>
          <p:nvPr/>
        </p:nvSpPr>
        <p:spPr>
          <a:xfrm>
            <a:off x="320040" y="2651760"/>
            <a:ext cx="11521440" cy="0"/>
          </a:xfrm>
          <a:prstGeom prst="line">
            <a:avLst/>
          </a:prstGeom>
          <a:noFill/>
          <a:ln w="4445">
            <a:solidFill>
              <a:srgbClr val="12304A">
                <a:alpha val="7200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1" name="Shape 29"/>
          <p:cNvSpPr/>
          <p:nvPr/>
        </p:nvSpPr>
        <p:spPr>
          <a:xfrm>
            <a:off x="320040" y="3108960"/>
            <a:ext cx="11521440" cy="0"/>
          </a:xfrm>
          <a:prstGeom prst="line">
            <a:avLst/>
          </a:prstGeom>
          <a:noFill/>
          <a:ln w="4445">
            <a:solidFill>
              <a:srgbClr val="12304A">
                <a:alpha val="7200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2" name="Shape 30"/>
          <p:cNvSpPr/>
          <p:nvPr/>
        </p:nvSpPr>
        <p:spPr>
          <a:xfrm>
            <a:off x="320040" y="3566160"/>
            <a:ext cx="11521440" cy="0"/>
          </a:xfrm>
          <a:prstGeom prst="line">
            <a:avLst/>
          </a:prstGeom>
          <a:noFill/>
          <a:ln w="4445">
            <a:solidFill>
              <a:srgbClr val="12304A">
                <a:alpha val="7200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3" name="Shape 31"/>
          <p:cNvSpPr/>
          <p:nvPr/>
        </p:nvSpPr>
        <p:spPr>
          <a:xfrm>
            <a:off x="320040" y="4023360"/>
            <a:ext cx="11521440" cy="0"/>
          </a:xfrm>
          <a:prstGeom prst="line">
            <a:avLst/>
          </a:prstGeom>
          <a:noFill/>
          <a:ln w="4445">
            <a:solidFill>
              <a:srgbClr val="12304A">
                <a:alpha val="7200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4" name="Shape 32"/>
          <p:cNvSpPr/>
          <p:nvPr/>
        </p:nvSpPr>
        <p:spPr>
          <a:xfrm>
            <a:off x="320040" y="4480560"/>
            <a:ext cx="11521440" cy="0"/>
          </a:xfrm>
          <a:prstGeom prst="line">
            <a:avLst/>
          </a:prstGeom>
          <a:noFill/>
          <a:ln w="4445">
            <a:solidFill>
              <a:srgbClr val="12304A">
                <a:alpha val="7200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5" name="Shape 33"/>
          <p:cNvSpPr/>
          <p:nvPr/>
        </p:nvSpPr>
        <p:spPr>
          <a:xfrm>
            <a:off x="320040" y="4937760"/>
            <a:ext cx="11521440" cy="0"/>
          </a:xfrm>
          <a:prstGeom prst="line">
            <a:avLst/>
          </a:prstGeom>
          <a:noFill/>
          <a:ln w="4445">
            <a:solidFill>
              <a:srgbClr val="12304A">
                <a:alpha val="7200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6" name="Shape 34"/>
          <p:cNvSpPr/>
          <p:nvPr/>
        </p:nvSpPr>
        <p:spPr>
          <a:xfrm>
            <a:off x="320040" y="5394960"/>
            <a:ext cx="11521440" cy="0"/>
          </a:xfrm>
          <a:prstGeom prst="line">
            <a:avLst/>
          </a:prstGeom>
          <a:noFill/>
          <a:ln w="4445">
            <a:solidFill>
              <a:srgbClr val="12304A">
                <a:alpha val="7200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7" name="Shape 35"/>
          <p:cNvSpPr/>
          <p:nvPr/>
        </p:nvSpPr>
        <p:spPr>
          <a:xfrm>
            <a:off x="320040" y="5852160"/>
            <a:ext cx="11521440" cy="0"/>
          </a:xfrm>
          <a:prstGeom prst="line">
            <a:avLst/>
          </a:prstGeom>
          <a:noFill/>
          <a:ln w="4445">
            <a:solidFill>
              <a:srgbClr val="12304A">
                <a:alpha val="7200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8" name="Shape 36"/>
          <p:cNvSpPr/>
          <p:nvPr/>
        </p:nvSpPr>
        <p:spPr>
          <a:xfrm>
            <a:off x="320040" y="6309360"/>
            <a:ext cx="11521440" cy="0"/>
          </a:xfrm>
          <a:prstGeom prst="line">
            <a:avLst/>
          </a:prstGeom>
          <a:noFill/>
          <a:ln w="4445">
            <a:solidFill>
              <a:srgbClr val="12304A">
                <a:alpha val="7200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9" name="Text 37"/>
          <p:cNvSpPr/>
          <p:nvPr/>
        </p:nvSpPr>
        <p:spPr>
          <a:xfrm>
            <a:off x="502920" y="38404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20" dirty="0">
                <a:solidFill>
                  <a:srgbClr val="27D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ARQUITECTURA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502920" y="694944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F5F9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Arquitectura general</a:t>
            </a:r>
            <a:endParaRPr lang="en-US" sz="2700" dirty="0"/>
          </a:p>
        </p:txBody>
      </p:sp>
      <p:sp>
        <p:nvSpPr>
          <p:cNvPr id="41" name="Text 39"/>
          <p:cNvSpPr/>
          <p:nvPr/>
        </p:nvSpPr>
        <p:spPr>
          <a:xfrm>
            <a:off x="521208" y="1243584"/>
            <a:ext cx="10424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80" dirty="0">
                <a:solidFill>
                  <a:srgbClr val="9AB2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camino crítico termina en MariaDB; Bancs e IA se ejecutan de forma asíncrona.</a:t>
            </a:r>
            <a:endParaRPr lang="en-US" sz="1280" dirty="0"/>
          </a:p>
        </p:txBody>
      </p:sp>
      <p:sp>
        <p:nvSpPr>
          <p:cNvPr id="42" name="Shape 40"/>
          <p:cNvSpPr/>
          <p:nvPr/>
        </p:nvSpPr>
        <p:spPr>
          <a:xfrm>
            <a:off x="658368" y="2240280"/>
            <a:ext cx="1600200" cy="960120"/>
          </a:xfrm>
          <a:prstGeom prst="roundRect">
            <a:avLst>
              <a:gd name="adj" fmla="val 5714"/>
            </a:avLst>
          </a:prstGeom>
          <a:solidFill>
            <a:srgbClr val="0C1B2D"/>
          </a:solidFill>
          <a:ln w="15240">
            <a:solidFill>
              <a:srgbClr val="27D3FF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3" name="Text 41"/>
          <p:cNvSpPr/>
          <p:nvPr/>
        </p:nvSpPr>
        <p:spPr>
          <a:xfrm>
            <a:off x="749808" y="2386584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F9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768096" y="2706624"/>
            <a:ext cx="13807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70" dirty="0">
                <a:solidFill>
                  <a:srgbClr val="9AB2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 /transactions</a:t>
            </a:r>
            <a:endParaRPr lang="en-US" sz="970" dirty="0"/>
          </a:p>
        </p:txBody>
      </p:sp>
      <p:sp>
        <p:nvSpPr>
          <p:cNvPr id="45" name="Shape 43"/>
          <p:cNvSpPr/>
          <p:nvPr/>
        </p:nvSpPr>
        <p:spPr>
          <a:xfrm>
            <a:off x="2761488" y="2240280"/>
            <a:ext cx="1874520" cy="960120"/>
          </a:xfrm>
          <a:prstGeom prst="roundRect">
            <a:avLst>
              <a:gd name="adj" fmla="val 5714"/>
            </a:avLst>
          </a:prstGeom>
          <a:solidFill>
            <a:srgbClr val="0C1B2D"/>
          </a:solidFill>
          <a:ln w="15240">
            <a:solidFill>
              <a:srgbClr val="00AEEF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6" name="Text 44"/>
          <p:cNvSpPr/>
          <p:nvPr/>
        </p:nvSpPr>
        <p:spPr>
          <a:xfrm>
            <a:off x="2852928" y="2386584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F9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Transaction API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2871216" y="2706624"/>
            <a:ext cx="16550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70" dirty="0">
                <a:solidFill>
                  <a:srgbClr val="9AB2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</a:t>
            </a:r>
            <a:endParaRPr lang="en-US" sz="970" dirty="0"/>
          </a:p>
        </p:txBody>
      </p:sp>
      <p:sp>
        <p:nvSpPr>
          <p:cNvPr id="48" name="Shape 46"/>
          <p:cNvSpPr/>
          <p:nvPr/>
        </p:nvSpPr>
        <p:spPr>
          <a:xfrm>
            <a:off x="5257800" y="2240280"/>
            <a:ext cx="1828800" cy="960120"/>
          </a:xfrm>
          <a:prstGeom prst="roundRect">
            <a:avLst>
              <a:gd name="adj" fmla="val 5714"/>
            </a:avLst>
          </a:prstGeom>
          <a:solidFill>
            <a:srgbClr val="0C1B2D"/>
          </a:solidFill>
          <a:ln w="15240">
            <a:solidFill>
              <a:srgbClr val="4B7BFF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9" name="Text 47"/>
          <p:cNvSpPr/>
          <p:nvPr/>
        </p:nvSpPr>
        <p:spPr>
          <a:xfrm>
            <a:off x="5349240" y="2386584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F9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MariaDB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5367528" y="2706624"/>
            <a:ext cx="1609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70" dirty="0">
                <a:solidFill>
                  <a:srgbClr val="9AB2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ACID + InnoDB</a:t>
            </a:r>
            <a:endParaRPr lang="en-US" sz="970" dirty="0"/>
          </a:p>
        </p:txBody>
      </p:sp>
      <p:sp>
        <p:nvSpPr>
          <p:cNvPr id="51" name="Shape 49"/>
          <p:cNvSpPr/>
          <p:nvPr/>
        </p:nvSpPr>
        <p:spPr>
          <a:xfrm>
            <a:off x="2267712" y="2724912"/>
            <a:ext cx="475488" cy="0"/>
          </a:xfrm>
          <a:prstGeom prst="line">
            <a:avLst/>
          </a:prstGeom>
          <a:noFill/>
          <a:ln w="22860">
            <a:solidFill>
              <a:srgbClr val="27D3F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EC"/>
          </a:p>
        </p:txBody>
      </p:sp>
      <p:sp>
        <p:nvSpPr>
          <p:cNvPr id="52" name="Shape 50"/>
          <p:cNvSpPr/>
          <p:nvPr/>
        </p:nvSpPr>
        <p:spPr>
          <a:xfrm>
            <a:off x="4645152" y="2724912"/>
            <a:ext cx="594360" cy="0"/>
          </a:xfrm>
          <a:prstGeom prst="line">
            <a:avLst/>
          </a:prstGeom>
          <a:noFill/>
          <a:ln w="22860">
            <a:solidFill>
              <a:srgbClr val="27D3F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EC"/>
          </a:p>
        </p:txBody>
      </p:sp>
      <p:sp>
        <p:nvSpPr>
          <p:cNvPr id="53" name="Shape 51"/>
          <p:cNvSpPr/>
          <p:nvPr/>
        </p:nvSpPr>
        <p:spPr>
          <a:xfrm>
            <a:off x="5230368" y="3054096"/>
            <a:ext cx="0" cy="0"/>
          </a:xfrm>
          <a:prstGeom prst="line">
            <a:avLst/>
          </a:prstGeom>
          <a:noFill/>
          <a:ln w="22860">
            <a:solidFill>
              <a:srgbClr val="31D49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EC"/>
          </a:p>
        </p:txBody>
      </p:sp>
      <p:sp>
        <p:nvSpPr>
          <p:cNvPr id="54" name="Shape 52"/>
          <p:cNvSpPr/>
          <p:nvPr/>
        </p:nvSpPr>
        <p:spPr>
          <a:xfrm>
            <a:off x="2743200" y="3054096"/>
            <a:ext cx="0" cy="0"/>
          </a:xfrm>
          <a:prstGeom prst="line">
            <a:avLst/>
          </a:prstGeom>
          <a:noFill/>
          <a:ln w="22860">
            <a:solidFill>
              <a:srgbClr val="31D49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EC"/>
          </a:p>
        </p:txBody>
      </p:sp>
      <p:sp>
        <p:nvSpPr>
          <p:cNvPr id="57" name="Text 55"/>
          <p:cNvSpPr/>
          <p:nvPr/>
        </p:nvSpPr>
        <p:spPr>
          <a:xfrm>
            <a:off x="676656" y="180136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1D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Camino crítico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7863840" y="2240280"/>
            <a:ext cx="1645920" cy="960120"/>
          </a:xfrm>
          <a:prstGeom prst="roundRect">
            <a:avLst>
              <a:gd name="adj" fmla="val 5714"/>
            </a:avLst>
          </a:prstGeom>
          <a:solidFill>
            <a:srgbClr val="0C1B2D"/>
          </a:solidFill>
          <a:ln w="15240">
            <a:solidFill>
              <a:srgbClr val="31D49B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59" name="Text 57"/>
          <p:cNvSpPr/>
          <p:nvPr/>
        </p:nvSpPr>
        <p:spPr>
          <a:xfrm>
            <a:off x="7955280" y="2386584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F9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Outbox</a:t>
            </a:r>
            <a:endParaRPr lang="en-US" sz="1300" dirty="0"/>
          </a:p>
        </p:txBody>
      </p:sp>
      <p:sp>
        <p:nvSpPr>
          <p:cNvPr id="60" name="Text 58"/>
          <p:cNvSpPr/>
          <p:nvPr/>
        </p:nvSpPr>
        <p:spPr>
          <a:xfrm>
            <a:off x="7973568" y="2706624"/>
            <a:ext cx="14264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70" dirty="0">
                <a:solidFill>
                  <a:srgbClr val="9AB2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PENDING / status</a:t>
            </a:r>
            <a:endParaRPr lang="en-US" sz="970" dirty="0"/>
          </a:p>
        </p:txBody>
      </p:sp>
      <p:sp>
        <p:nvSpPr>
          <p:cNvPr id="61" name="Shape 59"/>
          <p:cNvSpPr/>
          <p:nvPr/>
        </p:nvSpPr>
        <p:spPr>
          <a:xfrm>
            <a:off x="9966960" y="2240280"/>
            <a:ext cx="1508760" cy="960120"/>
          </a:xfrm>
          <a:prstGeom prst="roundRect">
            <a:avLst>
              <a:gd name="adj" fmla="val 5714"/>
            </a:avLst>
          </a:prstGeom>
          <a:solidFill>
            <a:srgbClr val="0C1B2D"/>
          </a:solidFill>
          <a:ln w="15240">
            <a:solidFill>
              <a:srgbClr val="31D49B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62" name="Text 60"/>
          <p:cNvSpPr/>
          <p:nvPr/>
        </p:nvSpPr>
        <p:spPr>
          <a:xfrm>
            <a:off x="10058400" y="2386584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F9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Worker</a:t>
            </a:r>
            <a:endParaRPr lang="en-US" sz="1300" dirty="0"/>
          </a:p>
        </p:txBody>
      </p:sp>
      <p:sp>
        <p:nvSpPr>
          <p:cNvPr id="63" name="Text 61"/>
          <p:cNvSpPr/>
          <p:nvPr/>
        </p:nvSpPr>
        <p:spPr>
          <a:xfrm>
            <a:off x="10076688" y="2706624"/>
            <a:ext cx="12893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70" dirty="0">
                <a:solidFill>
                  <a:srgbClr val="9AB2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Polling</a:t>
            </a:r>
            <a:endParaRPr lang="en-US" sz="970" dirty="0"/>
          </a:p>
        </p:txBody>
      </p:sp>
      <p:sp>
        <p:nvSpPr>
          <p:cNvPr id="64" name="Shape 62"/>
          <p:cNvSpPr/>
          <p:nvPr/>
        </p:nvSpPr>
        <p:spPr>
          <a:xfrm>
            <a:off x="7114032" y="2724912"/>
            <a:ext cx="731520" cy="0"/>
          </a:xfrm>
          <a:prstGeom prst="line">
            <a:avLst/>
          </a:prstGeom>
          <a:noFill/>
          <a:ln w="22860">
            <a:solidFill>
              <a:srgbClr val="31D49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EC"/>
          </a:p>
        </p:txBody>
      </p:sp>
      <p:sp>
        <p:nvSpPr>
          <p:cNvPr id="65" name="Shape 63"/>
          <p:cNvSpPr/>
          <p:nvPr/>
        </p:nvSpPr>
        <p:spPr>
          <a:xfrm>
            <a:off x="9528048" y="2724912"/>
            <a:ext cx="420624" cy="0"/>
          </a:xfrm>
          <a:prstGeom prst="line">
            <a:avLst/>
          </a:prstGeom>
          <a:noFill/>
          <a:ln w="22860">
            <a:solidFill>
              <a:srgbClr val="31D49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EC"/>
          </a:p>
        </p:txBody>
      </p:sp>
      <p:sp>
        <p:nvSpPr>
          <p:cNvPr id="66" name="Text 64"/>
          <p:cNvSpPr/>
          <p:nvPr/>
        </p:nvSpPr>
        <p:spPr>
          <a:xfrm>
            <a:off x="7882128" y="180136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1D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Procesamiento asíncrono</a:t>
            </a:r>
            <a:endParaRPr lang="en-US" sz="1200" dirty="0"/>
          </a:p>
        </p:txBody>
      </p:sp>
      <p:sp>
        <p:nvSpPr>
          <p:cNvPr id="67" name="Shape 65"/>
          <p:cNvSpPr/>
          <p:nvPr/>
        </p:nvSpPr>
        <p:spPr>
          <a:xfrm>
            <a:off x="8275320" y="4206240"/>
            <a:ext cx="1600200" cy="914400"/>
          </a:xfrm>
          <a:prstGeom prst="roundRect">
            <a:avLst>
              <a:gd name="adj" fmla="val 6000"/>
            </a:avLst>
          </a:prstGeom>
          <a:solidFill>
            <a:srgbClr val="0C1B2D"/>
          </a:solidFill>
          <a:ln w="15240">
            <a:solidFill>
              <a:srgbClr val="FFC857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68" name="Text 66"/>
          <p:cNvSpPr/>
          <p:nvPr/>
        </p:nvSpPr>
        <p:spPr>
          <a:xfrm>
            <a:off x="8366760" y="4352544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F9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Mock Bancs</a:t>
            </a:r>
            <a:endParaRPr lang="en-US" sz="1300" dirty="0"/>
          </a:p>
        </p:txBody>
      </p:sp>
      <p:sp>
        <p:nvSpPr>
          <p:cNvPr id="69" name="Text 67"/>
          <p:cNvSpPr/>
          <p:nvPr/>
        </p:nvSpPr>
        <p:spPr>
          <a:xfrm>
            <a:off x="8385048" y="4672584"/>
            <a:ext cx="138074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70" dirty="0">
                <a:solidFill>
                  <a:srgbClr val="9AB2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Legacy sync</a:t>
            </a:r>
            <a:endParaRPr lang="en-US" sz="970" dirty="0"/>
          </a:p>
        </p:txBody>
      </p:sp>
      <p:sp>
        <p:nvSpPr>
          <p:cNvPr id="70" name="Shape 68"/>
          <p:cNvSpPr/>
          <p:nvPr/>
        </p:nvSpPr>
        <p:spPr>
          <a:xfrm>
            <a:off x="10058400" y="4206240"/>
            <a:ext cx="1600200" cy="914400"/>
          </a:xfrm>
          <a:prstGeom prst="roundRect">
            <a:avLst>
              <a:gd name="adj" fmla="val 6000"/>
            </a:avLst>
          </a:prstGeom>
          <a:solidFill>
            <a:srgbClr val="0C1B2D"/>
          </a:solidFill>
          <a:ln w="15240">
            <a:solidFill>
              <a:srgbClr val="8C65FF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71" name="Text 69"/>
          <p:cNvSpPr/>
          <p:nvPr/>
        </p:nvSpPr>
        <p:spPr>
          <a:xfrm>
            <a:off x="10149840" y="4352544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F9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Service</a:t>
            </a:r>
            <a:endParaRPr lang="en-US" sz="1300" dirty="0"/>
          </a:p>
        </p:txBody>
      </p:sp>
      <p:sp>
        <p:nvSpPr>
          <p:cNvPr id="72" name="Text 70"/>
          <p:cNvSpPr/>
          <p:nvPr/>
        </p:nvSpPr>
        <p:spPr>
          <a:xfrm>
            <a:off x="10168128" y="4672584"/>
            <a:ext cx="138074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70" dirty="0">
                <a:solidFill>
                  <a:srgbClr val="9AB2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mock-v1</a:t>
            </a:r>
            <a:endParaRPr lang="en-US" sz="970" dirty="0"/>
          </a:p>
        </p:txBody>
      </p:sp>
      <p:sp>
        <p:nvSpPr>
          <p:cNvPr id="73" name="Shape 71"/>
          <p:cNvSpPr/>
          <p:nvPr/>
        </p:nvSpPr>
        <p:spPr>
          <a:xfrm flipH="1">
            <a:off x="9052560" y="3218688"/>
            <a:ext cx="1645920" cy="987552"/>
          </a:xfrm>
          <a:prstGeom prst="line">
            <a:avLst/>
          </a:prstGeom>
          <a:noFill/>
          <a:ln w="22860">
            <a:solidFill>
              <a:srgbClr val="FFC85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EC"/>
          </a:p>
        </p:txBody>
      </p:sp>
      <p:sp>
        <p:nvSpPr>
          <p:cNvPr id="74" name="Shape 72"/>
          <p:cNvSpPr/>
          <p:nvPr/>
        </p:nvSpPr>
        <p:spPr>
          <a:xfrm>
            <a:off x="10698480" y="3218688"/>
            <a:ext cx="182880" cy="969264"/>
          </a:xfrm>
          <a:prstGeom prst="line">
            <a:avLst/>
          </a:prstGeom>
          <a:noFill/>
          <a:ln w="22860">
            <a:solidFill>
              <a:srgbClr val="8C65F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EC"/>
          </a:p>
        </p:txBody>
      </p:sp>
      <p:sp>
        <p:nvSpPr>
          <p:cNvPr id="75" name="Shape 73"/>
          <p:cNvSpPr/>
          <p:nvPr/>
        </p:nvSpPr>
        <p:spPr>
          <a:xfrm>
            <a:off x="658368" y="4114800"/>
            <a:ext cx="6400800" cy="1280160"/>
          </a:xfrm>
          <a:prstGeom prst="roundRect">
            <a:avLst>
              <a:gd name="adj" fmla="val 4286"/>
            </a:avLst>
          </a:prstGeom>
          <a:solidFill>
            <a:srgbClr val="0C1B2D">
              <a:alpha val="96000"/>
            </a:srgbClr>
          </a:solidFill>
          <a:ln w="12700">
            <a:solidFill>
              <a:srgbClr val="1D3B58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76" name="Text 74"/>
          <p:cNvSpPr/>
          <p:nvPr/>
        </p:nvSpPr>
        <p:spPr>
          <a:xfrm>
            <a:off x="868680" y="4315968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7D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Decisión clave</a:t>
            </a:r>
            <a:endParaRPr lang="en-US" sz="1200" dirty="0"/>
          </a:p>
        </p:txBody>
      </p:sp>
      <p:sp>
        <p:nvSpPr>
          <p:cNvPr id="77" name="Text 75"/>
          <p:cNvSpPr/>
          <p:nvPr/>
        </p:nvSpPr>
        <p:spPr>
          <a:xfrm>
            <a:off x="868680" y="4645152"/>
            <a:ext cx="58338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10" dirty="0">
                <a:solidFill>
                  <a:srgbClr val="F5F9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API confirma el dinero primero y luego dispara el trabajo externo. Así, una caída o latencia de Bancs/IA no impide responder al cliente.</a:t>
            </a:r>
            <a:endParaRPr lang="en-US" sz="1210" dirty="0"/>
          </a:p>
        </p:txBody>
      </p:sp>
      <p:sp>
        <p:nvSpPr>
          <p:cNvPr id="7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73952"/>
            <a:ext cx="36576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F8CA8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74320"/>
            <a:ext cx="0" cy="6035040"/>
          </a:xfrm>
          <a:prstGeom prst="line">
            <a:avLst/>
          </a:prstGeom>
          <a:noFill/>
          <a:ln w="4445">
            <a:solidFill>
              <a:srgbClr val="12304A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" name="Shape 1"/>
          <p:cNvSpPr/>
          <p:nvPr/>
        </p:nvSpPr>
        <p:spPr>
          <a:xfrm>
            <a:off x="914400" y="274320"/>
            <a:ext cx="0" cy="6035040"/>
          </a:xfrm>
          <a:prstGeom prst="line">
            <a:avLst/>
          </a:prstGeom>
          <a:noFill/>
          <a:ln w="4445">
            <a:solidFill>
              <a:srgbClr val="12304A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" name="Shape 2"/>
          <p:cNvSpPr/>
          <p:nvPr/>
        </p:nvSpPr>
        <p:spPr>
          <a:xfrm>
            <a:off x="1417320" y="274320"/>
            <a:ext cx="0" cy="6035040"/>
          </a:xfrm>
          <a:prstGeom prst="line">
            <a:avLst/>
          </a:prstGeom>
          <a:noFill/>
          <a:ln w="4445">
            <a:solidFill>
              <a:srgbClr val="12304A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5" name="Shape 3"/>
          <p:cNvSpPr/>
          <p:nvPr/>
        </p:nvSpPr>
        <p:spPr>
          <a:xfrm>
            <a:off x="1920240" y="274320"/>
            <a:ext cx="0" cy="6035040"/>
          </a:xfrm>
          <a:prstGeom prst="line">
            <a:avLst/>
          </a:prstGeom>
          <a:noFill/>
          <a:ln w="4445">
            <a:solidFill>
              <a:srgbClr val="12304A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6" name="Shape 4"/>
          <p:cNvSpPr/>
          <p:nvPr/>
        </p:nvSpPr>
        <p:spPr>
          <a:xfrm>
            <a:off x="2423160" y="274320"/>
            <a:ext cx="0" cy="6035040"/>
          </a:xfrm>
          <a:prstGeom prst="line">
            <a:avLst/>
          </a:prstGeom>
          <a:noFill/>
          <a:ln w="4445">
            <a:solidFill>
              <a:srgbClr val="12304A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7" name="Shape 5"/>
          <p:cNvSpPr/>
          <p:nvPr/>
        </p:nvSpPr>
        <p:spPr>
          <a:xfrm>
            <a:off x="2926080" y="274320"/>
            <a:ext cx="0" cy="6035040"/>
          </a:xfrm>
          <a:prstGeom prst="line">
            <a:avLst/>
          </a:prstGeom>
          <a:noFill/>
          <a:ln w="4445">
            <a:solidFill>
              <a:srgbClr val="12304A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8" name="Shape 6"/>
          <p:cNvSpPr/>
          <p:nvPr/>
        </p:nvSpPr>
        <p:spPr>
          <a:xfrm>
            <a:off x="3429000" y="274320"/>
            <a:ext cx="0" cy="6035040"/>
          </a:xfrm>
          <a:prstGeom prst="line">
            <a:avLst/>
          </a:prstGeom>
          <a:noFill/>
          <a:ln w="4445">
            <a:solidFill>
              <a:srgbClr val="12304A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9" name="Shape 7"/>
          <p:cNvSpPr/>
          <p:nvPr/>
        </p:nvSpPr>
        <p:spPr>
          <a:xfrm>
            <a:off x="3931920" y="274320"/>
            <a:ext cx="0" cy="6035040"/>
          </a:xfrm>
          <a:prstGeom prst="line">
            <a:avLst/>
          </a:prstGeom>
          <a:noFill/>
          <a:ln w="4445">
            <a:solidFill>
              <a:srgbClr val="12304A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0" name="Shape 8"/>
          <p:cNvSpPr/>
          <p:nvPr/>
        </p:nvSpPr>
        <p:spPr>
          <a:xfrm>
            <a:off x="4434840" y="274320"/>
            <a:ext cx="0" cy="6035040"/>
          </a:xfrm>
          <a:prstGeom prst="line">
            <a:avLst/>
          </a:prstGeom>
          <a:noFill/>
          <a:ln w="4445">
            <a:solidFill>
              <a:srgbClr val="12304A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1" name="Shape 9"/>
          <p:cNvSpPr/>
          <p:nvPr/>
        </p:nvSpPr>
        <p:spPr>
          <a:xfrm>
            <a:off x="4937760" y="274320"/>
            <a:ext cx="0" cy="6035040"/>
          </a:xfrm>
          <a:prstGeom prst="line">
            <a:avLst/>
          </a:prstGeom>
          <a:noFill/>
          <a:ln w="4445">
            <a:solidFill>
              <a:srgbClr val="12304A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2" name="Shape 10"/>
          <p:cNvSpPr/>
          <p:nvPr/>
        </p:nvSpPr>
        <p:spPr>
          <a:xfrm>
            <a:off x="5440680" y="274320"/>
            <a:ext cx="0" cy="6035040"/>
          </a:xfrm>
          <a:prstGeom prst="line">
            <a:avLst/>
          </a:prstGeom>
          <a:noFill/>
          <a:ln w="4445">
            <a:solidFill>
              <a:srgbClr val="12304A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3" name="Shape 11"/>
          <p:cNvSpPr/>
          <p:nvPr/>
        </p:nvSpPr>
        <p:spPr>
          <a:xfrm>
            <a:off x="5943600" y="274320"/>
            <a:ext cx="0" cy="6035040"/>
          </a:xfrm>
          <a:prstGeom prst="line">
            <a:avLst/>
          </a:prstGeom>
          <a:noFill/>
          <a:ln w="4445">
            <a:solidFill>
              <a:srgbClr val="12304A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4" name="Shape 12"/>
          <p:cNvSpPr/>
          <p:nvPr/>
        </p:nvSpPr>
        <p:spPr>
          <a:xfrm>
            <a:off x="6446520" y="274320"/>
            <a:ext cx="0" cy="6035040"/>
          </a:xfrm>
          <a:prstGeom prst="line">
            <a:avLst/>
          </a:prstGeom>
          <a:noFill/>
          <a:ln w="4445">
            <a:solidFill>
              <a:srgbClr val="12304A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5" name="Shape 13"/>
          <p:cNvSpPr/>
          <p:nvPr/>
        </p:nvSpPr>
        <p:spPr>
          <a:xfrm>
            <a:off x="6949440" y="274320"/>
            <a:ext cx="0" cy="6035040"/>
          </a:xfrm>
          <a:prstGeom prst="line">
            <a:avLst/>
          </a:prstGeom>
          <a:noFill/>
          <a:ln w="4445">
            <a:solidFill>
              <a:srgbClr val="12304A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6" name="Shape 14"/>
          <p:cNvSpPr/>
          <p:nvPr/>
        </p:nvSpPr>
        <p:spPr>
          <a:xfrm>
            <a:off x="7452360" y="274320"/>
            <a:ext cx="0" cy="6035040"/>
          </a:xfrm>
          <a:prstGeom prst="line">
            <a:avLst/>
          </a:prstGeom>
          <a:noFill/>
          <a:ln w="4445">
            <a:solidFill>
              <a:srgbClr val="12304A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7" name="Shape 15"/>
          <p:cNvSpPr/>
          <p:nvPr/>
        </p:nvSpPr>
        <p:spPr>
          <a:xfrm>
            <a:off x="7955280" y="274320"/>
            <a:ext cx="0" cy="6035040"/>
          </a:xfrm>
          <a:prstGeom prst="line">
            <a:avLst/>
          </a:prstGeom>
          <a:noFill/>
          <a:ln w="4445">
            <a:solidFill>
              <a:srgbClr val="12304A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8" name="Shape 16"/>
          <p:cNvSpPr/>
          <p:nvPr/>
        </p:nvSpPr>
        <p:spPr>
          <a:xfrm>
            <a:off x="8458200" y="274320"/>
            <a:ext cx="0" cy="6035040"/>
          </a:xfrm>
          <a:prstGeom prst="line">
            <a:avLst/>
          </a:prstGeom>
          <a:noFill/>
          <a:ln w="4445">
            <a:solidFill>
              <a:srgbClr val="12304A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9" name="Shape 17"/>
          <p:cNvSpPr/>
          <p:nvPr/>
        </p:nvSpPr>
        <p:spPr>
          <a:xfrm>
            <a:off x="8961120" y="274320"/>
            <a:ext cx="0" cy="6035040"/>
          </a:xfrm>
          <a:prstGeom prst="line">
            <a:avLst/>
          </a:prstGeom>
          <a:noFill/>
          <a:ln w="4445">
            <a:solidFill>
              <a:srgbClr val="12304A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0" name="Shape 18"/>
          <p:cNvSpPr/>
          <p:nvPr/>
        </p:nvSpPr>
        <p:spPr>
          <a:xfrm>
            <a:off x="9464040" y="274320"/>
            <a:ext cx="0" cy="6035040"/>
          </a:xfrm>
          <a:prstGeom prst="line">
            <a:avLst/>
          </a:prstGeom>
          <a:noFill/>
          <a:ln w="4445">
            <a:solidFill>
              <a:srgbClr val="12304A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1" name="Shape 19"/>
          <p:cNvSpPr/>
          <p:nvPr/>
        </p:nvSpPr>
        <p:spPr>
          <a:xfrm>
            <a:off x="9966960" y="274320"/>
            <a:ext cx="0" cy="6035040"/>
          </a:xfrm>
          <a:prstGeom prst="line">
            <a:avLst/>
          </a:prstGeom>
          <a:noFill/>
          <a:ln w="4445">
            <a:solidFill>
              <a:srgbClr val="12304A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2" name="Shape 20"/>
          <p:cNvSpPr/>
          <p:nvPr/>
        </p:nvSpPr>
        <p:spPr>
          <a:xfrm>
            <a:off x="10469880" y="274320"/>
            <a:ext cx="0" cy="6035040"/>
          </a:xfrm>
          <a:prstGeom prst="line">
            <a:avLst/>
          </a:prstGeom>
          <a:noFill/>
          <a:ln w="4445">
            <a:solidFill>
              <a:srgbClr val="12304A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3" name="Shape 21"/>
          <p:cNvSpPr/>
          <p:nvPr/>
        </p:nvSpPr>
        <p:spPr>
          <a:xfrm>
            <a:off x="10972800" y="274320"/>
            <a:ext cx="0" cy="6035040"/>
          </a:xfrm>
          <a:prstGeom prst="line">
            <a:avLst/>
          </a:prstGeom>
          <a:noFill/>
          <a:ln w="4445">
            <a:solidFill>
              <a:srgbClr val="12304A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4" name="Shape 22"/>
          <p:cNvSpPr/>
          <p:nvPr/>
        </p:nvSpPr>
        <p:spPr>
          <a:xfrm>
            <a:off x="11475720" y="274320"/>
            <a:ext cx="0" cy="6035040"/>
          </a:xfrm>
          <a:prstGeom prst="line">
            <a:avLst/>
          </a:prstGeom>
          <a:noFill/>
          <a:ln w="4445">
            <a:solidFill>
              <a:srgbClr val="12304A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5" name="Shape 23"/>
          <p:cNvSpPr/>
          <p:nvPr/>
        </p:nvSpPr>
        <p:spPr>
          <a:xfrm>
            <a:off x="320040" y="365760"/>
            <a:ext cx="11521440" cy="0"/>
          </a:xfrm>
          <a:prstGeom prst="line">
            <a:avLst/>
          </a:prstGeom>
          <a:noFill/>
          <a:ln w="4445">
            <a:solidFill>
              <a:srgbClr val="12304A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6" name="Shape 24"/>
          <p:cNvSpPr/>
          <p:nvPr/>
        </p:nvSpPr>
        <p:spPr>
          <a:xfrm>
            <a:off x="320040" y="822960"/>
            <a:ext cx="11521440" cy="0"/>
          </a:xfrm>
          <a:prstGeom prst="line">
            <a:avLst/>
          </a:prstGeom>
          <a:noFill/>
          <a:ln w="4445">
            <a:solidFill>
              <a:srgbClr val="12304A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7" name="Shape 25"/>
          <p:cNvSpPr/>
          <p:nvPr/>
        </p:nvSpPr>
        <p:spPr>
          <a:xfrm>
            <a:off x="320040" y="1280160"/>
            <a:ext cx="11521440" cy="0"/>
          </a:xfrm>
          <a:prstGeom prst="line">
            <a:avLst/>
          </a:prstGeom>
          <a:noFill/>
          <a:ln w="4445">
            <a:solidFill>
              <a:srgbClr val="12304A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8" name="Shape 26"/>
          <p:cNvSpPr/>
          <p:nvPr/>
        </p:nvSpPr>
        <p:spPr>
          <a:xfrm>
            <a:off x="320040" y="1737360"/>
            <a:ext cx="11521440" cy="0"/>
          </a:xfrm>
          <a:prstGeom prst="line">
            <a:avLst/>
          </a:prstGeom>
          <a:noFill/>
          <a:ln w="4445">
            <a:solidFill>
              <a:srgbClr val="12304A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9" name="Shape 27"/>
          <p:cNvSpPr/>
          <p:nvPr/>
        </p:nvSpPr>
        <p:spPr>
          <a:xfrm>
            <a:off x="320040" y="2194560"/>
            <a:ext cx="11521440" cy="0"/>
          </a:xfrm>
          <a:prstGeom prst="line">
            <a:avLst/>
          </a:prstGeom>
          <a:noFill/>
          <a:ln w="4445">
            <a:solidFill>
              <a:srgbClr val="12304A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0" name="Shape 28"/>
          <p:cNvSpPr/>
          <p:nvPr/>
        </p:nvSpPr>
        <p:spPr>
          <a:xfrm>
            <a:off x="320040" y="2651760"/>
            <a:ext cx="11521440" cy="0"/>
          </a:xfrm>
          <a:prstGeom prst="line">
            <a:avLst/>
          </a:prstGeom>
          <a:noFill/>
          <a:ln w="4445">
            <a:solidFill>
              <a:srgbClr val="12304A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1" name="Shape 29"/>
          <p:cNvSpPr/>
          <p:nvPr/>
        </p:nvSpPr>
        <p:spPr>
          <a:xfrm>
            <a:off x="320040" y="3108960"/>
            <a:ext cx="11521440" cy="0"/>
          </a:xfrm>
          <a:prstGeom prst="line">
            <a:avLst/>
          </a:prstGeom>
          <a:noFill/>
          <a:ln w="4445">
            <a:solidFill>
              <a:srgbClr val="12304A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2" name="Shape 30"/>
          <p:cNvSpPr/>
          <p:nvPr/>
        </p:nvSpPr>
        <p:spPr>
          <a:xfrm>
            <a:off x="320040" y="3566160"/>
            <a:ext cx="11521440" cy="0"/>
          </a:xfrm>
          <a:prstGeom prst="line">
            <a:avLst/>
          </a:prstGeom>
          <a:noFill/>
          <a:ln w="4445">
            <a:solidFill>
              <a:srgbClr val="12304A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3" name="Shape 31"/>
          <p:cNvSpPr/>
          <p:nvPr/>
        </p:nvSpPr>
        <p:spPr>
          <a:xfrm>
            <a:off x="320040" y="4023360"/>
            <a:ext cx="11521440" cy="0"/>
          </a:xfrm>
          <a:prstGeom prst="line">
            <a:avLst/>
          </a:prstGeom>
          <a:noFill/>
          <a:ln w="4445">
            <a:solidFill>
              <a:srgbClr val="12304A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4" name="Shape 32"/>
          <p:cNvSpPr/>
          <p:nvPr/>
        </p:nvSpPr>
        <p:spPr>
          <a:xfrm>
            <a:off x="320040" y="4480560"/>
            <a:ext cx="11521440" cy="0"/>
          </a:xfrm>
          <a:prstGeom prst="line">
            <a:avLst/>
          </a:prstGeom>
          <a:noFill/>
          <a:ln w="4445">
            <a:solidFill>
              <a:srgbClr val="12304A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5" name="Shape 33"/>
          <p:cNvSpPr/>
          <p:nvPr/>
        </p:nvSpPr>
        <p:spPr>
          <a:xfrm>
            <a:off x="320040" y="4937760"/>
            <a:ext cx="11521440" cy="0"/>
          </a:xfrm>
          <a:prstGeom prst="line">
            <a:avLst/>
          </a:prstGeom>
          <a:noFill/>
          <a:ln w="4445">
            <a:solidFill>
              <a:srgbClr val="12304A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6" name="Shape 34"/>
          <p:cNvSpPr/>
          <p:nvPr/>
        </p:nvSpPr>
        <p:spPr>
          <a:xfrm>
            <a:off x="320040" y="5394960"/>
            <a:ext cx="11521440" cy="0"/>
          </a:xfrm>
          <a:prstGeom prst="line">
            <a:avLst/>
          </a:prstGeom>
          <a:noFill/>
          <a:ln w="4445">
            <a:solidFill>
              <a:srgbClr val="12304A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7" name="Shape 35"/>
          <p:cNvSpPr/>
          <p:nvPr/>
        </p:nvSpPr>
        <p:spPr>
          <a:xfrm>
            <a:off x="320040" y="5852160"/>
            <a:ext cx="11521440" cy="0"/>
          </a:xfrm>
          <a:prstGeom prst="line">
            <a:avLst/>
          </a:prstGeom>
          <a:noFill/>
          <a:ln w="4445">
            <a:solidFill>
              <a:srgbClr val="12304A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8" name="Shape 36"/>
          <p:cNvSpPr/>
          <p:nvPr/>
        </p:nvSpPr>
        <p:spPr>
          <a:xfrm>
            <a:off x="320040" y="6309360"/>
            <a:ext cx="11521440" cy="0"/>
          </a:xfrm>
          <a:prstGeom prst="line">
            <a:avLst/>
          </a:prstGeom>
          <a:noFill/>
          <a:ln w="4445">
            <a:solidFill>
              <a:srgbClr val="12304A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9" name="Text 37"/>
          <p:cNvSpPr/>
          <p:nvPr/>
        </p:nvSpPr>
        <p:spPr>
          <a:xfrm>
            <a:off x="502920" y="38404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20" dirty="0">
                <a:solidFill>
                  <a:srgbClr val="27D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FLUJO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502920" y="694944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F5F9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Flujo de una transferencia</a:t>
            </a:r>
            <a:endParaRPr lang="en-US" sz="2700" dirty="0"/>
          </a:p>
        </p:txBody>
      </p:sp>
      <p:sp>
        <p:nvSpPr>
          <p:cNvPr id="41" name="Text 39"/>
          <p:cNvSpPr/>
          <p:nvPr/>
        </p:nvSpPr>
        <p:spPr>
          <a:xfrm>
            <a:off x="521208" y="1243584"/>
            <a:ext cx="10424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80" dirty="0">
                <a:solidFill>
                  <a:srgbClr val="9AB2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Validación, bloqueo, actualización y evento Outbox dentro de una sola operación consistente.</a:t>
            </a:r>
            <a:endParaRPr lang="en-US" sz="1280" dirty="0"/>
          </a:p>
        </p:txBody>
      </p:sp>
      <p:sp>
        <p:nvSpPr>
          <p:cNvPr id="42" name="Shape 40"/>
          <p:cNvSpPr/>
          <p:nvPr/>
        </p:nvSpPr>
        <p:spPr>
          <a:xfrm>
            <a:off x="713232" y="1773936"/>
            <a:ext cx="384048" cy="384048"/>
          </a:xfrm>
          <a:prstGeom prst="ellipse">
            <a:avLst/>
          </a:prstGeom>
          <a:solidFill>
            <a:srgbClr val="27D3FF">
              <a:alpha val="94000"/>
            </a:srgbClr>
          </a:solidFill>
          <a:ln w="12700">
            <a:solidFill>
              <a:srgbClr val="27D3FF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3" name="Text 41"/>
          <p:cNvSpPr/>
          <p:nvPr/>
        </p:nvSpPr>
        <p:spPr>
          <a:xfrm>
            <a:off x="713232" y="1860804"/>
            <a:ext cx="384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711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1298448" y="1755648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5F9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Idempotency-Key</a:t>
            </a:r>
            <a:endParaRPr lang="en-US" sz="1350" dirty="0"/>
          </a:p>
        </p:txBody>
      </p:sp>
      <p:sp>
        <p:nvSpPr>
          <p:cNvPr id="45" name="Text 43"/>
          <p:cNvSpPr/>
          <p:nvPr/>
        </p:nvSpPr>
        <p:spPr>
          <a:xfrm>
            <a:off x="3246120" y="1755648"/>
            <a:ext cx="4251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10" dirty="0">
                <a:solidFill>
                  <a:srgbClr val="9AB2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Evita ejecutar dos veces la misma operación</a:t>
            </a:r>
            <a:endParaRPr lang="en-US" sz="1110" dirty="0"/>
          </a:p>
        </p:txBody>
      </p:sp>
      <p:sp>
        <p:nvSpPr>
          <p:cNvPr id="46" name="Shape 44"/>
          <p:cNvSpPr/>
          <p:nvPr/>
        </p:nvSpPr>
        <p:spPr>
          <a:xfrm>
            <a:off x="905256" y="2167128"/>
            <a:ext cx="0" cy="301752"/>
          </a:xfrm>
          <a:prstGeom prst="line">
            <a:avLst/>
          </a:prstGeom>
          <a:noFill/>
          <a:ln w="15240">
            <a:solidFill>
              <a:srgbClr val="1D3B58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7" name="Shape 45"/>
          <p:cNvSpPr/>
          <p:nvPr/>
        </p:nvSpPr>
        <p:spPr>
          <a:xfrm>
            <a:off x="713232" y="2487168"/>
            <a:ext cx="384048" cy="384048"/>
          </a:xfrm>
          <a:prstGeom prst="ellipse">
            <a:avLst/>
          </a:prstGeom>
          <a:solidFill>
            <a:srgbClr val="4B7BFF">
              <a:alpha val="94000"/>
            </a:srgbClr>
          </a:solidFill>
          <a:ln w="12700">
            <a:solidFill>
              <a:srgbClr val="4B7BFF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8" name="Text 46"/>
          <p:cNvSpPr/>
          <p:nvPr/>
        </p:nvSpPr>
        <p:spPr>
          <a:xfrm>
            <a:off x="713232" y="2574036"/>
            <a:ext cx="384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711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1298448" y="2468880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5F9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UPDATE</a:t>
            </a:r>
            <a:endParaRPr lang="en-US" sz="1350" dirty="0"/>
          </a:p>
        </p:txBody>
      </p:sp>
      <p:sp>
        <p:nvSpPr>
          <p:cNvPr id="50" name="Text 48"/>
          <p:cNvSpPr/>
          <p:nvPr/>
        </p:nvSpPr>
        <p:spPr>
          <a:xfrm>
            <a:off x="3246120" y="2468880"/>
            <a:ext cx="4251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10" dirty="0">
                <a:solidFill>
                  <a:srgbClr val="9AB2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Bloquea las cuentas en un orden determinista</a:t>
            </a:r>
            <a:endParaRPr lang="en-US" sz="1110" dirty="0"/>
          </a:p>
        </p:txBody>
      </p:sp>
      <p:sp>
        <p:nvSpPr>
          <p:cNvPr id="51" name="Shape 49"/>
          <p:cNvSpPr/>
          <p:nvPr/>
        </p:nvSpPr>
        <p:spPr>
          <a:xfrm>
            <a:off x="905256" y="2880360"/>
            <a:ext cx="0" cy="301752"/>
          </a:xfrm>
          <a:prstGeom prst="line">
            <a:avLst/>
          </a:prstGeom>
          <a:noFill/>
          <a:ln w="15240">
            <a:solidFill>
              <a:srgbClr val="1D3B58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52" name="Shape 50"/>
          <p:cNvSpPr/>
          <p:nvPr/>
        </p:nvSpPr>
        <p:spPr>
          <a:xfrm>
            <a:off x="713232" y="3200400"/>
            <a:ext cx="384048" cy="384048"/>
          </a:xfrm>
          <a:prstGeom prst="ellipse">
            <a:avLst/>
          </a:prstGeom>
          <a:solidFill>
            <a:srgbClr val="FFC857">
              <a:alpha val="94000"/>
            </a:srgbClr>
          </a:solidFill>
          <a:ln w="12700">
            <a:solidFill>
              <a:srgbClr val="FFC857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53" name="Text 51"/>
          <p:cNvSpPr/>
          <p:nvPr/>
        </p:nvSpPr>
        <p:spPr>
          <a:xfrm>
            <a:off x="713232" y="3287268"/>
            <a:ext cx="384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711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1298448" y="3182112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5F9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Validaciones</a:t>
            </a:r>
            <a:endParaRPr lang="en-US" sz="1350" dirty="0"/>
          </a:p>
        </p:txBody>
      </p:sp>
      <p:sp>
        <p:nvSpPr>
          <p:cNvPr id="55" name="Text 53"/>
          <p:cNvSpPr/>
          <p:nvPr/>
        </p:nvSpPr>
        <p:spPr>
          <a:xfrm>
            <a:off x="3246120" y="3182112"/>
            <a:ext cx="4251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10" dirty="0">
                <a:solidFill>
                  <a:srgbClr val="9AB2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Cuenta, moneda, origen ≠ destino y saldo</a:t>
            </a:r>
            <a:endParaRPr lang="en-US" sz="1110" dirty="0"/>
          </a:p>
        </p:txBody>
      </p:sp>
      <p:sp>
        <p:nvSpPr>
          <p:cNvPr id="56" name="Shape 54"/>
          <p:cNvSpPr/>
          <p:nvPr/>
        </p:nvSpPr>
        <p:spPr>
          <a:xfrm>
            <a:off x="905256" y="3593592"/>
            <a:ext cx="0" cy="301752"/>
          </a:xfrm>
          <a:prstGeom prst="line">
            <a:avLst/>
          </a:prstGeom>
          <a:noFill/>
          <a:ln w="15240">
            <a:solidFill>
              <a:srgbClr val="1D3B58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57" name="Shape 55"/>
          <p:cNvSpPr/>
          <p:nvPr/>
        </p:nvSpPr>
        <p:spPr>
          <a:xfrm>
            <a:off x="713232" y="3913632"/>
            <a:ext cx="384048" cy="384048"/>
          </a:xfrm>
          <a:prstGeom prst="ellipse">
            <a:avLst/>
          </a:prstGeom>
          <a:solidFill>
            <a:srgbClr val="31D49B">
              <a:alpha val="94000"/>
            </a:srgbClr>
          </a:solidFill>
          <a:ln w="12700">
            <a:solidFill>
              <a:srgbClr val="31D49B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58" name="Text 56"/>
          <p:cNvSpPr/>
          <p:nvPr/>
        </p:nvSpPr>
        <p:spPr>
          <a:xfrm>
            <a:off x="713232" y="4000500"/>
            <a:ext cx="384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711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1298448" y="3895344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5F9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Actualizar saldos</a:t>
            </a:r>
            <a:endParaRPr lang="en-US" sz="1350" dirty="0"/>
          </a:p>
        </p:txBody>
      </p:sp>
      <p:sp>
        <p:nvSpPr>
          <p:cNvPr id="60" name="Text 58"/>
          <p:cNvSpPr/>
          <p:nvPr/>
        </p:nvSpPr>
        <p:spPr>
          <a:xfrm>
            <a:off x="3246120" y="3895344"/>
            <a:ext cx="4251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10" dirty="0">
                <a:solidFill>
                  <a:srgbClr val="9AB2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Débito y crédito dentro de la transacción</a:t>
            </a:r>
            <a:endParaRPr lang="en-US" sz="1110" dirty="0"/>
          </a:p>
        </p:txBody>
      </p:sp>
      <p:sp>
        <p:nvSpPr>
          <p:cNvPr id="61" name="Shape 59"/>
          <p:cNvSpPr/>
          <p:nvPr/>
        </p:nvSpPr>
        <p:spPr>
          <a:xfrm>
            <a:off x="905256" y="4306824"/>
            <a:ext cx="0" cy="301752"/>
          </a:xfrm>
          <a:prstGeom prst="line">
            <a:avLst/>
          </a:prstGeom>
          <a:noFill/>
          <a:ln w="15240">
            <a:solidFill>
              <a:srgbClr val="1D3B58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62" name="Shape 60"/>
          <p:cNvSpPr/>
          <p:nvPr/>
        </p:nvSpPr>
        <p:spPr>
          <a:xfrm>
            <a:off x="713232" y="4626864"/>
            <a:ext cx="384048" cy="384048"/>
          </a:xfrm>
          <a:prstGeom prst="ellipse">
            <a:avLst/>
          </a:prstGeom>
          <a:solidFill>
            <a:srgbClr val="8C65FF">
              <a:alpha val="94000"/>
            </a:srgbClr>
          </a:solidFill>
          <a:ln w="12700">
            <a:solidFill>
              <a:srgbClr val="8C65FF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63" name="Text 61"/>
          <p:cNvSpPr/>
          <p:nvPr/>
        </p:nvSpPr>
        <p:spPr>
          <a:xfrm>
            <a:off x="713232" y="4713732"/>
            <a:ext cx="384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711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1298448" y="4608576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5F9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Transaction + Outbox</a:t>
            </a:r>
            <a:endParaRPr lang="en-US" sz="1350" dirty="0"/>
          </a:p>
        </p:txBody>
      </p:sp>
      <p:sp>
        <p:nvSpPr>
          <p:cNvPr id="65" name="Text 63"/>
          <p:cNvSpPr/>
          <p:nvPr/>
        </p:nvSpPr>
        <p:spPr>
          <a:xfrm>
            <a:off x="3246120" y="4608576"/>
            <a:ext cx="4251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10" dirty="0">
                <a:solidFill>
                  <a:srgbClr val="9AB2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registran antes del COMMIT</a:t>
            </a:r>
            <a:endParaRPr lang="en-US" sz="1110" dirty="0"/>
          </a:p>
        </p:txBody>
      </p:sp>
      <p:sp>
        <p:nvSpPr>
          <p:cNvPr id="66" name="Shape 64"/>
          <p:cNvSpPr/>
          <p:nvPr/>
        </p:nvSpPr>
        <p:spPr>
          <a:xfrm>
            <a:off x="905256" y="5020056"/>
            <a:ext cx="0" cy="301752"/>
          </a:xfrm>
          <a:prstGeom prst="line">
            <a:avLst/>
          </a:prstGeom>
          <a:noFill/>
          <a:ln w="15240">
            <a:solidFill>
              <a:srgbClr val="1D3B58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67" name="Shape 65"/>
          <p:cNvSpPr/>
          <p:nvPr/>
        </p:nvSpPr>
        <p:spPr>
          <a:xfrm>
            <a:off x="713232" y="5340096"/>
            <a:ext cx="384048" cy="384048"/>
          </a:xfrm>
          <a:prstGeom prst="ellipse">
            <a:avLst/>
          </a:prstGeom>
          <a:solidFill>
            <a:srgbClr val="27D3FF">
              <a:alpha val="94000"/>
            </a:srgbClr>
          </a:solidFill>
          <a:ln w="12700">
            <a:solidFill>
              <a:srgbClr val="27D3FF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68" name="Text 66"/>
          <p:cNvSpPr/>
          <p:nvPr/>
        </p:nvSpPr>
        <p:spPr>
          <a:xfrm>
            <a:off x="713232" y="5426964"/>
            <a:ext cx="384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711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69" name="Text 67"/>
          <p:cNvSpPr/>
          <p:nvPr/>
        </p:nvSpPr>
        <p:spPr>
          <a:xfrm>
            <a:off x="1298448" y="5321808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5F9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 / 201</a:t>
            </a:r>
            <a:endParaRPr lang="en-US" sz="1350" dirty="0"/>
          </a:p>
        </p:txBody>
      </p:sp>
      <p:sp>
        <p:nvSpPr>
          <p:cNvPr id="70" name="Text 68"/>
          <p:cNvSpPr/>
          <p:nvPr/>
        </p:nvSpPr>
        <p:spPr>
          <a:xfrm>
            <a:off x="3246120" y="5321808"/>
            <a:ext cx="4251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10" dirty="0">
                <a:solidFill>
                  <a:srgbClr val="9AB2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API responde al cliente</a:t>
            </a:r>
            <a:endParaRPr lang="en-US" sz="1110" dirty="0"/>
          </a:p>
        </p:txBody>
      </p:sp>
      <p:sp>
        <p:nvSpPr>
          <p:cNvPr id="71" name="Shape 69"/>
          <p:cNvSpPr/>
          <p:nvPr/>
        </p:nvSpPr>
        <p:spPr>
          <a:xfrm>
            <a:off x="7909560" y="1810512"/>
            <a:ext cx="3657600" cy="3456432"/>
          </a:xfrm>
          <a:prstGeom prst="roundRect">
            <a:avLst>
              <a:gd name="adj" fmla="val 1852"/>
            </a:avLst>
          </a:prstGeom>
          <a:solidFill>
            <a:srgbClr val="06101B"/>
          </a:solidFill>
          <a:ln w="13970">
            <a:solidFill>
              <a:srgbClr val="1D3B58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72" name="Text 70"/>
          <p:cNvSpPr/>
          <p:nvPr/>
        </p:nvSpPr>
        <p:spPr>
          <a:xfrm>
            <a:off x="8138160" y="199339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7D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transaction_service.py</a:t>
            </a:r>
            <a:endParaRPr lang="en-US" sz="950" dirty="0"/>
          </a:p>
        </p:txBody>
      </p:sp>
      <p:sp>
        <p:nvSpPr>
          <p:cNvPr id="73" name="Text 71"/>
          <p:cNvSpPr/>
          <p:nvPr/>
        </p:nvSpPr>
        <p:spPr>
          <a:xfrm>
            <a:off x="8138160" y="2395728"/>
            <a:ext cx="3063240" cy="2103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C7D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accounts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7D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id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7D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UPDATE;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7D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validate(balance)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7D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update(source, destination)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7D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insert(transaction)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7D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insert(outbox_event)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7D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COMMIT</a:t>
            </a:r>
            <a:endParaRPr lang="en-US" sz="1200" dirty="0"/>
          </a:p>
        </p:txBody>
      </p:sp>
      <p:sp>
        <p:nvSpPr>
          <p:cNvPr id="74" name="Shape 72"/>
          <p:cNvSpPr/>
          <p:nvPr/>
        </p:nvSpPr>
        <p:spPr>
          <a:xfrm>
            <a:off x="8229600" y="4700016"/>
            <a:ext cx="914400" cy="310896"/>
          </a:xfrm>
          <a:prstGeom prst="roundRect">
            <a:avLst>
              <a:gd name="adj" fmla="val 35294"/>
            </a:avLst>
          </a:prstGeom>
          <a:solidFill>
            <a:srgbClr val="31D49B">
              <a:alpha val="18000"/>
            </a:srgbClr>
          </a:solidFill>
          <a:ln w="10160">
            <a:solidFill>
              <a:srgbClr val="31D49B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75" name="Text 73"/>
          <p:cNvSpPr/>
          <p:nvPr/>
        </p:nvSpPr>
        <p:spPr>
          <a:xfrm>
            <a:off x="8284464" y="4759452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40" b="1" dirty="0">
                <a:solidFill>
                  <a:srgbClr val="31D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ACID</a:t>
            </a:r>
            <a:endParaRPr lang="en-US" sz="940" dirty="0"/>
          </a:p>
        </p:txBody>
      </p:sp>
      <p:sp>
        <p:nvSpPr>
          <p:cNvPr id="76" name="Shape 74"/>
          <p:cNvSpPr/>
          <p:nvPr/>
        </p:nvSpPr>
        <p:spPr>
          <a:xfrm>
            <a:off x="9281160" y="4700016"/>
            <a:ext cx="1051560" cy="310896"/>
          </a:xfrm>
          <a:prstGeom prst="roundRect">
            <a:avLst>
              <a:gd name="adj" fmla="val 35294"/>
            </a:avLst>
          </a:prstGeom>
          <a:solidFill>
            <a:srgbClr val="FF5F6D">
              <a:alpha val="18000"/>
            </a:srgbClr>
          </a:solidFill>
          <a:ln w="10160">
            <a:solidFill>
              <a:srgbClr val="FF5F6D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77" name="Text 75"/>
          <p:cNvSpPr/>
          <p:nvPr/>
        </p:nvSpPr>
        <p:spPr>
          <a:xfrm>
            <a:off x="9336024" y="4759452"/>
            <a:ext cx="9418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40" b="1" dirty="0">
                <a:solidFill>
                  <a:srgbClr val="FF5F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ROLLBACK</a:t>
            </a:r>
            <a:endParaRPr lang="en-US" sz="940" dirty="0"/>
          </a:p>
        </p:txBody>
      </p:sp>
      <p:sp>
        <p:nvSpPr>
          <p:cNvPr id="78" name="Shape 76"/>
          <p:cNvSpPr/>
          <p:nvPr/>
        </p:nvSpPr>
        <p:spPr>
          <a:xfrm>
            <a:off x="10469880" y="4700016"/>
            <a:ext cx="822960" cy="310896"/>
          </a:xfrm>
          <a:prstGeom prst="roundRect">
            <a:avLst>
              <a:gd name="adj" fmla="val 35294"/>
            </a:avLst>
          </a:prstGeom>
          <a:solidFill>
            <a:srgbClr val="27D3FF">
              <a:alpha val="18000"/>
            </a:srgbClr>
          </a:solidFill>
          <a:ln w="10160">
            <a:solidFill>
              <a:srgbClr val="27D3FF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79" name="Text 77"/>
          <p:cNvSpPr/>
          <p:nvPr/>
        </p:nvSpPr>
        <p:spPr>
          <a:xfrm>
            <a:off x="10524744" y="4759452"/>
            <a:ext cx="713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40" b="1" dirty="0">
                <a:solidFill>
                  <a:srgbClr val="27D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</a:t>
            </a:r>
            <a:endParaRPr lang="en-US" sz="940" dirty="0"/>
          </a:p>
        </p:txBody>
      </p:sp>
      <p:sp>
        <p:nvSpPr>
          <p:cNvPr id="8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73952"/>
            <a:ext cx="36576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F8CA8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74320"/>
            <a:ext cx="0" cy="6035040"/>
          </a:xfrm>
          <a:prstGeom prst="line">
            <a:avLst/>
          </a:prstGeom>
          <a:noFill/>
          <a:ln w="4445">
            <a:solidFill>
              <a:srgbClr val="12304A">
                <a:alpha val="7200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" name="Shape 1"/>
          <p:cNvSpPr/>
          <p:nvPr/>
        </p:nvSpPr>
        <p:spPr>
          <a:xfrm>
            <a:off x="914400" y="274320"/>
            <a:ext cx="0" cy="6035040"/>
          </a:xfrm>
          <a:prstGeom prst="line">
            <a:avLst/>
          </a:prstGeom>
          <a:noFill/>
          <a:ln w="4445">
            <a:solidFill>
              <a:srgbClr val="12304A">
                <a:alpha val="7200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" name="Shape 2"/>
          <p:cNvSpPr/>
          <p:nvPr/>
        </p:nvSpPr>
        <p:spPr>
          <a:xfrm>
            <a:off x="1417320" y="274320"/>
            <a:ext cx="0" cy="6035040"/>
          </a:xfrm>
          <a:prstGeom prst="line">
            <a:avLst/>
          </a:prstGeom>
          <a:noFill/>
          <a:ln w="4445">
            <a:solidFill>
              <a:srgbClr val="12304A">
                <a:alpha val="7200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5" name="Shape 3"/>
          <p:cNvSpPr/>
          <p:nvPr/>
        </p:nvSpPr>
        <p:spPr>
          <a:xfrm>
            <a:off x="1920240" y="274320"/>
            <a:ext cx="0" cy="6035040"/>
          </a:xfrm>
          <a:prstGeom prst="line">
            <a:avLst/>
          </a:prstGeom>
          <a:noFill/>
          <a:ln w="4445">
            <a:solidFill>
              <a:srgbClr val="12304A">
                <a:alpha val="7200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6" name="Shape 4"/>
          <p:cNvSpPr/>
          <p:nvPr/>
        </p:nvSpPr>
        <p:spPr>
          <a:xfrm>
            <a:off x="2423160" y="274320"/>
            <a:ext cx="0" cy="6035040"/>
          </a:xfrm>
          <a:prstGeom prst="line">
            <a:avLst/>
          </a:prstGeom>
          <a:noFill/>
          <a:ln w="4445">
            <a:solidFill>
              <a:srgbClr val="12304A">
                <a:alpha val="7200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7" name="Shape 5"/>
          <p:cNvSpPr/>
          <p:nvPr/>
        </p:nvSpPr>
        <p:spPr>
          <a:xfrm>
            <a:off x="2926080" y="274320"/>
            <a:ext cx="0" cy="6035040"/>
          </a:xfrm>
          <a:prstGeom prst="line">
            <a:avLst/>
          </a:prstGeom>
          <a:noFill/>
          <a:ln w="4445">
            <a:solidFill>
              <a:srgbClr val="12304A">
                <a:alpha val="7200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8" name="Shape 6"/>
          <p:cNvSpPr/>
          <p:nvPr/>
        </p:nvSpPr>
        <p:spPr>
          <a:xfrm>
            <a:off x="3429000" y="274320"/>
            <a:ext cx="0" cy="6035040"/>
          </a:xfrm>
          <a:prstGeom prst="line">
            <a:avLst/>
          </a:prstGeom>
          <a:noFill/>
          <a:ln w="4445">
            <a:solidFill>
              <a:srgbClr val="12304A">
                <a:alpha val="7200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9" name="Shape 7"/>
          <p:cNvSpPr/>
          <p:nvPr/>
        </p:nvSpPr>
        <p:spPr>
          <a:xfrm>
            <a:off x="3931920" y="274320"/>
            <a:ext cx="0" cy="6035040"/>
          </a:xfrm>
          <a:prstGeom prst="line">
            <a:avLst/>
          </a:prstGeom>
          <a:noFill/>
          <a:ln w="4445">
            <a:solidFill>
              <a:srgbClr val="12304A">
                <a:alpha val="7200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0" name="Shape 8"/>
          <p:cNvSpPr/>
          <p:nvPr/>
        </p:nvSpPr>
        <p:spPr>
          <a:xfrm>
            <a:off x="4434840" y="274320"/>
            <a:ext cx="0" cy="6035040"/>
          </a:xfrm>
          <a:prstGeom prst="line">
            <a:avLst/>
          </a:prstGeom>
          <a:noFill/>
          <a:ln w="4445">
            <a:solidFill>
              <a:srgbClr val="12304A">
                <a:alpha val="7200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1" name="Shape 9"/>
          <p:cNvSpPr/>
          <p:nvPr/>
        </p:nvSpPr>
        <p:spPr>
          <a:xfrm>
            <a:off x="4937760" y="274320"/>
            <a:ext cx="0" cy="6035040"/>
          </a:xfrm>
          <a:prstGeom prst="line">
            <a:avLst/>
          </a:prstGeom>
          <a:noFill/>
          <a:ln w="4445">
            <a:solidFill>
              <a:srgbClr val="12304A">
                <a:alpha val="7200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2" name="Shape 10"/>
          <p:cNvSpPr/>
          <p:nvPr/>
        </p:nvSpPr>
        <p:spPr>
          <a:xfrm>
            <a:off x="5440680" y="274320"/>
            <a:ext cx="0" cy="6035040"/>
          </a:xfrm>
          <a:prstGeom prst="line">
            <a:avLst/>
          </a:prstGeom>
          <a:noFill/>
          <a:ln w="4445">
            <a:solidFill>
              <a:srgbClr val="12304A">
                <a:alpha val="7200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3" name="Shape 11"/>
          <p:cNvSpPr/>
          <p:nvPr/>
        </p:nvSpPr>
        <p:spPr>
          <a:xfrm>
            <a:off x="5943600" y="274320"/>
            <a:ext cx="0" cy="6035040"/>
          </a:xfrm>
          <a:prstGeom prst="line">
            <a:avLst/>
          </a:prstGeom>
          <a:noFill/>
          <a:ln w="4445">
            <a:solidFill>
              <a:srgbClr val="12304A">
                <a:alpha val="7200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4" name="Shape 12"/>
          <p:cNvSpPr/>
          <p:nvPr/>
        </p:nvSpPr>
        <p:spPr>
          <a:xfrm>
            <a:off x="6446520" y="274320"/>
            <a:ext cx="0" cy="6035040"/>
          </a:xfrm>
          <a:prstGeom prst="line">
            <a:avLst/>
          </a:prstGeom>
          <a:noFill/>
          <a:ln w="4445">
            <a:solidFill>
              <a:srgbClr val="12304A">
                <a:alpha val="7200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5" name="Shape 13"/>
          <p:cNvSpPr/>
          <p:nvPr/>
        </p:nvSpPr>
        <p:spPr>
          <a:xfrm>
            <a:off x="6949440" y="274320"/>
            <a:ext cx="0" cy="6035040"/>
          </a:xfrm>
          <a:prstGeom prst="line">
            <a:avLst/>
          </a:prstGeom>
          <a:noFill/>
          <a:ln w="4445">
            <a:solidFill>
              <a:srgbClr val="12304A">
                <a:alpha val="7200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6" name="Shape 14"/>
          <p:cNvSpPr/>
          <p:nvPr/>
        </p:nvSpPr>
        <p:spPr>
          <a:xfrm>
            <a:off x="7452360" y="274320"/>
            <a:ext cx="0" cy="6035040"/>
          </a:xfrm>
          <a:prstGeom prst="line">
            <a:avLst/>
          </a:prstGeom>
          <a:noFill/>
          <a:ln w="4445">
            <a:solidFill>
              <a:srgbClr val="12304A">
                <a:alpha val="7200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7" name="Shape 15"/>
          <p:cNvSpPr/>
          <p:nvPr/>
        </p:nvSpPr>
        <p:spPr>
          <a:xfrm>
            <a:off x="7955280" y="274320"/>
            <a:ext cx="0" cy="6035040"/>
          </a:xfrm>
          <a:prstGeom prst="line">
            <a:avLst/>
          </a:prstGeom>
          <a:noFill/>
          <a:ln w="4445">
            <a:solidFill>
              <a:srgbClr val="12304A">
                <a:alpha val="7200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8" name="Shape 16"/>
          <p:cNvSpPr/>
          <p:nvPr/>
        </p:nvSpPr>
        <p:spPr>
          <a:xfrm>
            <a:off x="8458200" y="274320"/>
            <a:ext cx="0" cy="6035040"/>
          </a:xfrm>
          <a:prstGeom prst="line">
            <a:avLst/>
          </a:prstGeom>
          <a:noFill/>
          <a:ln w="4445">
            <a:solidFill>
              <a:srgbClr val="12304A">
                <a:alpha val="7200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9" name="Shape 17"/>
          <p:cNvSpPr/>
          <p:nvPr/>
        </p:nvSpPr>
        <p:spPr>
          <a:xfrm>
            <a:off x="8961120" y="274320"/>
            <a:ext cx="0" cy="6035040"/>
          </a:xfrm>
          <a:prstGeom prst="line">
            <a:avLst/>
          </a:prstGeom>
          <a:noFill/>
          <a:ln w="4445">
            <a:solidFill>
              <a:srgbClr val="12304A">
                <a:alpha val="7200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0" name="Shape 18"/>
          <p:cNvSpPr/>
          <p:nvPr/>
        </p:nvSpPr>
        <p:spPr>
          <a:xfrm>
            <a:off x="9464040" y="274320"/>
            <a:ext cx="0" cy="6035040"/>
          </a:xfrm>
          <a:prstGeom prst="line">
            <a:avLst/>
          </a:prstGeom>
          <a:noFill/>
          <a:ln w="4445">
            <a:solidFill>
              <a:srgbClr val="12304A">
                <a:alpha val="7200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1" name="Shape 19"/>
          <p:cNvSpPr/>
          <p:nvPr/>
        </p:nvSpPr>
        <p:spPr>
          <a:xfrm>
            <a:off x="9966960" y="274320"/>
            <a:ext cx="0" cy="6035040"/>
          </a:xfrm>
          <a:prstGeom prst="line">
            <a:avLst/>
          </a:prstGeom>
          <a:noFill/>
          <a:ln w="4445">
            <a:solidFill>
              <a:srgbClr val="12304A">
                <a:alpha val="7200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2" name="Shape 20"/>
          <p:cNvSpPr/>
          <p:nvPr/>
        </p:nvSpPr>
        <p:spPr>
          <a:xfrm>
            <a:off x="10469880" y="274320"/>
            <a:ext cx="0" cy="6035040"/>
          </a:xfrm>
          <a:prstGeom prst="line">
            <a:avLst/>
          </a:prstGeom>
          <a:noFill/>
          <a:ln w="4445">
            <a:solidFill>
              <a:srgbClr val="12304A">
                <a:alpha val="7200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3" name="Shape 21"/>
          <p:cNvSpPr/>
          <p:nvPr/>
        </p:nvSpPr>
        <p:spPr>
          <a:xfrm>
            <a:off x="10972800" y="274320"/>
            <a:ext cx="0" cy="6035040"/>
          </a:xfrm>
          <a:prstGeom prst="line">
            <a:avLst/>
          </a:prstGeom>
          <a:noFill/>
          <a:ln w="4445">
            <a:solidFill>
              <a:srgbClr val="12304A">
                <a:alpha val="7200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4" name="Shape 22"/>
          <p:cNvSpPr/>
          <p:nvPr/>
        </p:nvSpPr>
        <p:spPr>
          <a:xfrm>
            <a:off x="11475720" y="274320"/>
            <a:ext cx="0" cy="6035040"/>
          </a:xfrm>
          <a:prstGeom prst="line">
            <a:avLst/>
          </a:prstGeom>
          <a:noFill/>
          <a:ln w="4445">
            <a:solidFill>
              <a:srgbClr val="12304A">
                <a:alpha val="7200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5" name="Shape 23"/>
          <p:cNvSpPr/>
          <p:nvPr/>
        </p:nvSpPr>
        <p:spPr>
          <a:xfrm>
            <a:off x="320040" y="365760"/>
            <a:ext cx="11521440" cy="0"/>
          </a:xfrm>
          <a:prstGeom prst="line">
            <a:avLst/>
          </a:prstGeom>
          <a:noFill/>
          <a:ln w="4445">
            <a:solidFill>
              <a:srgbClr val="12304A">
                <a:alpha val="7200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6" name="Shape 24"/>
          <p:cNvSpPr/>
          <p:nvPr/>
        </p:nvSpPr>
        <p:spPr>
          <a:xfrm>
            <a:off x="320040" y="822960"/>
            <a:ext cx="11521440" cy="0"/>
          </a:xfrm>
          <a:prstGeom prst="line">
            <a:avLst/>
          </a:prstGeom>
          <a:noFill/>
          <a:ln w="4445">
            <a:solidFill>
              <a:srgbClr val="12304A">
                <a:alpha val="7200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7" name="Shape 25"/>
          <p:cNvSpPr/>
          <p:nvPr/>
        </p:nvSpPr>
        <p:spPr>
          <a:xfrm>
            <a:off x="320040" y="1280160"/>
            <a:ext cx="11521440" cy="0"/>
          </a:xfrm>
          <a:prstGeom prst="line">
            <a:avLst/>
          </a:prstGeom>
          <a:noFill/>
          <a:ln w="4445">
            <a:solidFill>
              <a:srgbClr val="12304A">
                <a:alpha val="7200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8" name="Shape 26"/>
          <p:cNvSpPr/>
          <p:nvPr/>
        </p:nvSpPr>
        <p:spPr>
          <a:xfrm>
            <a:off x="320040" y="1737360"/>
            <a:ext cx="11521440" cy="0"/>
          </a:xfrm>
          <a:prstGeom prst="line">
            <a:avLst/>
          </a:prstGeom>
          <a:noFill/>
          <a:ln w="4445">
            <a:solidFill>
              <a:srgbClr val="12304A">
                <a:alpha val="7200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9" name="Shape 27"/>
          <p:cNvSpPr/>
          <p:nvPr/>
        </p:nvSpPr>
        <p:spPr>
          <a:xfrm>
            <a:off x="320040" y="2194560"/>
            <a:ext cx="11521440" cy="0"/>
          </a:xfrm>
          <a:prstGeom prst="line">
            <a:avLst/>
          </a:prstGeom>
          <a:noFill/>
          <a:ln w="4445">
            <a:solidFill>
              <a:srgbClr val="12304A">
                <a:alpha val="7200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0" name="Shape 28"/>
          <p:cNvSpPr/>
          <p:nvPr/>
        </p:nvSpPr>
        <p:spPr>
          <a:xfrm>
            <a:off x="320040" y="2651760"/>
            <a:ext cx="11521440" cy="0"/>
          </a:xfrm>
          <a:prstGeom prst="line">
            <a:avLst/>
          </a:prstGeom>
          <a:noFill/>
          <a:ln w="4445">
            <a:solidFill>
              <a:srgbClr val="12304A">
                <a:alpha val="7200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1" name="Shape 29"/>
          <p:cNvSpPr/>
          <p:nvPr/>
        </p:nvSpPr>
        <p:spPr>
          <a:xfrm>
            <a:off x="320040" y="3108960"/>
            <a:ext cx="11521440" cy="0"/>
          </a:xfrm>
          <a:prstGeom prst="line">
            <a:avLst/>
          </a:prstGeom>
          <a:noFill/>
          <a:ln w="4445">
            <a:solidFill>
              <a:srgbClr val="12304A">
                <a:alpha val="7200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2" name="Shape 30"/>
          <p:cNvSpPr/>
          <p:nvPr/>
        </p:nvSpPr>
        <p:spPr>
          <a:xfrm>
            <a:off x="320040" y="3566160"/>
            <a:ext cx="11521440" cy="0"/>
          </a:xfrm>
          <a:prstGeom prst="line">
            <a:avLst/>
          </a:prstGeom>
          <a:noFill/>
          <a:ln w="4445">
            <a:solidFill>
              <a:srgbClr val="12304A">
                <a:alpha val="7200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3" name="Shape 31"/>
          <p:cNvSpPr/>
          <p:nvPr/>
        </p:nvSpPr>
        <p:spPr>
          <a:xfrm>
            <a:off x="320040" y="4023360"/>
            <a:ext cx="11521440" cy="0"/>
          </a:xfrm>
          <a:prstGeom prst="line">
            <a:avLst/>
          </a:prstGeom>
          <a:noFill/>
          <a:ln w="4445">
            <a:solidFill>
              <a:srgbClr val="12304A">
                <a:alpha val="7200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4" name="Shape 32"/>
          <p:cNvSpPr/>
          <p:nvPr/>
        </p:nvSpPr>
        <p:spPr>
          <a:xfrm>
            <a:off x="320040" y="4480560"/>
            <a:ext cx="11521440" cy="0"/>
          </a:xfrm>
          <a:prstGeom prst="line">
            <a:avLst/>
          </a:prstGeom>
          <a:noFill/>
          <a:ln w="4445">
            <a:solidFill>
              <a:srgbClr val="12304A">
                <a:alpha val="7200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5" name="Shape 33"/>
          <p:cNvSpPr/>
          <p:nvPr/>
        </p:nvSpPr>
        <p:spPr>
          <a:xfrm>
            <a:off x="320040" y="4937760"/>
            <a:ext cx="11521440" cy="0"/>
          </a:xfrm>
          <a:prstGeom prst="line">
            <a:avLst/>
          </a:prstGeom>
          <a:noFill/>
          <a:ln w="4445">
            <a:solidFill>
              <a:srgbClr val="12304A">
                <a:alpha val="7200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6" name="Shape 34"/>
          <p:cNvSpPr/>
          <p:nvPr/>
        </p:nvSpPr>
        <p:spPr>
          <a:xfrm>
            <a:off x="320040" y="5394960"/>
            <a:ext cx="11521440" cy="0"/>
          </a:xfrm>
          <a:prstGeom prst="line">
            <a:avLst/>
          </a:prstGeom>
          <a:noFill/>
          <a:ln w="4445">
            <a:solidFill>
              <a:srgbClr val="12304A">
                <a:alpha val="7200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7" name="Shape 35"/>
          <p:cNvSpPr/>
          <p:nvPr/>
        </p:nvSpPr>
        <p:spPr>
          <a:xfrm>
            <a:off x="320040" y="5852160"/>
            <a:ext cx="11521440" cy="0"/>
          </a:xfrm>
          <a:prstGeom prst="line">
            <a:avLst/>
          </a:prstGeom>
          <a:noFill/>
          <a:ln w="4445">
            <a:solidFill>
              <a:srgbClr val="12304A">
                <a:alpha val="7200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8" name="Shape 36"/>
          <p:cNvSpPr/>
          <p:nvPr/>
        </p:nvSpPr>
        <p:spPr>
          <a:xfrm>
            <a:off x="320040" y="6309360"/>
            <a:ext cx="11521440" cy="0"/>
          </a:xfrm>
          <a:prstGeom prst="line">
            <a:avLst/>
          </a:prstGeom>
          <a:noFill/>
          <a:ln w="4445">
            <a:solidFill>
              <a:srgbClr val="12304A">
                <a:alpha val="7200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9" name="Text 37"/>
          <p:cNvSpPr/>
          <p:nvPr/>
        </p:nvSpPr>
        <p:spPr>
          <a:xfrm>
            <a:off x="502920" y="38404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20" dirty="0">
                <a:solidFill>
                  <a:srgbClr val="27D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CONSISTENCIA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502920" y="694944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F5F9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Concurrencia e idempotencia</a:t>
            </a:r>
            <a:endParaRPr lang="en-US" sz="2700" dirty="0"/>
          </a:p>
        </p:txBody>
      </p:sp>
      <p:sp>
        <p:nvSpPr>
          <p:cNvPr id="41" name="Text 39"/>
          <p:cNvSpPr/>
          <p:nvPr/>
        </p:nvSpPr>
        <p:spPr>
          <a:xfrm>
            <a:off x="521208" y="1243584"/>
            <a:ext cx="10424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80" dirty="0">
                <a:solidFill>
                  <a:srgbClr val="9AB2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prueba clave: 10 operaciones simultáneas no pueden gastar dos veces el mismo saldo.</a:t>
            </a:r>
            <a:endParaRPr lang="en-US" sz="1280" dirty="0"/>
          </a:p>
        </p:txBody>
      </p:sp>
      <p:sp>
        <p:nvSpPr>
          <p:cNvPr id="42" name="Text 40"/>
          <p:cNvSpPr/>
          <p:nvPr/>
        </p:nvSpPr>
        <p:spPr>
          <a:xfrm>
            <a:off x="640080" y="17556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F9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solicitudes concurrentes × $20</a:t>
            </a:r>
            <a:endParaRPr lang="en-US" sz="1500" dirty="0"/>
          </a:p>
        </p:txBody>
      </p:sp>
      <p:sp>
        <p:nvSpPr>
          <p:cNvPr id="43" name="Shape 41"/>
          <p:cNvSpPr/>
          <p:nvPr/>
        </p:nvSpPr>
        <p:spPr>
          <a:xfrm>
            <a:off x="658368" y="2212848"/>
            <a:ext cx="804672" cy="512064"/>
          </a:xfrm>
          <a:prstGeom prst="roundRect">
            <a:avLst>
              <a:gd name="adj" fmla="val 10714"/>
            </a:avLst>
          </a:prstGeom>
          <a:solidFill>
            <a:srgbClr val="31D49B">
              <a:alpha val="18000"/>
            </a:srgbClr>
          </a:solidFill>
          <a:ln w="12700">
            <a:solidFill>
              <a:srgbClr val="31D49B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4" name="Text 42"/>
          <p:cNvSpPr/>
          <p:nvPr/>
        </p:nvSpPr>
        <p:spPr>
          <a:xfrm>
            <a:off x="731520" y="2377440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31D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OK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1609344" y="2212848"/>
            <a:ext cx="804672" cy="512064"/>
          </a:xfrm>
          <a:prstGeom prst="roundRect">
            <a:avLst>
              <a:gd name="adj" fmla="val 10714"/>
            </a:avLst>
          </a:prstGeom>
          <a:solidFill>
            <a:srgbClr val="31D49B">
              <a:alpha val="18000"/>
            </a:srgbClr>
          </a:solidFill>
          <a:ln w="12700">
            <a:solidFill>
              <a:srgbClr val="31D49B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6" name="Text 44"/>
          <p:cNvSpPr/>
          <p:nvPr/>
        </p:nvSpPr>
        <p:spPr>
          <a:xfrm>
            <a:off x="1682496" y="2377440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31D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OK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2560320" y="2212848"/>
            <a:ext cx="804672" cy="512064"/>
          </a:xfrm>
          <a:prstGeom prst="roundRect">
            <a:avLst>
              <a:gd name="adj" fmla="val 10714"/>
            </a:avLst>
          </a:prstGeom>
          <a:solidFill>
            <a:srgbClr val="31D49B">
              <a:alpha val="18000"/>
            </a:srgbClr>
          </a:solidFill>
          <a:ln w="12700">
            <a:solidFill>
              <a:srgbClr val="31D49B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8" name="Text 46"/>
          <p:cNvSpPr/>
          <p:nvPr/>
        </p:nvSpPr>
        <p:spPr>
          <a:xfrm>
            <a:off x="2633472" y="2377440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31D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OK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3511296" y="2212848"/>
            <a:ext cx="804672" cy="512064"/>
          </a:xfrm>
          <a:prstGeom prst="roundRect">
            <a:avLst>
              <a:gd name="adj" fmla="val 10714"/>
            </a:avLst>
          </a:prstGeom>
          <a:solidFill>
            <a:srgbClr val="31D49B">
              <a:alpha val="18000"/>
            </a:srgbClr>
          </a:solidFill>
          <a:ln w="12700">
            <a:solidFill>
              <a:srgbClr val="31D49B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50" name="Text 48"/>
          <p:cNvSpPr/>
          <p:nvPr/>
        </p:nvSpPr>
        <p:spPr>
          <a:xfrm>
            <a:off x="3584448" y="2377440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31D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OK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4462272" y="2212848"/>
            <a:ext cx="804672" cy="512064"/>
          </a:xfrm>
          <a:prstGeom prst="roundRect">
            <a:avLst>
              <a:gd name="adj" fmla="val 10714"/>
            </a:avLst>
          </a:prstGeom>
          <a:solidFill>
            <a:srgbClr val="31D49B">
              <a:alpha val="18000"/>
            </a:srgbClr>
          </a:solidFill>
          <a:ln w="12700">
            <a:solidFill>
              <a:srgbClr val="31D49B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52" name="Text 50"/>
          <p:cNvSpPr/>
          <p:nvPr/>
        </p:nvSpPr>
        <p:spPr>
          <a:xfrm>
            <a:off x="4535424" y="2377440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31D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OK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658368" y="2926080"/>
            <a:ext cx="804672" cy="512064"/>
          </a:xfrm>
          <a:prstGeom prst="roundRect">
            <a:avLst>
              <a:gd name="adj" fmla="val 10714"/>
            </a:avLst>
          </a:prstGeom>
          <a:solidFill>
            <a:srgbClr val="FF5F6D">
              <a:alpha val="18000"/>
            </a:srgbClr>
          </a:solidFill>
          <a:ln w="12700">
            <a:solidFill>
              <a:srgbClr val="FF5F6D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54" name="Text 52"/>
          <p:cNvSpPr/>
          <p:nvPr/>
        </p:nvSpPr>
        <p:spPr>
          <a:xfrm>
            <a:off x="731520" y="3090672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5F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409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1609344" y="2926080"/>
            <a:ext cx="804672" cy="512064"/>
          </a:xfrm>
          <a:prstGeom prst="roundRect">
            <a:avLst>
              <a:gd name="adj" fmla="val 10714"/>
            </a:avLst>
          </a:prstGeom>
          <a:solidFill>
            <a:srgbClr val="FF5F6D">
              <a:alpha val="18000"/>
            </a:srgbClr>
          </a:solidFill>
          <a:ln w="12700">
            <a:solidFill>
              <a:srgbClr val="FF5F6D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56" name="Text 54"/>
          <p:cNvSpPr/>
          <p:nvPr/>
        </p:nvSpPr>
        <p:spPr>
          <a:xfrm>
            <a:off x="1682496" y="3090672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5F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409</a:t>
            </a:r>
            <a:endParaRPr lang="en-US" sz="1050" dirty="0"/>
          </a:p>
        </p:txBody>
      </p:sp>
      <p:sp>
        <p:nvSpPr>
          <p:cNvPr id="57" name="Shape 55"/>
          <p:cNvSpPr/>
          <p:nvPr/>
        </p:nvSpPr>
        <p:spPr>
          <a:xfrm>
            <a:off x="2560320" y="2926080"/>
            <a:ext cx="804672" cy="512064"/>
          </a:xfrm>
          <a:prstGeom prst="roundRect">
            <a:avLst>
              <a:gd name="adj" fmla="val 10714"/>
            </a:avLst>
          </a:prstGeom>
          <a:solidFill>
            <a:srgbClr val="FF5F6D">
              <a:alpha val="18000"/>
            </a:srgbClr>
          </a:solidFill>
          <a:ln w="12700">
            <a:solidFill>
              <a:srgbClr val="FF5F6D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58" name="Text 56"/>
          <p:cNvSpPr/>
          <p:nvPr/>
        </p:nvSpPr>
        <p:spPr>
          <a:xfrm>
            <a:off x="2633472" y="3090672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5F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409</a:t>
            </a:r>
            <a:endParaRPr lang="en-US" sz="1050" dirty="0"/>
          </a:p>
        </p:txBody>
      </p:sp>
      <p:sp>
        <p:nvSpPr>
          <p:cNvPr id="59" name="Shape 57"/>
          <p:cNvSpPr/>
          <p:nvPr/>
        </p:nvSpPr>
        <p:spPr>
          <a:xfrm>
            <a:off x="3511296" y="2926080"/>
            <a:ext cx="804672" cy="512064"/>
          </a:xfrm>
          <a:prstGeom prst="roundRect">
            <a:avLst>
              <a:gd name="adj" fmla="val 10714"/>
            </a:avLst>
          </a:prstGeom>
          <a:solidFill>
            <a:srgbClr val="FF5F6D">
              <a:alpha val="18000"/>
            </a:srgbClr>
          </a:solidFill>
          <a:ln w="12700">
            <a:solidFill>
              <a:srgbClr val="FF5F6D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60" name="Text 58"/>
          <p:cNvSpPr/>
          <p:nvPr/>
        </p:nvSpPr>
        <p:spPr>
          <a:xfrm>
            <a:off x="3584448" y="3090672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5F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409</a:t>
            </a:r>
            <a:endParaRPr lang="en-US" sz="1050" dirty="0"/>
          </a:p>
        </p:txBody>
      </p:sp>
      <p:sp>
        <p:nvSpPr>
          <p:cNvPr id="61" name="Shape 59"/>
          <p:cNvSpPr/>
          <p:nvPr/>
        </p:nvSpPr>
        <p:spPr>
          <a:xfrm>
            <a:off x="4462272" y="2926080"/>
            <a:ext cx="804672" cy="512064"/>
          </a:xfrm>
          <a:prstGeom prst="roundRect">
            <a:avLst>
              <a:gd name="adj" fmla="val 10714"/>
            </a:avLst>
          </a:prstGeom>
          <a:solidFill>
            <a:srgbClr val="FF5F6D">
              <a:alpha val="18000"/>
            </a:srgbClr>
          </a:solidFill>
          <a:ln w="12700">
            <a:solidFill>
              <a:srgbClr val="FF5F6D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62" name="Text 60"/>
          <p:cNvSpPr/>
          <p:nvPr/>
        </p:nvSpPr>
        <p:spPr>
          <a:xfrm>
            <a:off x="4535424" y="3090672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5F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409</a:t>
            </a:r>
            <a:endParaRPr lang="en-US" sz="1050" dirty="0"/>
          </a:p>
        </p:txBody>
      </p:sp>
      <p:sp>
        <p:nvSpPr>
          <p:cNvPr id="63" name="Text 61"/>
          <p:cNvSpPr/>
          <p:nvPr/>
        </p:nvSpPr>
        <p:spPr>
          <a:xfrm>
            <a:off x="658368" y="382219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b="1" dirty="0">
                <a:solidFill>
                  <a:srgbClr val="27D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 esperado</a:t>
            </a:r>
            <a:endParaRPr lang="en-US" sz="1220" dirty="0"/>
          </a:p>
        </p:txBody>
      </p:sp>
      <p:sp>
        <p:nvSpPr>
          <p:cNvPr id="64" name="Shape 62"/>
          <p:cNvSpPr/>
          <p:nvPr/>
        </p:nvSpPr>
        <p:spPr>
          <a:xfrm>
            <a:off x="658368" y="4133088"/>
            <a:ext cx="2011680" cy="1078992"/>
          </a:xfrm>
          <a:prstGeom prst="roundRect">
            <a:avLst>
              <a:gd name="adj" fmla="val 6780"/>
            </a:avLst>
          </a:prstGeom>
          <a:solidFill>
            <a:srgbClr val="0C1B2D"/>
          </a:solidFill>
          <a:ln w="13970">
            <a:solidFill>
              <a:srgbClr val="1D3B58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65" name="Shape 63"/>
          <p:cNvSpPr/>
          <p:nvPr/>
        </p:nvSpPr>
        <p:spPr>
          <a:xfrm>
            <a:off x="694944" y="4187952"/>
            <a:ext cx="45720" cy="969264"/>
          </a:xfrm>
          <a:prstGeom prst="rect">
            <a:avLst/>
          </a:prstGeom>
          <a:solidFill>
            <a:srgbClr val="31D49B"/>
          </a:solidFill>
          <a:ln w="12700">
            <a:solidFill>
              <a:srgbClr val="31D49B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66" name="Text 64"/>
          <p:cNvSpPr/>
          <p:nvPr/>
        </p:nvSpPr>
        <p:spPr>
          <a:xfrm>
            <a:off x="841248" y="4279392"/>
            <a:ext cx="1719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F5F9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SUCCESS</a:t>
            </a:r>
            <a:endParaRPr lang="en-US" sz="1450" dirty="0"/>
          </a:p>
        </p:txBody>
      </p:sp>
      <p:sp>
        <p:nvSpPr>
          <p:cNvPr id="67" name="Text 65"/>
          <p:cNvSpPr/>
          <p:nvPr/>
        </p:nvSpPr>
        <p:spPr>
          <a:xfrm>
            <a:off x="841248" y="4626864"/>
            <a:ext cx="169164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9AB2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$100 transferidos en total</a:t>
            </a:r>
            <a:endParaRPr lang="en-US" sz="1120" dirty="0"/>
          </a:p>
        </p:txBody>
      </p:sp>
      <p:sp>
        <p:nvSpPr>
          <p:cNvPr id="68" name="Shape 66"/>
          <p:cNvSpPr/>
          <p:nvPr/>
        </p:nvSpPr>
        <p:spPr>
          <a:xfrm>
            <a:off x="2816352" y="4133088"/>
            <a:ext cx="2011680" cy="1078992"/>
          </a:xfrm>
          <a:prstGeom prst="roundRect">
            <a:avLst>
              <a:gd name="adj" fmla="val 6780"/>
            </a:avLst>
          </a:prstGeom>
          <a:solidFill>
            <a:srgbClr val="0C1B2D"/>
          </a:solidFill>
          <a:ln w="13970">
            <a:solidFill>
              <a:srgbClr val="1D3B58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69" name="Shape 67"/>
          <p:cNvSpPr/>
          <p:nvPr/>
        </p:nvSpPr>
        <p:spPr>
          <a:xfrm>
            <a:off x="2852928" y="4187952"/>
            <a:ext cx="45720" cy="969264"/>
          </a:xfrm>
          <a:prstGeom prst="rect">
            <a:avLst/>
          </a:prstGeom>
          <a:solidFill>
            <a:srgbClr val="FF5F6D"/>
          </a:solidFill>
          <a:ln w="12700">
            <a:solidFill>
              <a:srgbClr val="FF5F6D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70" name="Text 68"/>
          <p:cNvSpPr/>
          <p:nvPr/>
        </p:nvSpPr>
        <p:spPr>
          <a:xfrm>
            <a:off x="2999232" y="4279392"/>
            <a:ext cx="1719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F5F9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REJECTED</a:t>
            </a:r>
            <a:endParaRPr lang="en-US" sz="1450" dirty="0"/>
          </a:p>
        </p:txBody>
      </p:sp>
      <p:sp>
        <p:nvSpPr>
          <p:cNvPr id="71" name="Text 69"/>
          <p:cNvSpPr/>
          <p:nvPr/>
        </p:nvSpPr>
        <p:spPr>
          <a:xfrm>
            <a:off x="2999232" y="4626864"/>
            <a:ext cx="169164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9AB2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Saldo insuficiente</a:t>
            </a:r>
            <a:endParaRPr lang="en-US" sz="1120" dirty="0"/>
          </a:p>
        </p:txBody>
      </p:sp>
      <p:sp>
        <p:nvSpPr>
          <p:cNvPr id="72" name="Shape 70"/>
          <p:cNvSpPr/>
          <p:nvPr/>
        </p:nvSpPr>
        <p:spPr>
          <a:xfrm>
            <a:off x="5532120" y="1874520"/>
            <a:ext cx="2651760" cy="3310128"/>
          </a:xfrm>
          <a:prstGeom prst="roundRect">
            <a:avLst>
              <a:gd name="adj" fmla="val 2759"/>
            </a:avLst>
          </a:prstGeom>
          <a:solidFill>
            <a:srgbClr val="10263C"/>
          </a:solidFill>
          <a:ln w="12700">
            <a:solidFill>
              <a:srgbClr val="1D3B58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73" name="Text 71"/>
          <p:cNvSpPr/>
          <p:nvPr/>
        </p:nvSpPr>
        <p:spPr>
          <a:xfrm>
            <a:off x="5742432" y="2084832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AB2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Cuenta origen</a:t>
            </a:r>
            <a:endParaRPr lang="en-US" sz="1200" dirty="0"/>
          </a:p>
        </p:txBody>
      </p:sp>
      <p:sp>
        <p:nvSpPr>
          <p:cNvPr id="74" name="Text 72"/>
          <p:cNvSpPr/>
          <p:nvPr/>
        </p:nvSpPr>
        <p:spPr>
          <a:xfrm>
            <a:off x="5760720" y="2487168"/>
            <a:ext cx="2194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5F9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$100</a:t>
            </a:r>
            <a:endParaRPr lang="en-US" sz="3000" dirty="0"/>
          </a:p>
        </p:txBody>
      </p:sp>
      <p:sp>
        <p:nvSpPr>
          <p:cNvPr id="75" name="Shape 73"/>
          <p:cNvSpPr/>
          <p:nvPr/>
        </p:nvSpPr>
        <p:spPr>
          <a:xfrm>
            <a:off x="6858000" y="3182112"/>
            <a:ext cx="0" cy="621792"/>
          </a:xfrm>
          <a:prstGeom prst="line">
            <a:avLst/>
          </a:prstGeom>
          <a:noFill/>
          <a:ln w="30480">
            <a:solidFill>
              <a:srgbClr val="27D3F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EC"/>
          </a:p>
        </p:txBody>
      </p:sp>
      <p:sp>
        <p:nvSpPr>
          <p:cNvPr id="76" name="Text 74"/>
          <p:cNvSpPr/>
          <p:nvPr/>
        </p:nvSpPr>
        <p:spPr>
          <a:xfrm>
            <a:off x="5760720" y="3986784"/>
            <a:ext cx="2194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31D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</a:t>
            </a:r>
            <a:endParaRPr lang="en-US" sz="3000" dirty="0"/>
          </a:p>
        </p:txBody>
      </p:sp>
      <p:sp>
        <p:nvSpPr>
          <p:cNvPr id="77" name="Text 75"/>
          <p:cNvSpPr/>
          <p:nvPr/>
        </p:nvSpPr>
        <p:spPr>
          <a:xfrm>
            <a:off x="5760720" y="4700016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1D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Nunca negativo</a:t>
            </a:r>
            <a:endParaRPr lang="en-US" sz="1100" dirty="0"/>
          </a:p>
        </p:txBody>
      </p:sp>
      <p:sp>
        <p:nvSpPr>
          <p:cNvPr id="78" name="Shape 76"/>
          <p:cNvSpPr/>
          <p:nvPr/>
        </p:nvSpPr>
        <p:spPr>
          <a:xfrm>
            <a:off x="8458200" y="1874520"/>
            <a:ext cx="3017520" cy="914400"/>
          </a:xfrm>
          <a:prstGeom prst="roundRect">
            <a:avLst>
              <a:gd name="adj" fmla="val 8000"/>
            </a:avLst>
          </a:prstGeom>
          <a:solidFill>
            <a:srgbClr val="0C1B2D"/>
          </a:solidFill>
          <a:ln w="13970">
            <a:solidFill>
              <a:srgbClr val="1D3B58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79" name="Shape 77"/>
          <p:cNvSpPr/>
          <p:nvPr/>
        </p:nvSpPr>
        <p:spPr>
          <a:xfrm>
            <a:off x="8494776" y="1929384"/>
            <a:ext cx="45720" cy="804672"/>
          </a:xfrm>
          <a:prstGeom prst="rect">
            <a:avLst/>
          </a:prstGeom>
          <a:solidFill>
            <a:srgbClr val="4B7BFF"/>
          </a:solidFill>
          <a:ln w="12700">
            <a:solidFill>
              <a:srgbClr val="4B7BFF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80" name="Text 78"/>
          <p:cNvSpPr/>
          <p:nvPr/>
        </p:nvSpPr>
        <p:spPr>
          <a:xfrm>
            <a:off x="8641080" y="2020824"/>
            <a:ext cx="2724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F5F9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... FOR UPDATE</a:t>
            </a:r>
            <a:endParaRPr lang="en-US" sz="1450" dirty="0"/>
          </a:p>
        </p:txBody>
      </p:sp>
      <p:sp>
        <p:nvSpPr>
          <p:cNvPr id="81" name="Text 79"/>
          <p:cNvSpPr/>
          <p:nvPr/>
        </p:nvSpPr>
        <p:spPr>
          <a:xfrm>
            <a:off x="8641080" y="2368296"/>
            <a:ext cx="269748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9AB2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Serializa modificaciones sobre las mismas cuentas.</a:t>
            </a:r>
            <a:endParaRPr lang="en-US" sz="1120" dirty="0"/>
          </a:p>
        </p:txBody>
      </p:sp>
      <p:sp>
        <p:nvSpPr>
          <p:cNvPr id="82" name="Shape 80"/>
          <p:cNvSpPr/>
          <p:nvPr/>
        </p:nvSpPr>
        <p:spPr>
          <a:xfrm>
            <a:off x="8458200" y="2971800"/>
            <a:ext cx="3017520" cy="914400"/>
          </a:xfrm>
          <a:prstGeom prst="roundRect">
            <a:avLst>
              <a:gd name="adj" fmla="val 8000"/>
            </a:avLst>
          </a:prstGeom>
          <a:solidFill>
            <a:srgbClr val="0C1B2D"/>
          </a:solidFill>
          <a:ln w="13970">
            <a:solidFill>
              <a:srgbClr val="1D3B58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83" name="Shape 81"/>
          <p:cNvSpPr/>
          <p:nvPr/>
        </p:nvSpPr>
        <p:spPr>
          <a:xfrm>
            <a:off x="8494776" y="3026664"/>
            <a:ext cx="45720" cy="804672"/>
          </a:xfrm>
          <a:prstGeom prst="rect">
            <a:avLst/>
          </a:prstGeom>
          <a:solidFill>
            <a:srgbClr val="27D3FF"/>
          </a:solidFill>
          <a:ln w="12700">
            <a:solidFill>
              <a:srgbClr val="27D3FF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84" name="Text 82"/>
          <p:cNvSpPr/>
          <p:nvPr/>
        </p:nvSpPr>
        <p:spPr>
          <a:xfrm>
            <a:off x="8641080" y="3118104"/>
            <a:ext cx="2724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F5F9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Idempotency-Key</a:t>
            </a:r>
            <a:endParaRPr lang="en-US" sz="1450" dirty="0"/>
          </a:p>
        </p:txBody>
      </p:sp>
      <p:sp>
        <p:nvSpPr>
          <p:cNvPr id="85" name="Text 83"/>
          <p:cNvSpPr/>
          <p:nvPr/>
        </p:nvSpPr>
        <p:spPr>
          <a:xfrm>
            <a:off x="8641080" y="3465576"/>
            <a:ext cx="269748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9AB2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Reintentos del cliente no duplican el débito.</a:t>
            </a:r>
            <a:endParaRPr lang="en-US" sz="1120" dirty="0"/>
          </a:p>
        </p:txBody>
      </p:sp>
      <p:sp>
        <p:nvSpPr>
          <p:cNvPr id="86" name="Shape 84"/>
          <p:cNvSpPr/>
          <p:nvPr/>
        </p:nvSpPr>
        <p:spPr>
          <a:xfrm>
            <a:off x="8458200" y="4069080"/>
            <a:ext cx="3017520" cy="914400"/>
          </a:xfrm>
          <a:prstGeom prst="roundRect">
            <a:avLst>
              <a:gd name="adj" fmla="val 8000"/>
            </a:avLst>
          </a:prstGeom>
          <a:solidFill>
            <a:srgbClr val="0C1B2D"/>
          </a:solidFill>
          <a:ln w="13970">
            <a:solidFill>
              <a:srgbClr val="1D3B58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87" name="Shape 85"/>
          <p:cNvSpPr/>
          <p:nvPr/>
        </p:nvSpPr>
        <p:spPr>
          <a:xfrm>
            <a:off x="8494776" y="4123944"/>
            <a:ext cx="45720" cy="804672"/>
          </a:xfrm>
          <a:prstGeom prst="rect">
            <a:avLst/>
          </a:prstGeom>
          <a:solidFill>
            <a:srgbClr val="8C65FF"/>
          </a:solidFill>
          <a:ln w="12700">
            <a:solidFill>
              <a:srgbClr val="8C65FF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88" name="Text 86"/>
          <p:cNvSpPr/>
          <p:nvPr/>
        </p:nvSpPr>
        <p:spPr>
          <a:xfrm>
            <a:off x="8641080" y="4215384"/>
            <a:ext cx="2724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F5F9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Rollback</a:t>
            </a:r>
            <a:endParaRPr lang="en-US" sz="1450" dirty="0"/>
          </a:p>
        </p:txBody>
      </p:sp>
      <p:sp>
        <p:nvSpPr>
          <p:cNvPr id="89" name="Text 87"/>
          <p:cNvSpPr/>
          <p:nvPr/>
        </p:nvSpPr>
        <p:spPr>
          <a:xfrm>
            <a:off x="8641080" y="4562856"/>
            <a:ext cx="269748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9AB2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Cualquier fallo previo al COMMIT revierte toda la operación.</a:t>
            </a:r>
            <a:endParaRPr lang="en-US" sz="1120" dirty="0"/>
          </a:p>
        </p:txBody>
      </p:sp>
      <p:sp>
        <p:nvSpPr>
          <p:cNvPr id="9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73952"/>
            <a:ext cx="36576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F8CA8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74320"/>
            <a:ext cx="0" cy="6035040"/>
          </a:xfrm>
          <a:prstGeom prst="line">
            <a:avLst/>
          </a:prstGeom>
          <a:noFill/>
          <a:ln w="4445">
            <a:solidFill>
              <a:srgbClr val="12304A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" name="Shape 1"/>
          <p:cNvSpPr/>
          <p:nvPr/>
        </p:nvSpPr>
        <p:spPr>
          <a:xfrm>
            <a:off x="914400" y="274320"/>
            <a:ext cx="0" cy="6035040"/>
          </a:xfrm>
          <a:prstGeom prst="line">
            <a:avLst/>
          </a:prstGeom>
          <a:noFill/>
          <a:ln w="4445">
            <a:solidFill>
              <a:srgbClr val="12304A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" name="Shape 2"/>
          <p:cNvSpPr/>
          <p:nvPr/>
        </p:nvSpPr>
        <p:spPr>
          <a:xfrm>
            <a:off x="1417320" y="274320"/>
            <a:ext cx="0" cy="6035040"/>
          </a:xfrm>
          <a:prstGeom prst="line">
            <a:avLst/>
          </a:prstGeom>
          <a:noFill/>
          <a:ln w="4445">
            <a:solidFill>
              <a:srgbClr val="12304A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5" name="Shape 3"/>
          <p:cNvSpPr/>
          <p:nvPr/>
        </p:nvSpPr>
        <p:spPr>
          <a:xfrm>
            <a:off x="1920240" y="274320"/>
            <a:ext cx="0" cy="6035040"/>
          </a:xfrm>
          <a:prstGeom prst="line">
            <a:avLst/>
          </a:prstGeom>
          <a:noFill/>
          <a:ln w="4445">
            <a:solidFill>
              <a:srgbClr val="12304A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6" name="Shape 4"/>
          <p:cNvSpPr/>
          <p:nvPr/>
        </p:nvSpPr>
        <p:spPr>
          <a:xfrm>
            <a:off x="2423160" y="274320"/>
            <a:ext cx="0" cy="6035040"/>
          </a:xfrm>
          <a:prstGeom prst="line">
            <a:avLst/>
          </a:prstGeom>
          <a:noFill/>
          <a:ln w="4445">
            <a:solidFill>
              <a:srgbClr val="12304A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7" name="Shape 5"/>
          <p:cNvSpPr/>
          <p:nvPr/>
        </p:nvSpPr>
        <p:spPr>
          <a:xfrm>
            <a:off x="2926080" y="274320"/>
            <a:ext cx="0" cy="6035040"/>
          </a:xfrm>
          <a:prstGeom prst="line">
            <a:avLst/>
          </a:prstGeom>
          <a:noFill/>
          <a:ln w="4445">
            <a:solidFill>
              <a:srgbClr val="12304A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8" name="Shape 6"/>
          <p:cNvSpPr/>
          <p:nvPr/>
        </p:nvSpPr>
        <p:spPr>
          <a:xfrm>
            <a:off x="3429000" y="274320"/>
            <a:ext cx="0" cy="6035040"/>
          </a:xfrm>
          <a:prstGeom prst="line">
            <a:avLst/>
          </a:prstGeom>
          <a:noFill/>
          <a:ln w="4445">
            <a:solidFill>
              <a:srgbClr val="12304A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9" name="Shape 7"/>
          <p:cNvSpPr/>
          <p:nvPr/>
        </p:nvSpPr>
        <p:spPr>
          <a:xfrm>
            <a:off x="3931920" y="274320"/>
            <a:ext cx="0" cy="6035040"/>
          </a:xfrm>
          <a:prstGeom prst="line">
            <a:avLst/>
          </a:prstGeom>
          <a:noFill/>
          <a:ln w="4445">
            <a:solidFill>
              <a:srgbClr val="12304A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0" name="Shape 8"/>
          <p:cNvSpPr/>
          <p:nvPr/>
        </p:nvSpPr>
        <p:spPr>
          <a:xfrm>
            <a:off x="4434840" y="274320"/>
            <a:ext cx="0" cy="6035040"/>
          </a:xfrm>
          <a:prstGeom prst="line">
            <a:avLst/>
          </a:prstGeom>
          <a:noFill/>
          <a:ln w="4445">
            <a:solidFill>
              <a:srgbClr val="12304A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1" name="Shape 9"/>
          <p:cNvSpPr/>
          <p:nvPr/>
        </p:nvSpPr>
        <p:spPr>
          <a:xfrm>
            <a:off x="4937760" y="274320"/>
            <a:ext cx="0" cy="6035040"/>
          </a:xfrm>
          <a:prstGeom prst="line">
            <a:avLst/>
          </a:prstGeom>
          <a:noFill/>
          <a:ln w="4445">
            <a:solidFill>
              <a:srgbClr val="12304A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2" name="Shape 10"/>
          <p:cNvSpPr/>
          <p:nvPr/>
        </p:nvSpPr>
        <p:spPr>
          <a:xfrm>
            <a:off x="5440680" y="274320"/>
            <a:ext cx="0" cy="6035040"/>
          </a:xfrm>
          <a:prstGeom prst="line">
            <a:avLst/>
          </a:prstGeom>
          <a:noFill/>
          <a:ln w="4445">
            <a:solidFill>
              <a:srgbClr val="12304A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3" name="Shape 11"/>
          <p:cNvSpPr/>
          <p:nvPr/>
        </p:nvSpPr>
        <p:spPr>
          <a:xfrm>
            <a:off x="5943600" y="274320"/>
            <a:ext cx="0" cy="6035040"/>
          </a:xfrm>
          <a:prstGeom prst="line">
            <a:avLst/>
          </a:prstGeom>
          <a:noFill/>
          <a:ln w="4445">
            <a:solidFill>
              <a:srgbClr val="12304A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4" name="Shape 12"/>
          <p:cNvSpPr/>
          <p:nvPr/>
        </p:nvSpPr>
        <p:spPr>
          <a:xfrm>
            <a:off x="6446520" y="274320"/>
            <a:ext cx="0" cy="6035040"/>
          </a:xfrm>
          <a:prstGeom prst="line">
            <a:avLst/>
          </a:prstGeom>
          <a:noFill/>
          <a:ln w="4445">
            <a:solidFill>
              <a:srgbClr val="12304A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5" name="Shape 13"/>
          <p:cNvSpPr/>
          <p:nvPr/>
        </p:nvSpPr>
        <p:spPr>
          <a:xfrm>
            <a:off x="6949440" y="274320"/>
            <a:ext cx="0" cy="6035040"/>
          </a:xfrm>
          <a:prstGeom prst="line">
            <a:avLst/>
          </a:prstGeom>
          <a:noFill/>
          <a:ln w="4445">
            <a:solidFill>
              <a:srgbClr val="12304A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6" name="Shape 14"/>
          <p:cNvSpPr/>
          <p:nvPr/>
        </p:nvSpPr>
        <p:spPr>
          <a:xfrm>
            <a:off x="7452360" y="274320"/>
            <a:ext cx="0" cy="6035040"/>
          </a:xfrm>
          <a:prstGeom prst="line">
            <a:avLst/>
          </a:prstGeom>
          <a:noFill/>
          <a:ln w="4445">
            <a:solidFill>
              <a:srgbClr val="12304A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7" name="Shape 15"/>
          <p:cNvSpPr/>
          <p:nvPr/>
        </p:nvSpPr>
        <p:spPr>
          <a:xfrm>
            <a:off x="7955280" y="274320"/>
            <a:ext cx="0" cy="6035040"/>
          </a:xfrm>
          <a:prstGeom prst="line">
            <a:avLst/>
          </a:prstGeom>
          <a:noFill/>
          <a:ln w="4445">
            <a:solidFill>
              <a:srgbClr val="12304A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8" name="Shape 16"/>
          <p:cNvSpPr/>
          <p:nvPr/>
        </p:nvSpPr>
        <p:spPr>
          <a:xfrm>
            <a:off x="8458200" y="274320"/>
            <a:ext cx="0" cy="6035040"/>
          </a:xfrm>
          <a:prstGeom prst="line">
            <a:avLst/>
          </a:prstGeom>
          <a:noFill/>
          <a:ln w="4445">
            <a:solidFill>
              <a:srgbClr val="12304A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9" name="Shape 17"/>
          <p:cNvSpPr/>
          <p:nvPr/>
        </p:nvSpPr>
        <p:spPr>
          <a:xfrm>
            <a:off x="8961120" y="274320"/>
            <a:ext cx="0" cy="6035040"/>
          </a:xfrm>
          <a:prstGeom prst="line">
            <a:avLst/>
          </a:prstGeom>
          <a:noFill/>
          <a:ln w="4445">
            <a:solidFill>
              <a:srgbClr val="12304A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0" name="Shape 18"/>
          <p:cNvSpPr/>
          <p:nvPr/>
        </p:nvSpPr>
        <p:spPr>
          <a:xfrm>
            <a:off x="9464040" y="274320"/>
            <a:ext cx="0" cy="6035040"/>
          </a:xfrm>
          <a:prstGeom prst="line">
            <a:avLst/>
          </a:prstGeom>
          <a:noFill/>
          <a:ln w="4445">
            <a:solidFill>
              <a:srgbClr val="12304A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1" name="Shape 19"/>
          <p:cNvSpPr/>
          <p:nvPr/>
        </p:nvSpPr>
        <p:spPr>
          <a:xfrm>
            <a:off x="9966960" y="274320"/>
            <a:ext cx="0" cy="6035040"/>
          </a:xfrm>
          <a:prstGeom prst="line">
            <a:avLst/>
          </a:prstGeom>
          <a:noFill/>
          <a:ln w="4445">
            <a:solidFill>
              <a:srgbClr val="12304A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2" name="Shape 20"/>
          <p:cNvSpPr/>
          <p:nvPr/>
        </p:nvSpPr>
        <p:spPr>
          <a:xfrm>
            <a:off x="10469880" y="274320"/>
            <a:ext cx="0" cy="6035040"/>
          </a:xfrm>
          <a:prstGeom prst="line">
            <a:avLst/>
          </a:prstGeom>
          <a:noFill/>
          <a:ln w="4445">
            <a:solidFill>
              <a:srgbClr val="12304A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3" name="Shape 21"/>
          <p:cNvSpPr/>
          <p:nvPr/>
        </p:nvSpPr>
        <p:spPr>
          <a:xfrm>
            <a:off x="10972800" y="274320"/>
            <a:ext cx="0" cy="6035040"/>
          </a:xfrm>
          <a:prstGeom prst="line">
            <a:avLst/>
          </a:prstGeom>
          <a:noFill/>
          <a:ln w="4445">
            <a:solidFill>
              <a:srgbClr val="12304A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4" name="Shape 22"/>
          <p:cNvSpPr/>
          <p:nvPr/>
        </p:nvSpPr>
        <p:spPr>
          <a:xfrm>
            <a:off x="11475720" y="274320"/>
            <a:ext cx="0" cy="6035040"/>
          </a:xfrm>
          <a:prstGeom prst="line">
            <a:avLst/>
          </a:prstGeom>
          <a:noFill/>
          <a:ln w="4445">
            <a:solidFill>
              <a:srgbClr val="12304A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5" name="Shape 23"/>
          <p:cNvSpPr/>
          <p:nvPr/>
        </p:nvSpPr>
        <p:spPr>
          <a:xfrm>
            <a:off x="320040" y="365760"/>
            <a:ext cx="11521440" cy="0"/>
          </a:xfrm>
          <a:prstGeom prst="line">
            <a:avLst/>
          </a:prstGeom>
          <a:noFill/>
          <a:ln w="4445">
            <a:solidFill>
              <a:srgbClr val="12304A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6" name="Shape 24"/>
          <p:cNvSpPr/>
          <p:nvPr/>
        </p:nvSpPr>
        <p:spPr>
          <a:xfrm>
            <a:off x="320040" y="822960"/>
            <a:ext cx="11521440" cy="0"/>
          </a:xfrm>
          <a:prstGeom prst="line">
            <a:avLst/>
          </a:prstGeom>
          <a:noFill/>
          <a:ln w="4445">
            <a:solidFill>
              <a:srgbClr val="12304A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7" name="Shape 25"/>
          <p:cNvSpPr/>
          <p:nvPr/>
        </p:nvSpPr>
        <p:spPr>
          <a:xfrm>
            <a:off x="320040" y="1280160"/>
            <a:ext cx="11521440" cy="0"/>
          </a:xfrm>
          <a:prstGeom prst="line">
            <a:avLst/>
          </a:prstGeom>
          <a:noFill/>
          <a:ln w="4445">
            <a:solidFill>
              <a:srgbClr val="12304A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8" name="Shape 26"/>
          <p:cNvSpPr/>
          <p:nvPr/>
        </p:nvSpPr>
        <p:spPr>
          <a:xfrm>
            <a:off x="320040" y="1737360"/>
            <a:ext cx="11521440" cy="0"/>
          </a:xfrm>
          <a:prstGeom prst="line">
            <a:avLst/>
          </a:prstGeom>
          <a:noFill/>
          <a:ln w="4445">
            <a:solidFill>
              <a:srgbClr val="12304A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9" name="Shape 27"/>
          <p:cNvSpPr/>
          <p:nvPr/>
        </p:nvSpPr>
        <p:spPr>
          <a:xfrm>
            <a:off x="320040" y="2194560"/>
            <a:ext cx="11521440" cy="0"/>
          </a:xfrm>
          <a:prstGeom prst="line">
            <a:avLst/>
          </a:prstGeom>
          <a:noFill/>
          <a:ln w="4445">
            <a:solidFill>
              <a:srgbClr val="12304A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0" name="Shape 28"/>
          <p:cNvSpPr/>
          <p:nvPr/>
        </p:nvSpPr>
        <p:spPr>
          <a:xfrm>
            <a:off x="320040" y="2651760"/>
            <a:ext cx="11521440" cy="0"/>
          </a:xfrm>
          <a:prstGeom prst="line">
            <a:avLst/>
          </a:prstGeom>
          <a:noFill/>
          <a:ln w="4445">
            <a:solidFill>
              <a:srgbClr val="12304A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1" name="Shape 29"/>
          <p:cNvSpPr/>
          <p:nvPr/>
        </p:nvSpPr>
        <p:spPr>
          <a:xfrm>
            <a:off x="320040" y="3108960"/>
            <a:ext cx="11521440" cy="0"/>
          </a:xfrm>
          <a:prstGeom prst="line">
            <a:avLst/>
          </a:prstGeom>
          <a:noFill/>
          <a:ln w="4445">
            <a:solidFill>
              <a:srgbClr val="12304A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2" name="Shape 30"/>
          <p:cNvSpPr/>
          <p:nvPr/>
        </p:nvSpPr>
        <p:spPr>
          <a:xfrm>
            <a:off x="320040" y="3566160"/>
            <a:ext cx="11521440" cy="0"/>
          </a:xfrm>
          <a:prstGeom prst="line">
            <a:avLst/>
          </a:prstGeom>
          <a:noFill/>
          <a:ln w="4445">
            <a:solidFill>
              <a:srgbClr val="12304A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3" name="Shape 31"/>
          <p:cNvSpPr/>
          <p:nvPr/>
        </p:nvSpPr>
        <p:spPr>
          <a:xfrm>
            <a:off x="320040" y="4023360"/>
            <a:ext cx="11521440" cy="0"/>
          </a:xfrm>
          <a:prstGeom prst="line">
            <a:avLst/>
          </a:prstGeom>
          <a:noFill/>
          <a:ln w="4445">
            <a:solidFill>
              <a:srgbClr val="12304A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4" name="Shape 32"/>
          <p:cNvSpPr/>
          <p:nvPr/>
        </p:nvSpPr>
        <p:spPr>
          <a:xfrm>
            <a:off x="320040" y="4480560"/>
            <a:ext cx="11521440" cy="0"/>
          </a:xfrm>
          <a:prstGeom prst="line">
            <a:avLst/>
          </a:prstGeom>
          <a:noFill/>
          <a:ln w="4445">
            <a:solidFill>
              <a:srgbClr val="12304A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5" name="Shape 33"/>
          <p:cNvSpPr/>
          <p:nvPr/>
        </p:nvSpPr>
        <p:spPr>
          <a:xfrm>
            <a:off x="320040" y="4937760"/>
            <a:ext cx="11521440" cy="0"/>
          </a:xfrm>
          <a:prstGeom prst="line">
            <a:avLst/>
          </a:prstGeom>
          <a:noFill/>
          <a:ln w="4445">
            <a:solidFill>
              <a:srgbClr val="12304A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6" name="Shape 34"/>
          <p:cNvSpPr/>
          <p:nvPr/>
        </p:nvSpPr>
        <p:spPr>
          <a:xfrm>
            <a:off x="320040" y="5394960"/>
            <a:ext cx="11521440" cy="0"/>
          </a:xfrm>
          <a:prstGeom prst="line">
            <a:avLst/>
          </a:prstGeom>
          <a:noFill/>
          <a:ln w="4445">
            <a:solidFill>
              <a:srgbClr val="12304A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7" name="Shape 35"/>
          <p:cNvSpPr/>
          <p:nvPr/>
        </p:nvSpPr>
        <p:spPr>
          <a:xfrm>
            <a:off x="320040" y="5852160"/>
            <a:ext cx="11521440" cy="0"/>
          </a:xfrm>
          <a:prstGeom prst="line">
            <a:avLst/>
          </a:prstGeom>
          <a:noFill/>
          <a:ln w="4445">
            <a:solidFill>
              <a:srgbClr val="12304A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8" name="Shape 36"/>
          <p:cNvSpPr/>
          <p:nvPr/>
        </p:nvSpPr>
        <p:spPr>
          <a:xfrm>
            <a:off x="320040" y="6309360"/>
            <a:ext cx="11521440" cy="0"/>
          </a:xfrm>
          <a:prstGeom prst="line">
            <a:avLst/>
          </a:prstGeom>
          <a:noFill/>
          <a:ln w="4445">
            <a:solidFill>
              <a:srgbClr val="12304A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9" name="Text 37"/>
          <p:cNvSpPr/>
          <p:nvPr/>
        </p:nvSpPr>
        <p:spPr>
          <a:xfrm>
            <a:off x="502920" y="38404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20" dirty="0">
                <a:solidFill>
                  <a:srgbClr val="27D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 ASYNC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502920" y="694944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F5F9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Bancs + IA sin bloquear la transferencia</a:t>
            </a:r>
            <a:endParaRPr lang="en-US" sz="2700" dirty="0"/>
          </a:p>
        </p:txBody>
      </p:sp>
      <p:sp>
        <p:nvSpPr>
          <p:cNvPr id="41" name="Text 39"/>
          <p:cNvSpPr/>
          <p:nvPr/>
        </p:nvSpPr>
        <p:spPr>
          <a:xfrm>
            <a:off x="521208" y="1243584"/>
            <a:ext cx="10424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80" dirty="0">
                <a:solidFill>
                  <a:srgbClr val="9AB2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Worker procesa el evento después de que el cliente ya recibió la respuesta.</a:t>
            </a:r>
            <a:endParaRPr lang="en-US" sz="1280" dirty="0"/>
          </a:p>
        </p:txBody>
      </p:sp>
      <p:sp>
        <p:nvSpPr>
          <p:cNvPr id="42" name="Shape 40"/>
          <p:cNvSpPr/>
          <p:nvPr/>
        </p:nvSpPr>
        <p:spPr>
          <a:xfrm>
            <a:off x="713232" y="2231136"/>
            <a:ext cx="1920240" cy="1005840"/>
          </a:xfrm>
          <a:prstGeom prst="roundRect">
            <a:avLst>
              <a:gd name="adj" fmla="val 5455"/>
            </a:avLst>
          </a:prstGeom>
          <a:solidFill>
            <a:srgbClr val="0C1B2D"/>
          </a:solidFill>
          <a:ln w="15240">
            <a:solidFill>
              <a:srgbClr val="31D49B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3" name="Text 41"/>
          <p:cNvSpPr/>
          <p:nvPr/>
        </p:nvSpPr>
        <p:spPr>
          <a:xfrm>
            <a:off x="804672" y="237744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F9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Outbox Event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822960" y="2697480"/>
            <a:ext cx="170078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70" dirty="0">
                <a:solidFill>
                  <a:srgbClr val="9AB2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TRANSACTION_COMPLETED</a:t>
            </a:r>
            <a:endParaRPr lang="en-US" sz="970" dirty="0"/>
          </a:p>
        </p:txBody>
      </p:sp>
      <p:sp>
        <p:nvSpPr>
          <p:cNvPr id="45" name="Shape 43"/>
          <p:cNvSpPr/>
          <p:nvPr/>
        </p:nvSpPr>
        <p:spPr>
          <a:xfrm>
            <a:off x="3200400" y="2231136"/>
            <a:ext cx="1645920" cy="1005840"/>
          </a:xfrm>
          <a:prstGeom prst="roundRect">
            <a:avLst>
              <a:gd name="adj" fmla="val 5455"/>
            </a:avLst>
          </a:prstGeom>
          <a:solidFill>
            <a:srgbClr val="0C1B2D"/>
          </a:solidFill>
          <a:ln w="15240">
            <a:solidFill>
              <a:srgbClr val="31D49B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6" name="Text 44"/>
          <p:cNvSpPr/>
          <p:nvPr/>
        </p:nvSpPr>
        <p:spPr>
          <a:xfrm>
            <a:off x="3291840" y="237744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F9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Worker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3310128" y="2697480"/>
            <a:ext cx="142646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70" dirty="0">
                <a:solidFill>
                  <a:srgbClr val="9AB2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polling controlado</a:t>
            </a:r>
            <a:endParaRPr lang="en-US" sz="970" dirty="0"/>
          </a:p>
        </p:txBody>
      </p:sp>
      <p:sp>
        <p:nvSpPr>
          <p:cNvPr id="48" name="Shape 46"/>
          <p:cNvSpPr/>
          <p:nvPr/>
        </p:nvSpPr>
        <p:spPr>
          <a:xfrm>
            <a:off x="5559552" y="1572768"/>
            <a:ext cx="1874520" cy="1005840"/>
          </a:xfrm>
          <a:prstGeom prst="roundRect">
            <a:avLst>
              <a:gd name="adj" fmla="val 5455"/>
            </a:avLst>
          </a:prstGeom>
          <a:solidFill>
            <a:srgbClr val="0C1B2D"/>
          </a:solidFill>
          <a:ln w="15240">
            <a:solidFill>
              <a:srgbClr val="FFC857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9" name="Text 47"/>
          <p:cNvSpPr/>
          <p:nvPr/>
        </p:nvSpPr>
        <p:spPr>
          <a:xfrm>
            <a:off x="5650992" y="1719072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F9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Mock Bancs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5669280" y="2039112"/>
            <a:ext cx="165506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70" dirty="0">
                <a:solidFill>
                  <a:srgbClr val="9AB2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Legacy synchronization</a:t>
            </a:r>
            <a:endParaRPr lang="en-US" sz="970" dirty="0"/>
          </a:p>
        </p:txBody>
      </p:sp>
      <p:sp>
        <p:nvSpPr>
          <p:cNvPr id="51" name="Shape 49"/>
          <p:cNvSpPr/>
          <p:nvPr/>
        </p:nvSpPr>
        <p:spPr>
          <a:xfrm>
            <a:off x="5559552" y="2999232"/>
            <a:ext cx="1874520" cy="1005840"/>
          </a:xfrm>
          <a:prstGeom prst="roundRect">
            <a:avLst>
              <a:gd name="adj" fmla="val 5455"/>
            </a:avLst>
          </a:prstGeom>
          <a:solidFill>
            <a:srgbClr val="0C1B2D"/>
          </a:solidFill>
          <a:ln w="15240">
            <a:solidFill>
              <a:srgbClr val="8C65FF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52" name="Text 50"/>
          <p:cNvSpPr/>
          <p:nvPr/>
        </p:nvSpPr>
        <p:spPr>
          <a:xfrm>
            <a:off x="5650992" y="3145536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F9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Service</a:t>
            </a:r>
            <a:endParaRPr lang="en-US" sz="1300" dirty="0"/>
          </a:p>
        </p:txBody>
      </p:sp>
      <p:sp>
        <p:nvSpPr>
          <p:cNvPr id="53" name="Text 51"/>
          <p:cNvSpPr/>
          <p:nvPr/>
        </p:nvSpPr>
        <p:spPr>
          <a:xfrm>
            <a:off x="5669280" y="3465576"/>
            <a:ext cx="165506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70" dirty="0">
                <a:solidFill>
                  <a:srgbClr val="9AB2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 / mock-v1</a:t>
            </a:r>
            <a:endParaRPr lang="en-US" sz="970" dirty="0"/>
          </a:p>
        </p:txBody>
      </p:sp>
      <p:sp>
        <p:nvSpPr>
          <p:cNvPr id="54" name="Shape 52"/>
          <p:cNvSpPr/>
          <p:nvPr/>
        </p:nvSpPr>
        <p:spPr>
          <a:xfrm>
            <a:off x="8275320" y="2999232"/>
            <a:ext cx="2240280" cy="1005840"/>
          </a:xfrm>
          <a:prstGeom prst="roundRect">
            <a:avLst>
              <a:gd name="adj" fmla="val 5455"/>
            </a:avLst>
          </a:prstGeom>
          <a:solidFill>
            <a:srgbClr val="0C1B2D"/>
          </a:solidFill>
          <a:ln w="15240">
            <a:solidFill>
              <a:srgbClr val="4B7BFF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55" name="Text 53"/>
          <p:cNvSpPr/>
          <p:nvPr/>
        </p:nvSpPr>
        <p:spPr>
          <a:xfrm>
            <a:off x="8366760" y="3145536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F9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recommendations</a:t>
            </a:r>
            <a:endParaRPr lang="en-US" sz="1300" dirty="0"/>
          </a:p>
        </p:txBody>
      </p:sp>
      <p:sp>
        <p:nvSpPr>
          <p:cNvPr id="56" name="Text 54"/>
          <p:cNvSpPr/>
          <p:nvPr/>
        </p:nvSpPr>
        <p:spPr>
          <a:xfrm>
            <a:off x="8385048" y="3465576"/>
            <a:ext cx="202082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70" dirty="0">
                <a:solidFill>
                  <a:srgbClr val="9AB2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Persistencia en MariaDB</a:t>
            </a:r>
            <a:endParaRPr lang="en-US" sz="970" dirty="0"/>
          </a:p>
        </p:txBody>
      </p:sp>
      <p:sp>
        <p:nvSpPr>
          <p:cNvPr id="57" name="Shape 55"/>
          <p:cNvSpPr/>
          <p:nvPr/>
        </p:nvSpPr>
        <p:spPr>
          <a:xfrm>
            <a:off x="2651760" y="2724912"/>
            <a:ext cx="530352" cy="0"/>
          </a:xfrm>
          <a:prstGeom prst="line">
            <a:avLst/>
          </a:prstGeom>
          <a:noFill/>
          <a:ln w="22860">
            <a:solidFill>
              <a:srgbClr val="31D49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EC"/>
          </a:p>
        </p:txBody>
      </p:sp>
      <p:sp>
        <p:nvSpPr>
          <p:cNvPr id="58" name="Shape 56"/>
          <p:cNvSpPr/>
          <p:nvPr/>
        </p:nvSpPr>
        <p:spPr>
          <a:xfrm>
            <a:off x="4864608" y="2560320"/>
            <a:ext cx="667512" cy="0"/>
          </a:xfrm>
          <a:prstGeom prst="line">
            <a:avLst/>
          </a:prstGeom>
          <a:noFill/>
          <a:ln w="22860">
            <a:solidFill>
              <a:srgbClr val="FFC85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EC"/>
          </a:p>
        </p:txBody>
      </p:sp>
      <p:sp>
        <p:nvSpPr>
          <p:cNvPr id="59" name="Shape 57"/>
          <p:cNvSpPr/>
          <p:nvPr/>
        </p:nvSpPr>
        <p:spPr>
          <a:xfrm>
            <a:off x="4864608" y="2889504"/>
            <a:ext cx="667512" cy="621792"/>
          </a:xfrm>
          <a:prstGeom prst="line">
            <a:avLst/>
          </a:prstGeom>
          <a:noFill/>
          <a:ln w="22860">
            <a:solidFill>
              <a:srgbClr val="8C65F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EC"/>
          </a:p>
        </p:txBody>
      </p:sp>
      <p:sp>
        <p:nvSpPr>
          <p:cNvPr id="60" name="Shape 58"/>
          <p:cNvSpPr/>
          <p:nvPr/>
        </p:nvSpPr>
        <p:spPr>
          <a:xfrm>
            <a:off x="7443216" y="3511296"/>
            <a:ext cx="804672" cy="0"/>
          </a:xfrm>
          <a:prstGeom prst="line">
            <a:avLst/>
          </a:prstGeom>
          <a:noFill/>
          <a:ln w="22860">
            <a:solidFill>
              <a:srgbClr val="4B7BF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EC"/>
          </a:p>
        </p:txBody>
      </p:sp>
      <p:sp>
        <p:nvSpPr>
          <p:cNvPr id="61" name="Shape 59"/>
          <p:cNvSpPr/>
          <p:nvPr/>
        </p:nvSpPr>
        <p:spPr>
          <a:xfrm>
            <a:off x="804672" y="4251960"/>
            <a:ext cx="914400" cy="310896"/>
          </a:xfrm>
          <a:prstGeom prst="roundRect">
            <a:avLst>
              <a:gd name="adj" fmla="val 35294"/>
            </a:avLst>
          </a:prstGeom>
          <a:solidFill>
            <a:srgbClr val="FFC857">
              <a:alpha val="18000"/>
            </a:srgbClr>
          </a:solidFill>
          <a:ln w="10160">
            <a:solidFill>
              <a:srgbClr val="FFC857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62" name="Text 60"/>
          <p:cNvSpPr/>
          <p:nvPr/>
        </p:nvSpPr>
        <p:spPr>
          <a:xfrm>
            <a:off x="859536" y="4311396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40" b="1" dirty="0">
                <a:solidFill>
                  <a:srgbClr val="FFC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PENDING</a:t>
            </a:r>
            <a:endParaRPr lang="en-US" sz="940" dirty="0"/>
          </a:p>
        </p:txBody>
      </p:sp>
      <p:sp>
        <p:nvSpPr>
          <p:cNvPr id="63" name="Shape 61"/>
          <p:cNvSpPr/>
          <p:nvPr/>
        </p:nvSpPr>
        <p:spPr>
          <a:xfrm>
            <a:off x="1920240" y="4251960"/>
            <a:ext cx="1115568" cy="310896"/>
          </a:xfrm>
          <a:prstGeom prst="roundRect">
            <a:avLst>
              <a:gd name="adj" fmla="val 35294"/>
            </a:avLst>
          </a:prstGeom>
          <a:solidFill>
            <a:srgbClr val="27D3FF">
              <a:alpha val="18000"/>
            </a:srgbClr>
          </a:solidFill>
          <a:ln w="10160">
            <a:solidFill>
              <a:srgbClr val="27D3FF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64" name="Text 62"/>
          <p:cNvSpPr/>
          <p:nvPr/>
        </p:nvSpPr>
        <p:spPr>
          <a:xfrm>
            <a:off x="1975104" y="4311396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40" b="1" dirty="0">
                <a:solidFill>
                  <a:srgbClr val="27D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BANCS_SYNCED</a:t>
            </a:r>
            <a:endParaRPr lang="en-US" sz="940" dirty="0"/>
          </a:p>
        </p:txBody>
      </p:sp>
      <p:sp>
        <p:nvSpPr>
          <p:cNvPr id="65" name="Shape 63"/>
          <p:cNvSpPr/>
          <p:nvPr/>
        </p:nvSpPr>
        <p:spPr>
          <a:xfrm>
            <a:off x="3246120" y="4251960"/>
            <a:ext cx="1051560" cy="310896"/>
          </a:xfrm>
          <a:prstGeom prst="roundRect">
            <a:avLst>
              <a:gd name="adj" fmla="val 35294"/>
            </a:avLst>
          </a:prstGeom>
          <a:solidFill>
            <a:srgbClr val="31D49B">
              <a:alpha val="18000"/>
            </a:srgbClr>
          </a:solidFill>
          <a:ln w="10160">
            <a:solidFill>
              <a:srgbClr val="31D49B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66" name="Text 64"/>
          <p:cNvSpPr/>
          <p:nvPr/>
        </p:nvSpPr>
        <p:spPr>
          <a:xfrm>
            <a:off x="3300984" y="4311396"/>
            <a:ext cx="9418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40" b="1" dirty="0">
                <a:solidFill>
                  <a:srgbClr val="31D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PROCESSED</a:t>
            </a:r>
            <a:endParaRPr lang="en-US" sz="940" dirty="0"/>
          </a:p>
        </p:txBody>
      </p:sp>
      <p:sp>
        <p:nvSpPr>
          <p:cNvPr id="67" name="Text 65"/>
          <p:cNvSpPr/>
          <p:nvPr/>
        </p:nvSpPr>
        <p:spPr>
          <a:xfrm>
            <a:off x="713232" y="491947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5F9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se gana con este diseño</a:t>
            </a:r>
            <a:endParaRPr lang="en-US" sz="1350" dirty="0"/>
          </a:p>
        </p:txBody>
      </p:sp>
      <p:sp>
        <p:nvSpPr>
          <p:cNvPr id="68" name="Text 66"/>
          <p:cNvSpPr/>
          <p:nvPr/>
        </p:nvSpPr>
        <p:spPr>
          <a:xfrm>
            <a:off x="786384" y="5230368"/>
            <a:ext cx="10515600" cy="6583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060" dirty="0">
                <a:solidFill>
                  <a:srgbClr val="9AB2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Bancs no recibe la misma presión que la API pública.</a:t>
            </a:r>
            <a:endParaRPr lang="en-US" sz="1060" dirty="0"/>
          </a:p>
          <a:p>
            <a:pPr marL="177800" indent="-177800">
              <a:buSzPct val="100000"/>
              <a:buChar char="•"/>
            </a:pPr>
            <a:r>
              <a:rPr lang="en-US" sz="1060" dirty="0">
                <a:solidFill>
                  <a:srgbClr val="9AB2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caída de IA no invalida una transferencia financiera.</a:t>
            </a:r>
            <a:endParaRPr lang="en-US" sz="1060" dirty="0"/>
          </a:p>
          <a:p>
            <a:pPr marL="177800" indent="-177800">
              <a:buSzPct val="100000"/>
              <a:buChar char="•"/>
            </a:pPr>
            <a:r>
              <a:rPr lang="en-US" sz="1060" dirty="0">
                <a:solidFill>
                  <a:srgbClr val="9AB2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Worker puede controlar ritmo, reintentos y estados de fallo.</a:t>
            </a:r>
            <a:endParaRPr lang="en-US" sz="1060" dirty="0"/>
          </a:p>
          <a:p>
            <a:pPr marL="177800" indent="-177800">
              <a:buSzPct val="100000"/>
              <a:buChar char="•"/>
            </a:pPr>
            <a:r>
              <a:rPr lang="en-US" sz="1060" dirty="0">
                <a:solidFill>
                  <a:srgbClr val="9AB2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recomendación queda desacoplada y versionada.</a:t>
            </a:r>
            <a:endParaRPr lang="en-US" sz="1060" dirty="0"/>
          </a:p>
        </p:txBody>
      </p:sp>
      <p:sp>
        <p:nvSpPr>
          <p:cNvPr id="6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73952"/>
            <a:ext cx="36576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F8CA8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74320"/>
            <a:ext cx="0" cy="6035040"/>
          </a:xfrm>
          <a:prstGeom prst="line">
            <a:avLst/>
          </a:prstGeom>
          <a:noFill/>
          <a:ln w="4445">
            <a:solidFill>
              <a:srgbClr val="12304A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" name="Shape 1"/>
          <p:cNvSpPr/>
          <p:nvPr/>
        </p:nvSpPr>
        <p:spPr>
          <a:xfrm>
            <a:off x="914400" y="274320"/>
            <a:ext cx="0" cy="6035040"/>
          </a:xfrm>
          <a:prstGeom prst="line">
            <a:avLst/>
          </a:prstGeom>
          <a:noFill/>
          <a:ln w="4445">
            <a:solidFill>
              <a:srgbClr val="12304A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" name="Shape 2"/>
          <p:cNvSpPr/>
          <p:nvPr/>
        </p:nvSpPr>
        <p:spPr>
          <a:xfrm>
            <a:off x="1417320" y="274320"/>
            <a:ext cx="0" cy="6035040"/>
          </a:xfrm>
          <a:prstGeom prst="line">
            <a:avLst/>
          </a:prstGeom>
          <a:noFill/>
          <a:ln w="4445">
            <a:solidFill>
              <a:srgbClr val="12304A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5" name="Shape 3"/>
          <p:cNvSpPr/>
          <p:nvPr/>
        </p:nvSpPr>
        <p:spPr>
          <a:xfrm>
            <a:off x="1920240" y="274320"/>
            <a:ext cx="0" cy="6035040"/>
          </a:xfrm>
          <a:prstGeom prst="line">
            <a:avLst/>
          </a:prstGeom>
          <a:noFill/>
          <a:ln w="4445">
            <a:solidFill>
              <a:srgbClr val="12304A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6" name="Shape 4"/>
          <p:cNvSpPr/>
          <p:nvPr/>
        </p:nvSpPr>
        <p:spPr>
          <a:xfrm>
            <a:off x="2423160" y="274320"/>
            <a:ext cx="0" cy="6035040"/>
          </a:xfrm>
          <a:prstGeom prst="line">
            <a:avLst/>
          </a:prstGeom>
          <a:noFill/>
          <a:ln w="4445">
            <a:solidFill>
              <a:srgbClr val="12304A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7" name="Shape 5"/>
          <p:cNvSpPr/>
          <p:nvPr/>
        </p:nvSpPr>
        <p:spPr>
          <a:xfrm>
            <a:off x="2926080" y="274320"/>
            <a:ext cx="0" cy="6035040"/>
          </a:xfrm>
          <a:prstGeom prst="line">
            <a:avLst/>
          </a:prstGeom>
          <a:noFill/>
          <a:ln w="4445">
            <a:solidFill>
              <a:srgbClr val="12304A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8" name="Shape 6"/>
          <p:cNvSpPr/>
          <p:nvPr/>
        </p:nvSpPr>
        <p:spPr>
          <a:xfrm>
            <a:off x="3429000" y="274320"/>
            <a:ext cx="0" cy="6035040"/>
          </a:xfrm>
          <a:prstGeom prst="line">
            <a:avLst/>
          </a:prstGeom>
          <a:noFill/>
          <a:ln w="4445">
            <a:solidFill>
              <a:srgbClr val="12304A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9" name="Shape 7"/>
          <p:cNvSpPr/>
          <p:nvPr/>
        </p:nvSpPr>
        <p:spPr>
          <a:xfrm>
            <a:off x="3931920" y="274320"/>
            <a:ext cx="0" cy="6035040"/>
          </a:xfrm>
          <a:prstGeom prst="line">
            <a:avLst/>
          </a:prstGeom>
          <a:noFill/>
          <a:ln w="4445">
            <a:solidFill>
              <a:srgbClr val="12304A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0" name="Shape 8"/>
          <p:cNvSpPr/>
          <p:nvPr/>
        </p:nvSpPr>
        <p:spPr>
          <a:xfrm>
            <a:off x="4434840" y="274320"/>
            <a:ext cx="0" cy="6035040"/>
          </a:xfrm>
          <a:prstGeom prst="line">
            <a:avLst/>
          </a:prstGeom>
          <a:noFill/>
          <a:ln w="4445">
            <a:solidFill>
              <a:srgbClr val="12304A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1" name="Shape 9"/>
          <p:cNvSpPr/>
          <p:nvPr/>
        </p:nvSpPr>
        <p:spPr>
          <a:xfrm>
            <a:off x="4937760" y="274320"/>
            <a:ext cx="0" cy="6035040"/>
          </a:xfrm>
          <a:prstGeom prst="line">
            <a:avLst/>
          </a:prstGeom>
          <a:noFill/>
          <a:ln w="4445">
            <a:solidFill>
              <a:srgbClr val="12304A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2" name="Shape 10"/>
          <p:cNvSpPr/>
          <p:nvPr/>
        </p:nvSpPr>
        <p:spPr>
          <a:xfrm>
            <a:off x="5440680" y="274320"/>
            <a:ext cx="0" cy="6035040"/>
          </a:xfrm>
          <a:prstGeom prst="line">
            <a:avLst/>
          </a:prstGeom>
          <a:noFill/>
          <a:ln w="4445">
            <a:solidFill>
              <a:srgbClr val="12304A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3" name="Shape 11"/>
          <p:cNvSpPr/>
          <p:nvPr/>
        </p:nvSpPr>
        <p:spPr>
          <a:xfrm>
            <a:off x="5943600" y="274320"/>
            <a:ext cx="0" cy="6035040"/>
          </a:xfrm>
          <a:prstGeom prst="line">
            <a:avLst/>
          </a:prstGeom>
          <a:noFill/>
          <a:ln w="4445">
            <a:solidFill>
              <a:srgbClr val="12304A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4" name="Shape 12"/>
          <p:cNvSpPr/>
          <p:nvPr/>
        </p:nvSpPr>
        <p:spPr>
          <a:xfrm>
            <a:off x="6446520" y="274320"/>
            <a:ext cx="0" cy="6035040"/>
          </a:xfrm>
          <a:prstGeom prst="line">
            <a:avLst/>
          </a:prstGeom>
          <a:noFill/>
          <a:ln w="4445">
            <a:solidFill>
              <a:srgbClr val="12304A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5" name="Shape 13"/>
          <p:cNvSpPr/>
          <p:nvPr/>
        </p:nvSpPr>
        <p:spPr>
          <a:xfrm>
            <a:off x="6949440" y="274320"/>
            <a:ext cx="0" cy="6035040"/>
          </a:xfrm>
          <a:prstGeom prst="line">
            <a:avLst/>
          </a:prstGeom>
          <a:noFill/>
          <a:ln w="4445">
            <a:solidFill>
              <a:srgbClr val="12304A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6" name="Shape 14"/>
          <p:cNvSpPr/>
          <p:nvPr/>
        </p:nvSpPr>
        <p:spPr>
          <a:xfrm>
            <a:off x="7452360" y="274320"/>
            <a:ext cx="0" cy="6035040"/>
          </a:xfrm>
          <a:prstGeom prst="line">
            <a:avLst/>
          </a:prstGeom>
          <a:noFill/>
          <a:ln w="4445">
            <a:solidFill>
              <a:srgbClr val="12304A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7" name="Shape 15"/>
          <p:cNvSpPr/>
          <p:nvPr/>
        </p:nvSpPr>
        <p:spPr>
          <a:xfrm>
            <a:off x="7955280" y="274320"/>
            <a:ext cx="0" cy="6035040"/>
          </a:xfrm>
          <a:prstGeom prst="line">
            <a:avLst/>
          </a:prstGeom>
          <a:noFill/>
          <a:ln w="4445">
            <a:solidFill>
              <a:srgbClr val="12304A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8" name="Shape 16"/>
          <p:cNvSpPr/>
          <p:nvPr/>
        </p:nvSpPr>
        <p:spPr>
          <a:xfrm>
            <a:off x="8458200" y="274320"/>
            <a:ext cx="0" cy="6035040"/>
          </a:xfrm>
          <a:prstGeom prst="line">
            <a:avLst/>
          </a:prstGeom>
          <a:noFill/>
          <a:ln w="4445">
            <a:solidFill>
              <a:srgbClr val="12304A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9" name="Shape 17"/>
          <p:cNvSpPr/>
          <p:nvPr/>
        </p:nvSpPr>
        <p:spPr>
          <a:xfrm>
            <a:off x="8961120" y="274320"/>
            <a:ext cx="0" cy="6035040"/>
          </a:xfrm>
          <a:prstGeom prst="line">
            <a:avLst/>
          </a:prstGeom>
          <a:noFill/>
          <a:ln w="4445">
            <a:solidFill>
              <a:srgbClr val="12304A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0" name="Shape 18"/>
          <p:cNvSpPr/>
          <p:nvPr/>
        </p:nvSpPr>
        <p:spPr>
          <a:xfrm>
            <a:off x="9464040" y="274320"/>
            <a:ext cx="0" cy="6035040"/>
          </a:xfrm>
          <a:prstGeom prst="line">
            <a:avLst/>
          </a:prstGeom>
          <a:noFill/>
          <a:ln w="4445">
            <a:solidFill>
              <a:srgbClr val="12304A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1" name="Shape 19"/>
          <p:cNvSpPr/>
          <p:nvPr/>
        </p:nvSpPr>
        <p:spPr>
          <a:xfrm>
            <a:off x="9966960" y="274320"/>
            <a:ext cx="0" cy="6035040"/>
          </a:xfrm>
          <a:prstGeom prst="line">
            <a:avLst/>
          </a:prstGeom>
          <a:noFill/>
          <a:ln w="4445">
            <a:solidFill>
              <a:srgbClr val="12304A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2" name="Shape 20"/>
          <p:cNvSpPr/>
          <p:nvPr/>
        </p:nvSpPr>
        <p:spPr>
          <a:xfrm>
            <a:off x="10469880" y="274320"/>
            <a:ext cx="0" cy="6035040"/>
          </a:xfrm>
          <a:prstGeom prst="line">
            <a:avLst/>
          </a:prstGeom>
          <a:noFill/>
          <a:ln w="4445">
            <a:solidFill>
              <a:srgbClr val="12304A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3" name="Shape 21"/>
          <p:cNvSpPr/>
          <p:nvPr/>
        </p:nvSpPr>
        <p:spPr>
          <a:xfrm>
            <a:off x="10972800" y="274320"/>
            <a:ext cx="0" cy="6035040"/>
          </a:xfrm>
          <a:prstGeom prst="line">
            <a:avLst/>
          </a:prstGeom>
          <a:noFill/>
          <a:ln w="4445">
            <a:solidFill>
              <a:srgbClr val="12304A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4" name="Shape 22"/>
          <p:cNvSpPr/>
          <p:nvPr/>
        </p:nvSpPr>
        <p:spPr>
          <a:xfrm>
            <a:off x="11475720" y="274320"/>
            <a:ext cx="0" cy="6035040"/>
          </a:xfrm>
          <a:prstGeom prst="line">
            <a:avLst/>
          </a:prstGeom>
          <a:noFill/>
          <a:ln w="4445">
            <a:solidFill>
              <a:srgbClr val="12304A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5" name="Shape 23"/>
          <p:cNvSpPr/>
          <p:nvPr/>
        </p:nvSpPr>
        <p:spPr>
          <a:xfrm>
            <a:off x="320040" y="365760"/>
            <a:ext cx="11521440" cy="0"/>
          </a:xfrm>
          <a:prstGeom prst="line">
            <a:avLst/>
          </a:prstGeom>
          <a:noFill/>
          <a:ln w="4445">
            <a:solidFill>
              <a:srgbClr val="12304A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6" name="Shape 24"/>
          <p:cNvSpPr/>
          <p:nvPr/>
        </p:nvSpPr>
        <p:spPr>
          <a:xfrm>
            <a:off x="320040" y="822960"/>
            <a:ext cx="11521440" cy="0"/>
          </a:xfrm>
          <a:prstGeom prst="line">
            <a:avLst/>
          </a:prstGeom>
          <a:noFill/>
          <a:ln w="4445">
            <a:solidFill>
              <a:srgbClr val="12304A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7" name="Shape 25"/>
          <p:cNvSpPr/>
          <p:nvPr/>
        </p:nvSpPr>
        <p:spPr>
          <a:xfrm>
            <a:off x="320040" y="1280160"/>
            <a:ext cx="11521440" cy="0"/>
          </a:xfrm>
          <a:prstGeom prst="line">
            <a:avLst/>
          </a:prstGeom>
          <a:noFill/>
          <a:ln w="4445">
            <a:solidFill>
              <a:srgbClr val="12304A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8" name="Shape 26"/>
          <p:cNvSpPr/>
          <p:nvPr/>
        </p:nvSpPr>
        <p:spPr>
          <a:xfrm>
            <a:off x="320040" y="1737360"/>
            <a:ext cx="11521440" cy="0"/>
          </a:xfrm>
          <a:prstGeom prst="line">
            <a:avLst/>
          </a:prstGeom>
          <a:noFill/>
          <a:ln w="4445">
            <a:solidFill>
              <a:srgbClr val="12304A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9" name="Shape 27"/>
          <p:cNvSpPr/>
          <p:nvPr/>
        </p:nvSpPr>
        <p:spPr>
          <a:xfrm>
            <a:off x="320040" y="2194560"/>
            <a:ext cx="11521440" cy="0"/>
          </a:xfrm>
          <a:prstGeom prst="line">
            <a:avLst/>
          </a:prstGeom>
          <a:noFill/>
          <a:ln w="4445">
            <a:solidFill>
              <a:srgbClr val="12304A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0" name="Shape 28"/>
          <p:cNvSpPr/>
          <p:nvPr/>
        </p:nvSpPr>
        <p:spPr>
          <a:xfrm>
            <a:off x="320040" y="2651760"/>
            <a:ext cx="11521440" cy="0"/>
          </a:xfrm>
          <a:prstGeom prst="line">
            <a:avLst/>
          </a:prstGeom>
          <a:noFill/>
          <a:ln w="4445">
            <a:solidFill>
              <a:srgbClr val="12304A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1" name="Shape 29"/>
          <p:cNvSpPr/>
          <p:nvPr/>
        </p:nvSpPr>
        <p:spPr>
          <a:xfrm>
            <a:off x="320040" y="3108960"/>
            <a:ext cx="11521440" cy="0"/>
          </a:xfrm>
          <a:prstGeom prst="line">
            <a:avLst/>
          </a:prstGeom>
          <a:noFill/>
          <a:ln w="4445">
            <a:solidFill>
              <a:srgbClr val="12304A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2" name="Shape 30"/>
          <p:cNvSpPr/>
          <p:nvPr/>
        </p:nvSpPr>
        <p:spPr>
          <a:xfrm>
            <a:off x="320040" y="3566160"/>
            <a:ext cx="11521440" cy="0"/>
          </a:xfrm>
          <a:prstGeom prst="line">
            <a:avLst/>
          </a:prstGeom>
          <a:noFill/>
          <a:ln w="4445">
            <a:solidFill>
              <a:srgbClr val="12304A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3" name="Shape 31"/>
          <p:cNvSpPr/>
          <p:nvPr/>
        </p:nvSpPr>
        <p:spPr>
          <a:xfrm>
            <a:off x="320040" y="4023360"/>
            <a:ext cx="11521440" cy="0"/>
          </a:xfrm>
          <a:prstGeom prst="line">
            <a:avLst/>
          </a:prstGeom>
          <a:noFill/>
          <a:ln w="4445">
            <a:solidFill>
              <a:srgbClr val="12304A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4" name="Shape 32"/>
          <p:cNvSpPr/>
          <p:nvPr/>
        </p:nvSpPr>
        <p:spPr>
          <a:xfrm>
            <a:off x="320040" y="4480560"/>
            <a:ext cx="11521440" cy="0"/>
          </a:xfrm>
          <a:prstGeom prst="line">
            <a:avLst/>
          </a:prstGeom>
          <a:noFill/>
          <a:ln w="4445">
            <a:solidFill>
              <a:srgbClr val="12304A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5" name="Shape 33"/>
          <p:cNvSpPr/>
          <p:nvPr/>
        </p:nvSpPr>
        <p:spPr>
          <a:xfrm>
            <a:off x="320040" y="4937760"/>
            <a:ext cx="11521440" cy="0"/>
          </a:xfrm>
          <a:prstGeom prst="line">
            <a:avLst/>
          </a:prstGeom>
          <a:noFill/>
          <a:ln w="4445">
            <a:solidFill>
              <a:srgbClr val="12304A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6" name="Shape 34"/>
          <p:cNvSpPr/>
          <p:nvPr/>
        </p:nvSpPr>
        <p:spPr>
          <a:xfrm>
            <a:off x="320040" y="5394960"/>
            <a:ext cx="11521440" cy="0"/>
          </a:xfrm>
          <a:prstGeom prst="line">
            <a:avLst/>
          </a:prstGeom>
          <a:noFill/>
          <a:ln w="4445">
            <a:solidFill>
              <a:srgbClr val="12304A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7" name="Shape 35"/>
          <p:cNvSpPr/>
          <p:nvPr/>
        </p:nvSpPr>
        <p:spPr>
          <a:xfrm>
            <a:off x="320040" y="5852160"/>
            <a:ext cx="11521440" cy="0"/>
          </a:xfrm>
          <a:prstGeom prst="line">
            <a:avLst/>
          </a:prstGeom>
          <a:noFill/>
          <a:ln w="4445">
            <a:solidFill>
              <a:srgbClr val="12304A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8" name="Shape 36"/>
          <p:cNvSpPr/>
          <p:nvPr/>
        </p:nvSpPr>
        <p:spPr>
          <a:xfrm>
            <a:off x="320040" y="6309360"/>
            <a:ext cx="11521440" cy="0"/>
          </a:xfrm>
          <a:prstGeom prst="line">
            <a:avLst/>
          </a:prstGeom>
          <a:noFill/>
          <a:ln w="4445">
            <a:solidFill>
              <a:srgbClr val="12304A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9" name="Text 37"/>
          <p:cNvSpPr/>
          <p:nvPr/>
        </p:nvSpPr>
        <p:spPr>
          <a:xfrm>
            <a:off x="502920" y="38404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20" dirty="0">
                <a:solidFill>
                  <a:srgbClr val="27D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/ DATOS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502920" y="694944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F5F9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ETL y datos de prueba</a:t>
            </a:r>
            <a:endParaRPr lang="en-US" sz="2700" dirty="0"/>
          </a:p>
        </p:txBody>
      </p:sp>
      <p:sp>
        <p:nvSpPr>
          <p:cNvPr id="41" name="Text 39"/>
          <p:cNvSpPr/>
          <p:nvPr/>
        </p:nvSpPr>
        <p:spPr>
          <a:xfrm>
            <a:off x="521208" y="1243584"/>
            <a:ext cx="10424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80" dirty="0">
                <a:solidFill>
                  <a:srgbClr val="9AB2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repositorio incluye datos ficticios y un pipeline reproducible de limpieza.</a:t>
            </a:r>
            <a:endParaRPr lang="en-US" sz="1280" dirty="0"/>
          </a:p>
        </p:txBody>
      </p:sp>
      <p:sp>
        <p:nvSpPr>
          <p:cNvPr id="42" name="Shape 40"/>
          <p:cNvSpPr/>
          <p:nvPr/>
        </p:nvSpPr>
        <p:spPr>
          <a:xfrm>
            <a:off x="685800" y="1965960"/>
            <a:ext cx="2240280" cy="1051560"/>
          </a:xfrm>
          <a:prstGeom prst="roundRect">
            <a:avLst>
              <a:gd name="adj" fmla="val 5217"/>
            </a:avLst>
          </a:prstGeom>
          <a:solidFill>
            <a:srgbClr val="0C1B2D"/>
          </a:solidFill>
          <a:ln w="15240">
            <a:solidFill>
              <a:srgbClr val="FF5F6D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3" name="Text 41"/>
          <p:cNvSpPr/>
          <p:nvPr/>
        </p:nvSpPr>
        <p:spPr>
          <a:xfrm>
            <a:off x="777240" y="2112264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F9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CSV RAW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795528" y="2432304"/>
            <a:ext cx="202082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70" dirty="0">
                <a:solidFill>
                  <a:srgbClr val="9AB2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duplicados • fechas mixtas • vacíos</a:t>
            </a:r>
            <a:endParaRPr lang="en-US" sz="970" dirty="0"/>
          </a:p>
        </p:txBody>
      </p:sp>
      <p:sp>
        <p:nvSpPr>
          <p:cNvPr id="45" name="Shape 43"/>
          <p:cNvSpPr/>
          <p:nvPr/>
        </p:nvSpPr>
        <p:spPr>
          <a:xfrm>
            <a:off x="3794760" y="1965960"/>
            <a:ext cx="2240280" cy="1051560"/>
          </a:xfrm>
          <a:prstGeom prst="roundRect">
            <a:avLst>
              <a:gd name="adj" fmla="val 5217"/>
            </a:avLst>
          </a:prstGeom>
          <a:solidFill>
            <a:srgbClr val="0C1B2D"/>
          </a:solidFill>
          <a:ln w="15240">
            <a:solidFill>
              <a:srgbClr val="27D3FF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6" name="Text 44"/>
          <p:cNvSpPr/>
          <p:nvPr/>
        </p:nvSpPr>
        <p:spPr>
          <a:xfrm>
            <a:off x="3886200" y="2112264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F9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transform.py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3904488" y="2432304"/>
            <a:ext cx="202082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70" dirty="0">
                <a:solidFill>
                  <a:srgbClr val="9AB2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Pandas / normalización</a:t>
            </a:r>
            <a:endParaRPr lang="en-US" sz="970" dirty="0"/>
          </a:p>
        </p:txBody>
      </p:sp>
      <p:sp>
        <p:nvSpPr>
          <p:cNvPr id="48" name="Shape 46"/>
          <p:cNvSpPr/>
          <p:nvPr/>
        </p:nvSpPr>
        <p:spPr>
          <a:xfrm>
            <a:off x="6903720" y="1965960"/>
            <a:ext cx="2240280" cy="1051560"/>
          </a:xfrm>
          <a:prstGeom prst="roundRect">
            <a:avLst>
              <a:gd name="adj" fmla="val 5217"/>
            </a:avLst>
          </a:prstGeom>
          <a:solidFill>
            <a:srgbClr val="0C1B2D"/>
          </a:solidFill>
          <a:ln w="15240">
            <a:solidFill>
              <a:srgbClr val="31D49B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9" name="Text 47"/>
          <p:cNvSpPr/>
          <p:nvPr/>
        </p:nvSpPr>
        <p:spPr>
          <a:xfrm>
            <a:off x="6995160" y="2112264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F9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CSV CLEAN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7013448" y="2432304"/>
            <a:ext cx="202082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70" dirty="0">
                <a:solidFill>
                  <a:srgbClr val="9AB2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registros válidos y consistentes</a:t>
            </a:r>
            <a:endParaRPr lang="en-US" sz="970" dirty="0"/>
          </a:p>
        </p:txBody>
      </p:sp>
      <p:sp>
        <p:nvSpPr>
          <p:cNvPr id="51" name="Shape 49"/>
          <p:cNvSpPr/>
          <p:nvPr/>
        </p:nvSpPr>
        <p:spPr>
          <a:xfrm>
            <a:off x="2926080" y="2496312"/>
            <a:ext cx="841248" cy="0"/>
          </a:xfrm>
          <a:prstGeom prst="line">
            <a:avLst/>
          </a:prstGeom>
          <a:noFill/>
          <a:ln w="22860">
            <a:solidFill>
              <a:srgbClr val="27D3F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EC"/>
          </a:p>
        </p:txBody>
      </p:sp>
      <p:sp>
        <p:nvSpPr>
          <p:cNvPr id="52" name="Shape 50"/>
          <p:cNvSpPr/>
          <p:nvPr/>
        </p:nvSpPr>
        <p:spPr>
          <a:xfrm>
            <a:off x="6035040" y="2496312"/>
            <a:ext cx="841248" cy="0"/>
          </a:xfrm>
          <a:prstGeom prst="line">
            <a:avLst/>
          </a:prstGeom>
          <a:noFill/>
          <a:ln w="22860">
            <a:solidFill>
              <a:srgbClr val="27D3F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EC"/>
          </a:p>
        </p:txBody>
      </p:sp>
      <p:sp>
        <p:nvSpPr>
          <p:cNvPr id="53" name="Shape 51"/>
          <p:cNvSpPr/>
          <p:nvPr/>
        </p:nvSpPr>
        <p:spPr>
          <a:xfrm>
            <a:off x="9555480" y="1828800"/>
            <a:ext cx="1965960" cy="1417320"/>
          </a:xfrm>
          <a:prstGeom prst="roundRect">
            <a:avLst>
              <a:gd name="adj" fmla="val 5161"/>
            </a:avLst>
          </a:prstGeom>
          <a:solidFill>
            <a:srgbClr val="0C1B2D"/>
          </a:solidFill>
          <a:ln w="13970">
            <a:solidFill>
              <a:srgbClr val="1D3B58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54" name="Shape 52"/>
          <p:cNvSpPr/>
          <p:nvPr/>
        </p:nvSpPr>
        <p:spPr>
          <a:xfrm>
            <a:off x="9592056" y="1883664"/>
            <a:ext cx="45720" cy="1307592"/>
          </a:xfrm>
          <a:prstGeom prst="rect">
            <a:avLst/>
          </a:prstGeom>
          <a:solidFill>
            <a:srgbClr val="4B7BFF"/>
          </a:solidFill>
          <a:ln w="12700">
            <a:solidFill>
              <a:srgbClr val="4B7BFF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55" name="Text 53"/>
          <p:cNvSpPr/>
          <p:nvPr/>
        </p:nvSpPr>
        <p:spPr>
          <a:xfrm>
            <a:off x="9738360" y="1975104"/>
            <a:ext cx="1673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F5F9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Reglas ETL</a:t>
            </a:r>
            <a:endParaRPr lang="en-US" sz="1450" dirty="0"/>
          </a:p>
        </p:txBody>
      </p:sp>
      <p:sp>
        <p:nvSpPr>
          <p:cNvPr id="56" name="Text 54"/>
          <p:cNvSpPr/>
          <p:nvPr/>
        </p:nvSpPr>
        <p:spPr>
          <a:xfrm>
            <a:off x="9738360" y="2322576"/>
            <a:ext cx="1645920" cy="8138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9AB2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remove duplicates</a:t>
            </a: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9AB2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numeric conversion</a:t>
            </a: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9AB2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amount &gt; 0</a:t>
            </a: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9AB2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ISO dates</a:t>
            </a: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9AB2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trim / upper</a:t>
            </a:r>
            <a:endParaRPr lang="en-US" sz="1120" dirty="0"/>
          </a:p>
        </p:txBody>
      </p:sp>
      <p:sp>
        <p:nvSpPr>
          <p:cNvPr id="57" name="Text 55"/>
          <p:cNvSpPr/>
          <p:nvPr/>
        </p:nvSpPr>
        <p:spPr>
          <a:xfrm>
            <a:off x="704088" y="367588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F9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Cuentas demo</a:t>
            </a:r>
            <a:endParaRPr lang="en-US" sz="1400" dirty="0"/>
          </a:p>
        </p:txBody>
      </p:sp>
      <p:sp>
        <p:nvSpPr>
          <p:cNvPr id="58" name="Text 56"/>
          <p:cNvSpPr/>
          <p:nvPr/>
        </p:nvSpPr>
        <p:spPr>
          <a:xfrm>
            <a:off x="713232" y="4041648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7D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Cuenta</a:t>
            </a:r>
            <a:endParaRPr lang="en-US" sz="1050" dirty="0"/>
          </a:p>
        </p:txBody>
      </p:sp>
      <p:sp>
        <p:nvSpPr>
          <p:cNvPr id="59" name="Text 57"/>
          <p:cNvSpPr/>
          <p:nvPr/>
        </p:nvSpPr>
        <p:spPr>
          <a:xfrm>
            <a:off x="2148840" y="4041648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7D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</a:t>
            </a:r>
            <a:endParaRPr lang="en-US" sz="1050" dirty="0"/>
          </a:p>
        </p:txBody>
      </p:sp>
      <p:sp>
        <p:nvSpPr>
          <p:cNvPr id="60" name="Text 58"/>
          <p:cNvSpPr/>
          <p:nvPr/>
        </p:nvSpPr>
        <p:spPr>
          <a:xfrm>
            <a:off x="4846320" y="4041648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7D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Saldo inicial</a:t>
            </a:r>
            <a:endParaRPr lang="en-US" sz="1050" dirty="0"/>
          </a:p>
        </p:txBody>
      </p:sp>
      <p:sp>
        <p:nvSpPr>
          <p:cNvPr id="61" name="Text 59"/>
          <p:cNvSpPr/>
          <p:nvPr/>
        </p:nvSpPr>
        <p:spPr>
          <a:xfrm>
            <a:off x="6446520" y="4041648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7D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Moneda</a:t>
            </a:r>
            <a:endParaRPr lang="en-US" sz="1050" dirty="0"/>
          </a:p>
        </p:txBody>
      </p:sp>
      <p:sp>
        <p:nvSpPr>
          <p:cNvPr id="62" name="Shape 60"/>
          <p:cNvSpPr/>
          <p:nvPr/>
        </p:nvSpPr>
        <p:spPr>
          <a:xfrm>
            <a:off x="640080" y="4325112"/>
            <a:ext cx="7114032" cy="365760"/>
          </a:xfrm>
          <a:prstGeom prst="roundRect">
            <a:avLst>
              <a:gd name="adj" fmla="val 7500"/>
            </a:avLst>
          </a:prstGeom>
          <a:solidFill>
            <a:srgbClr val="0D1C2C"/>
          </a:solidFill>
          <a:ln w="5080">
            <a:solidFill>
              <a:srgbClr val="17314D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63" name="Text 61"/>
          <p:cNvSpPr/>
          <p:nvPr/>
        </p:nvSpPr>
        <p:spPr>
          <a:xfrm>
            <a:off x="713232" y="437083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F5F9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100001</a:t>
            </a:r>
            <a:endParaRPr lang="en-US" sz="1080" dirty="0"/>
          </a:p>
        </p:txBody>
      </p:sp>
      <p:sp>
        <p:nvSpPr>
          <p:cNvPr id="64" name="Text 62"/>
          <p:cNvSpPr/>
          <p:nvPr/>
        </p:nvSpPr>
        <p:spPr>
          <a:xfrm>
            <a:off x="2148840" y="4370832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F5F9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 Demo 1</a:t>
            </a:r>
            <a:endParaRPr lang="en-US" sz="1080" dirty="0"/>
          </a:p>
        </p:txBody>
      </p:sp>
      <p:sp>
        <p:nvSpPr>
          <p:cNvPr id="65" name="Text 63"/>
          <p:cNvSpPr/>
          <p:nvPr/>
        </p:nvSpPr>
        <p:spPr>
          <a:xfrm>
            <a:off x="4846320" y="4370832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F5F9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$1.000</a:t>
            </a:r>
            <a:endParaRPr lang="en-US" sz="1080" dirty="0"/>
          </a:p>
        </p:txBody>
      </p:sp>
      <p:sp>
        <p:nvSpPr>
          <p:cNvPr id="66" name="Text 64"/>
          <p:cNvSpPr/>
          <p:nvPr/>
        </p:nvSpPr>
        <p:spPr>
          <a:xfrm>
            <a:off x="6446520" y="4370832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F5F9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USD</a:t>
            </a:r>
            <a:endParaRPr lang="en-US" sz="1080" dirty="0"/>
          </a:p>
        </p:txBody>
      </p:sp>
      <p:sp>
        <p:nvSpPr>
          <p:cNvPr id="67" name="Shape 65"/>
          <p:cNvSpPr/>
          <p:nvPr/>
        </p:nvSpPr>
        <p:spPr>
          <a:xfrm>
            <a:off x="640080" y="4782312"/>
            <a:ext cx="7114032" cy="365760"/>
          </a:xfrm>
          <a:prstGeom prst="roundRect">
            <a:avLst>
              <a:gd name="adj" fmla="val 7500"/>
            </a:avLst>
          </a:prstGeom>
          <a:solidFill>
            <a:srgbClr val="0A1726"/>
          </a:solidFill>
          <a:ln w="5080">
            <a:solidFill>
              <a:srgbClr val="17314D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68" name="Text 66"/>
          <p:cNvSpPr/>
          <p:nvPr/>
        </p:nvSpPr>
        <p:spPr>
          <a:xfrm>
            <a:off x="713232" y="482803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F5F9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100002</a:t>
            </a:r>
            <a:endParaRPr lang="en-US" sz="1080" dirty="0"/>
          </a:p>
        </p:txBody>
      </p:sp>
      <p:sp>
        <p:nvSpPr>
          <p:cNvPr id="69" name="Text 67"/>
          <p:cNvSpPr/>
          <p:nvPr/>
        </p:nvSpPr>
        <p:spPr>
          <a:xfrm>
            <a:off x="2148840" y="4828032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F5F9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 Demo 2</a:t>
            </a:r>
            <a:endParaRPr lang="en-US" sz="1080" dirty="0"/>
          </a:p>
        </p:txBody>
      </p:sp>
      <p:sp>
        <p:nvSpPr>
          <p:cNvPr id="70" name="Text 68"/>
          <p:cNvSpPr/>
          <p:nvPr/>
        </p:nvSpPr>
        <p:spPr>
          <a:xfrm>
            <a:off x="4846320" y="4828032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F5F9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$500</a:t>
            </a:r>
            <a:endParaRPr lang="en-US" sz="1080" dirty="0"/>
          </a:p>
        </p:txBody>
      </p:sp>
      <p:sp>
        <p:nvSpPr>
          <p:cNvPr id="71" name="Text 69"/>
          <p:cNvSpPr/>
          <p:nvPr/>
        </p:nvSpPr>
        <p:spPr>
          <a:xfrm>
            <a:off x="6446520" y="4828032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F5F9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USD</a:t>
            </a:r>
            <a:endParaRPr lang="en-US" sz="1080" dirty="0"/>
          </a:p>
        </p:txBody>
      </p:sp>
      <p:sp>
        <p:nvSpPr>
          <p:cNvPr id="72" name="Shape 70"/>
          <p:cNvSpPr/>
          <p:nvPr/>
        </p:nvSpPr>
        <p:spPr>
          <a:xfrm>
            <a:off x="640080" y="5239512"/>
            <a:ext cx="7114032" cy="365760"/>
          </a:xfrm>
          <a:prstGeom prst="roundRect">
            <a:avLst>
              <a:gd name="adj" fmla="val 7500"/>
            </a:avLst>
          </a:prstGeom>
          <a:solidFill>
            <a:srgbClr val="0D1C2C"/>
          </a:solidFill>
          <a:ln w="5080">
            <a:solidFill>
              <a:srgbClr val="17314D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73" name="Text 71"/>
          <p:cNvSpPr/>
          <p:nvPr/>
        </p:nvSpPr>
        <p:spPr>
          <a:xfrm>
            <a:off x="713232" y="528523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F5F9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100003</a:t>
            </a:r>
            <a:endParaRPr lang="en-US" sz="1080" dirty="0"/>
          </a:p>
        </p:txBody>
      </p:sp>
      <p:sp>
        <p:nvSpPr>
          <p:cNvPr id="74" name="Text 72"/>
          <p:cNvSpPr/>
          <p:nvPr/>
        </p:nvSpPr>
        <p:spPr>
          <a:xfrm>
            <a:off x="2148840" y="5285232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F5F9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 Demo 3</a:t>
            </a:r>
            <a:endParaRPr lang="en-US" sz="1080" dirty="0"/>
          </a:p>
        </p:txBody>
      </p:sp>
      <p:sp>
        <p:nvSpPr>
          <p:cNvPr id="75" name="Text 73"/>
          <p:cNvSpPr/>
          <p:nvPr/>
        </p:nvSpPr>
        <p:spPr>
          <a:xfrm>
            <a:off x="4846320" y="5285232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F5F9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$200</a:t>
            </a:r>
            <a:endParaRPr lang="en-US" sz="1080" dirty="0"/>
          </a:p>
        </p:txBody>
      </p:sp>
      <p:sp>
        <p:nvSpPr>
          <p:cNvPr id="76" name="Text 74"/>
          <p:cNvSpPr/>
          <p:nvPr/>
        </p:nvSpPr>
        <p:spPr>
          <a:xfrm>
            <a:off x="6446520" y="5285232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F5F9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USD</a:t>
            </a:r>
            <a:endParaRPr lang="en-US" sz="1080" dirty="0"/>
          </a:p>
        </p:txBody>
      </p:sp>
      <p:sp>
        <p:nvSpPr>
          <p:cNvPr id="77" name="Text 75"/>
          <p:cNvSpPr/>
          <p:nvPr/>
        </p:nvSpPr>
        <p:spPr>
          <a:xfrm>
            <a:off x="8247888" y="4069080"/>
            <a:ext cx="3200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9AB2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Todos los datos utilizados son ficticios y exclusivos para pruebas del MVP.</a:t>
            </a:r>
            <a:endParaRPr lang="en-US" sz="1220" dirty="0"/>
          </a:p>
        </p:txBody>
      </p:sp>
      <p:sp>
        <p:nvSpPr>
          <p:cNvPr id="78" name="Shape 76"/>
          <p:cNvSpPr/>
          <p:nvPr/>
        </p:nvSpPr>
        <p:spPr>
          <a:xfrm>
            <a:off x="8275320" y="5166360"/>
            <a:ext cx="1417320" cy="310896"/>
          </a:xfrm>
          <a:prstGeom prst="roundRect">
            <a:avLst>
              <a:gd name="adj" fmla="val 35294"/>
            </a:avLst>
          </a:prstGeom>
          <a:solidFill>
            <a:srgbClr val="8C65FF">
              <a:alpha val="18000"/>
            </a:srgbClr>
          </a:solidFill>
          <a:ln w="10160">
            <a:solidFill>
              <a:srgbClr val="8C65FF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79" name="Text 77"/>
          <p:cNvSpPr/>
          <p:nvPr/>
        </p:nvSpPr>
        <p:spPr>
          <a:xfrm>
            <a:off x="8330184" y="5225796"/>
            <a:ext cx="1307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40" b="1" dirty="0">
                <a:solidFill>
                  <a:srgbClr val="8C6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DATA</a:t>
            </a:r>
            <a:endParaRPr lang="en-US" sz="940" dirty="0"/>
          </a:p>
        </p:txBody>
      </p:sp>
      <p:sp>
        <p:nvSpPr>
          <p:cNvPr id="8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73952"/>
            <a:ext cx="36576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F8CA8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74320"/>
            <a:ext cx="0" cy="6035040"/>
          </a:xfrm>
          <a:prstGeom prst="line">
            <a:avLst/>
          </a:prstGeom>
          <a:noFill/>
          <a:ln w="4445">
            <a:solidFill>
              <a:srgbClr val="12304A">
                <a:alpha val="7300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" name="Shape 1"/>
          <p:cNvSpPr/>
          <p:nvPr/>
        </p:nvSpPr>
        <p:spPr>
          <a:xfrm>
            <a:off x="914400" y="274320"/>
            <a:ext cx="0" cy="6035040"/>
          </a:xfrm>
          <a:prstGeom prst="line">
            <a:avLst/>
          </a:prstGeom>
          <a:noFill/>
          <a:ln w="4445">
            <a:solidFill>
              <a:srgbClr val="12304A">
                <a:alpha val="7300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" name="Shape 2"/>
          <p:cNvSpPr/>
          <p:nvPr/>
        </p:nvSpPr>
        <p:spPr>
          <a:xfrm>
            <a:off x="1417320" y="274320"/>
            <a:ext cx="0" cy="6035040"/>
          </a:xfrm>
          <a:prstGeom prst="line">
            <a:avLst/>
          </a:prstGeom>
          <a:noFill/>
          <a:ln w="4445">
            <a:solidFill>
              <a:srgbClr val="12304A">
                <a:alpha val="7300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5" name="Shape 3"/>
          <p:cNvSpPr/>
          <p:nvPr/>
        </p:nvSpPr>
        <p:spPr>
          <a:xfrm>
            <a:off x="1920240" y="274320"/>
            <a:ext cx="0" cy="6035040"/>
          </a:xfrm>
          <a:prstGeom prst="line">
            <a:avLst/>
          </a:prstGeom>
          <a:noFill/>
          <a:ln w="4445">
            <a:solidFill>
              <a:srgbClr val="12304A">
                <a:alpha val="7300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6" name="Shape 4"/>
          <p:cNvSpPr/>
          <p:nvPr/>
        </p:nvSpPr>
        <p:spPr>
          <a:xfrm>
            <a:off x="2423160" y="274320"/>
            <a:ext cx="0" cy="6035040"/>
          </a:xfrm>
          <a:prstGeom prst="line">
            <a:avLst/>
          </a:prstGeom>
          <a:noFill/>
          <a:ln w="4445">
            <a:solidFill>
              <a:srgbClr val="12304A">
                <a:alpha val="7300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7" name="Shape 5"/>
          <p:cNvSpPr/>
          <p:nvPr/>
        </p:nvSpPr>
        <p:spPr>
          <a:xfrm>
            <a:off x="2926080" y="274320"/>
            <a:ext cx="0" cy="6035040"/>
          </a:xfrm>
          <a:prstGeom prst="line">
            <a:avLst/>
          </a:prstGeom>
          <a:noFill/>
          <a:ln w="4445">
            <a:solidFill>
              <a:srgbClr val="12304A">
                <a:alpha val="7300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8" name="Shape 6"/>
          <p:cNvSpPr/>
          <p:nvPr/>
        </p:nvSpPr>
        <p:spPr>
          <a:xfrm>
            <a:off x="3429000" y="274320"/>
            <a:ext cx="0" cy="6035040"/>
          </a:xfrm>
          <a:prstGeom prst="line">
            <a:avLst/>
          </a:prstGeom>
          <a:noFill/>
          <a:ln w="4445">
            <a:solidFill>
              <a:srgbClr val="12304A">
                <a:alpha val="7300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9" name="Shape 7"/>
          <p:cNvSpPr/>
          <p:nvPr/>
        </p:nvSpPr>
        <p:spPr>
          <a:xfrm>
            <a:off x="3931920" y="274320"/>
            <a:ext cx="0" cy="6035040"/>
          </a:xfrm>
          <a:prstGeom prst="line">
            <a:avLst/>
          </a:prstGeom>
          <a:noFill/>
          <a:ln w="4445">
            <a:solidFill>
              <a:srgbClr val="12304A">
                <a:alpha val="7300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0" name="Shape 8"/>
          <p:cNvSpPr/>
          <p:nvPr/>
        </p:nvSpPr>
        <p:spPr>
          <a:xfrm>
            <a:off x="4434840" y="274320"/>
            <a:ext cx="0" cy="6035040"/>
          </a:xfrm>
          <a:prstGeom prst="line">
            <a:avLst/>
          </a:prstGeom>
          <a:noFill/>
          <a:ln w="4445">
            <a:solidFill>
              <a:srgbClr val="12304A">
                <a:alpha val="7300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1" name="Shape 9"/>
          <p:cNvSpPr/>
          <p:nvPr/>
        </p:nvSpPr>
        <p:spPr>
          <a:xfrm>
            <a:off x="4937760" y="274320"/>
            <a:ext cx="0" cy="6035040"/>
          </a:xfrm>
          <a:prstGeom prst="line">
            <a:avLst/>
          </a:prstGeom>
          <a:noFill/>
          <a:ln w="4445">
            <a:solidFill>
              <a:srgbClr val="12304A">
                <a:alpha val="7300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2" name="Shape 10"/>
          <p:cNvSpPr/>
          <p:nvPr/>
        </p:nvSpPr>
        <p:spPr>
          <a:xfrm>
            <a:off x="5440680" y="274320"/>
            <a:ext cx="0" cy="6035040"/>
          </a:xfrm>
          <a:prstGeom prst="line">
            <a:avLst/>
          </a:prstGeom>
          <a:noFill/>
          <a:ln w="4445">
            <a:solidFill>
              <a:srgbClr val="12304A">
                <a:alpha val="7300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3" name="Shape 11"/>
          <p:cNvSpPr/>
          <p:nvPr/>
        </p:nvSpPr>
        <p:spPr>
          <a:xfrm>
            <a:off x="5943600" y="274320"/>
            <a:ext cx="0" cy="6035040"/>
          </a:xfrm>
          <a:prstGeom prst="line">
            <a:avLst/>
          </a:prstGeom>
          <a:noFill/>
          <a:ln w="4445">
            <a:solidFill>
              <a:srgbClr val="12304A">
                <a:alpha val="7300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4" name="Shape 12"/>
          <p:cNvSpPr/>
          <p:nvPr/>
        </p:nvSpPr>
        <p:spPr>
          <a:xfrm>
            <a:off x="6446520" y="274320"/>
            <a:ext cx="0" cy="6035040"/>
          </a:xfrm>
          <a:prstGeom prst="line">
            <a:avLst/>
          </a:prstGeom>
          <a:noFill/>
          <a:ln w="4445">
            <a:solidFill>
              <a:srgbClr val="12304A">
                <a:alpha val="7300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5" name="Shape 13"/>
          <p:cNvSpPr/>
          <p:nvPr/>
        </p:nvSpPr>
        <p:spPr>
          <a:xfrm>
            <a:off x="6949440" y="274320"/>
            <a:ext cx="0" cy="6035040"/>
          </a:xfrm>
          <a:prstGeom prst="line">
            <a:avLst/>
          </a:prstGeom>
          <a:noFill/>
          <a:ln w="4445">
            <a:solidFill>
              <a:srgbClr val="12304A">
                <a:alpha val="7300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6" name="Shape 14"/>
          <p:cNvSpPr/>
          <p:nvPr/>
        </p:nvSpPr>
        <p:spPr>
          <a:xfrm>
            <a:off x="7452360" y="274320"/>
            <a:ext cx="0" cy="6035040"/>
          </a:xfrm>
          <a:prstGeom prst="line">
            <a:avLst/>
          </a:prstGeom>
          <a:noFill/>
          <a:ln w="4445">
            <a:solidFill>
              <a:srgbClr val="12304A">
                <a:alpha val="7300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7" name="Shape 15"/>
          <p:cNvSpPr/>
          <p:nvPr/>
        </p:nvSpPr>
        <p:spPr>
          <a:xfrm>
            <a:off x="7955280" y="274320"/>
            <a:ext cx="0" cy="6035040"/>
          </a:xfrm>
          <a:prstGeom prst="line">
            <a:avLst/>
          </a:prstGeom>
          <a:noFill/>
          <a:ln w="4445">
            <a:solidFill>
              <a:srgbClr val="12304A">
                <a:alpha val="7300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8" name="Shape 16"/>
          <p:cNvSpPr/>
          <p:nvPr/>
        </p:nvSpPr>
        <p:spPr>
          <a:xfrm>
            <a:off x="8458200" y="274320"/>
            <a:ext cx="0" cy="6035040"/>
          </a:xfrm>
          <a:prstGeom prst="line">
            <a:avLst/>
          </a:prstGeom>
          <a:noFill/>
          <a:ln w="4445">
            <a:solidFill>
              <a:srgbClr val="12304A">
                <a:alpha val="7300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9" name="Shape 17"/>
          <p:cNvSpPr/>
          <p:nvPr/>
        </p:nvSpPr>
        <p:spPr>
          <a:xfrm>
            <a:off x="8961120" y="274320"/>
            <a:ext cx="0" cy="6035040"/>
          </a:xfrm>
          <a:prstGeom prst="line">
            <a:avLst/>
          </a:prstGeom>
          <a:noFill/>
          <a:ln w="4445">
            <a:solidFill>
              <a:srgbClr val="12304A">
                <a:alpha val="7300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0" name="Shape 18"/>
          <p:cNvSpPr/>
          <p:nvPr/>
        </p:nvSpPr>
        <p:spPr>
          <a:xfrm>
            <a:off x="9464040" y="274320"/>
            <a:ext cx="0" cy="6035040"/>
          </a:xfrm>
          <a:prstGeom prst="line">
            <a:avLst/>
          </a:prstGeom>
          <a:noFill/>
          <a:ln w="4445">
            <a:solidFill>
              <a:srgbClr val="12304A">
                <a:alpha val="7300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1" name="Shape 19"/>
          <p:cNvSpPr/>
          <p:nvPr/>
        </p:nvSpPr>
        <p:spPr>
          <a:xfrm>
            <a:off x="9966960" y="274320"/>
            <a:ext cx="0" cy="6035040"/>
          </a:xfrm>
          <a:prstGeom prst="line">
            <a:avLst/>
          </a:prstGeom>
          <a:noFill/>
          <a:ln w="4445">
            <a:solidFill>
              <a:srgbClr val="12304A">
                <a:alpha val="7300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2" name="Shape 20"/>
          <p:cNvSpPr/>
          <p:nvPr/>
        </p:nvSpPr>
        <p:spPr>
          <a:xfrm>
            <a:off x="10469880" y="274320"/>
            <a:ext cx="0" cy="6035040"/>
          </a:xfrm>
          <a:prstGeom prst="line">
            <a:avLst/>
          </a:prstGeom>
          <a:noFill/>
          <a:ln w="4445">
            <a:solidFill>
              <a:srgbClr val="12304A">
                <a:alpha val="7300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3" name="Shape 21"/>
          <p:cNvSpPr/>
          <p:nvPr/>
        </p:nvSpPr>
        <p:spPr>
          <a:xfrm>
            <a:off x="10972800" y="274320"/>
            <a:ext cx="0" cy="6035040"/>
          </a:xfrm>
          <a:prstGeom prst="line">
            <a:avLst/>
          </a:prstGeom>
          <a:noFill/>
          <a:ln w="4445">
            <a:solidFill>
              <a:srgbClr val="12304A">
                <a:alpha val="7300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4" name="Shape 22"/>
          <p:cNvSpPr/>
          <p:nvPr/>
        </p:nvSpPr>
        <p:spPr>
          <a:xfrm>
            <a:off x="11475720" y="274320"/>
            <a:ext cx="0" cy="6035040"/>
          </a:xfrm>
          <a:prstGeom prst="line">
            <a:avLst/>
          </a:prstGeom>
          <a:noFill/>
          <a:ln w="4445">
            <a:solidFill>
              <a:srgbClr val="12304A">
                <a:alpha val="7300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5" name="Shape 23"/>
          <p:cNvSpPr/>
          <p:nvPr/>
        </p:nvSpPr>
        <p:spPr>
          <a:xfrm>
            <a:off x="320040" y="365760"/>
            <a:ext cx="11521440" cy="0"/>
          </a:xfrm>
          <a:prstGeom prst="line">
            <a:avLst/>
          </a:prstGeom>
          <a:noFill/>
          <a:ln w="4445">
            <a:solidFill>
              <a:srgbClr val="12304A">
                <a:alpha val="7300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6" name="Shape 24"/>
          <p:cNvSpPr/>
          <p:nvPr/>
        </p:nvSpPr>
        <p:spPr>
          <a:xfrm>
            <a:off x="320040" y="822960"/>
            <a:ext cx="11521440" cy="0"/>
          </a:xfrm>
          <a:prstGeom prst="line">
            <a:avLst/>
          </a:prstGeom>
          <a:noFill/>
          <a:ln w="4445">
            <a:solidFill>
              <a:srgbClr val="12304A">
                <a:alpha val="7300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7" name="Shape 25"/>
          <p:cNvSpPr/>
          <p:nvPr/>
        </p:nvSpPr>
        <p:spPr>
          <a:xfrm>
            <a:off x="320040" y="1280160"/>
            <a:ext cx="11521440" cy="0"/>
          </a:xfrm>
          <a:prstGeom prst="line">
            <a:avLst/>
          </a:prstGeom>
          <a:noFill/>
          <a:ln w="4445">
            <a:solidFill>
              <a:srgbClr val="12304A">
                <a:alpha val="7300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8" name="Shape 26"/>
          <p:cNvSpPr/>
          <p:nvPr/>
        </p:nvSpPr>
        <p:spPr>
          <a:xfrm>
            <a:off x="320040" y="1737360"/>
            <a:ext cx="11521440" cy="0"/>
          </a:xfrm>
          <a:prstGeom prst="line">
            <a:avLst/>
          </a:prstGeom>
          <a:noFill/>
          <a:ln w="4445">
            <a:solidFill>
              <a:srgbClr val="12304A">
                <a:alpha val="7300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9" name="Shape 27"/>
          <p:cNvSpPr/>
          <p:nvPr/>
        </p:nvSpPr>
        <p:spPr>
          <a:xfrm>
            <a:off x="320040" y="2194560"/>
            <a:ext cx="11521440" cy="0"/>
          </a:xfrm>
          <a:prstGeom prst="line">
            <a:avLst/>
          </a:prstGeom>
          <a:noFill/>
          <a:ln w="4445">
            <a:solidFill>
              <a:srgbClr val="12304A">
                <a:alpha val="7300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0" name="Shape 28"/>
          <p:cNvSpPr/>
          <p:nvPr/>
        </p:nvSpPr>
        <p:spPr>
          <a:xfrm>
            <a:off x="320040" y="2651760"/>
            <a:ext cx="11521440" cy="0"/>
          </a:xfrm>
          <a:prstGeom prst="line">
            <a:avLst/>
          </a:prstGeom>
          <a:noFill/>
          <a:ln w="4445">
            <a:solidFill>
              <a:srgbClr val="12304A">
                <a:alpha val="7300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1" name="Shape 29"/>
          <p:cNvSpPr/>
          <p:nvPr/>
        </p:nvSpPr>
        <p:spPr>
          <a:xfrm>
            <a:off x="320040" y="3108960"/>
            <a:ext cx="11521440" cy="0"/>
          </a:xfrm>
          <a:prstGeom prst="line">
            <a:avLst/>
          </a:prstGeom>
          <a:noFill/>
          <a:ln w="4445">
            <a:solidFill>
              <a:srgbClr val="12304A">
                <a:alpha val="7300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2" name="Shape 30"/>
          <p:cNvSpPr/>
          <p:nvPr/>
        </p:nvSpPr>
        <p:spPr>
          <a:xfrm>
            <a:off x="320040" y="3566160"/>
            <a:ext cx="11521440" cy="0"/>
          </a:xfrm>
          <a:prstGeom prst="line">
            <a:avLst/>
          </a:prstGeom>
          <a:noFill/>
          <a:ln w="4445">
            <a:solidFill>
              <a:srgbClr val="12304A">
                <a:alpha val="7300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3" name="Shape 31"/>
          <p:cNvSpPr/>
          <p:nvPr/>
        </p:nvSpPr>
        <p:spPr>
          <a:xfrm>
            <a:off x="320040" y="4023360"/>
            <a:ext cx="11521440" cy="0"/>
          </a:xfrm>
          <a:prstGeom prst="line">
            <a:avLst/>
          </a:prstGeom>
          <a:noFill/>
          <a:ln w="4445">
            <a:solidFill>
              <a:srgbClr val="12304A">
                <a:alpha val="7300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4" name="Shape 32"/>
          <p:cNvSpPr/>
          <p:nvPr/>
        </p:nvSpPr>
        <p:spPr>
          <a:xfrm>
            <a:off x="320040" y="4480560"/>
            <a:ext cx="11521440" cy="0"/>
          </a:xfrm>
          <a:prstGeom prst="line">
            <a:avLst/>
          </a:prstGeom>
          <a:noFill/>
          <a:ln w="4445">
            <a:solidFill>
              <a:srgbClr val="12304A">
                <a:alpha val="7300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5" name="Shape 33"/>
          <p:cNvSpPr/>
          <p:nvPr/>
        </p:nvSpPr>
        <p:spPr>
          <a:xfrm>
            <a:off x="320040" y="4937760"/>
            <a:ext cx="11521440" cy="0"/>
          </a:xfrm>
          <a:prstGeom prst="line">
            <a:avLst/>
          </a:prstGeom>
          <a:noFill/>
          <a:ln w="4445">
            <a:solidFill>
              <a:srgbClr val="12304A">
                <a:alpha val="7300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6" name="Shape 34"/>
          <p:cNvSpPr/>
          <p:nvPr/>
        </p:nvSpPr>
        <p:spPr>
          <a:xfrm>
            <a:off x="320040" y="5394960"/>
            <a:ext cx="11521440" cy="0"/>
          </a:xfrm>
          <a:prstGeom prst="line">
            <a:avLst/>
          </a:prstGeom>
          <a:noFill/>
          <a:ln w="4445">
            <a:solidFill>
              <a:srgbClr val="12304A">
                <a:alpha val="7300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7" name="Shape 35"/>
          <p:cNvSpPr/>
          <p:nvPr/>
        </p:nvSpPr>
        <p:spPr>
          <a:xfrm>
            <a:off x="320040" y="5852160"/>
            <a:ext cx="11521440" cy="0"/>
          </a:xfrm>
          <a:prstGeom prst="line">
            <a:avLst/>
          </a:prstGeom>
          <a:noFill/>
          <a:ln w="4445">
            <a:solidFill>
              <a:srgbClr val="12304A">
                <a:alpha val="7300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8" name="Shape 36"/>
          <p:cNvSpPr/>
          <p:nvPr/>
        </p:nvSpPr>
        <p:spPr>
          <a:xfrm>
            <a:off x="320040" y="6309360"/>
            <a:ext cx="11521440" cy="0"/>
          </a:xfrm>
          <a:prstGeom prst="line">
            <a:avLst/>
          </a:prstGeom>
          <a:noFill/>
          <a:ln w="4445">
            <a:solidFill>
              <a:srgbClr val="12304A">
                <a:alpha val="7300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9" name="Text 37"/>
          <p:cNvSpPr/>
          <p:nvPr/>
        </p:nvSpPr>
        <p:spPr>
          <a:xfrm>
            <a:off x="502920" y="38404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20" dirty="0">
                <a:solidFill>
                  <a:srgbClr val="27D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/ OBSERVABILIDAD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502920" y="694944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F5F9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Observabilidad e incidente</a:t>
            </a:r>
            <a:endParaRPr lang="en-US" sz="2700" dirty="0"/>
          </a:p>
        </p:txBody>
      </p:sp>
      <p:sp>
        <p:nvSpPr>
          <p:cNvPr id="41" name="Text 39"/>
          <p:cNvSpPr/>
          <p:nvPr/>
        </p:nvSpPr>
        <p:spPr>
          <a:xfrm>
            <a:off x="521208" y="1243584"/>
            <a:ext cx="10424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80" dirty="0">
                <a:solidFill>
                  <a:srgbClr val="9AB2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Métricas, logs y trazabilidad para detectar latencia, errores y presión sobre la base.</a:t>
            </a:r>
            <a:endParaRPr lang="en-US" sz="1280" dirty="0"/>
          </a:p>
        </p:txBody>
      </p:sp>
      <p:sp>
        <p:nvSpPr>
          <p:cNvPr id="42" name="Shape 40"/>
          <p:cNvSpPr/>
          <p:nvPr/>
        </p:nvSpPr>
        <p:spPr>
          <a:xfrm>
            <a:off x="603504" y="1828800"/>
            <a:ext cx="1993392" cy="960120"/>
          </a:xfrm>
          <a:prstGeom prst="roundRect">
            <a:avLst>
              <a:gd name="adj" fmla="val 5714"/>
            </a:avLst>
          </a:prstGeom>
          <a:solidFill>
            <a:srgbClr val="0C1B2D"/>
          </a:solidFill>
          <a:ln w="12700">
            <a:solidFill>
              <a:srgbClr val="27D3FF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3" name="Text 41"/>
          <p:cNvSpPr/>
          <p:nvPr/>
        </p:nvSpPr>
        <p:spPr>
          <a:xfrm>
            <a:off x="713232" y="1993392"/>
            <a:ext cx="17739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70" b="1" dirty="0">
                <a:solidFill>
                  <a:srgbClr val="27D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REQUESTS</a:t>
            </a:r>
            <a:endParaRPr lang="en-US" sz="970" dirty="0"/>
          </a:p>
        </p:txBody>
      </p:sp>
      <p:sp>
        <p:nvSpPr>
          <p:cNvPr id="44" name="Text 42"/>
          <p:cNvSpPr/>
          <p:nvPr/>
        </p:nvSpPr>
        <p:spPr>
          <a:xfrm>
            <a:off x="713232" y="2267712"/>
            <a:ext cx="17739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F5F9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transactions_total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2862072" y="1828800"/>
            <a:ext cx="1993392" cy="960120"/>
          </a:xfrm>
          <a:prstGeom prst="roundRect">
            <a:avLst>
              <a:gd name="adj" fmla="val 5714"/>
            </a:avLst>
          </a:prstGeom>
          <a:solidFill>
            <a:srgbClr val="0C1B2D"/>
          </a:solidFill>
          <a:ln w="12700">
            <a:solidFill>
              <a:srgbClr val="31D49B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6" name="Text 44"/>
          <p:cNvSpPr/>
          <p:nvPr/>
        </p:nvSpPr>
        <p:spPr>
          <a:xfrm>
            <a:off x="2971800" y="1993392"/>
            <a:ext cx="17739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70" b="1" dirty="0">
                <a:solidFill>
                  <a:srgbClr val="31D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SUCCESS</a:t>
            </a:r>
            <a:endParaRPr lang="en-US" sz="970" dirty="0"/>
          </a:p>
        </p:txBody>
      </p:sp>
      <p:sp>
        <p:nvSpPr>
          <p:cNvPr id="47" name="Text 45"/>
          <p:cNvSpPr/>
          <p:nvPr/>
        </p:nvSpPr>
        <p:spPr>
          <a:xfrm>
            <a:off x="2971800" y="2267712"/>
            <a:ext cx="17739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F5F9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transactions_success_total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5120640" y="1828800"/>
            <a:ext cx="1993392" cy="960120"/>
          </a:xfrm>
          <a:prstGeom prst="roundRect">
            <a:avLst>
              <a:gd name="adj" fmla="val 5714"/>
            </a:avLst>
          </a:prstGeom>
          <a:solidFill>
            <a:srgbClr val="0C1B2D"/>
          </a:solidFill>
          <a:ln w="12700">
            <a:solidFill>
              <a:srgbClr val="FF5F6D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9" name="Text 47"/>
          <p:cNvSpPr/>
          <p:nvPr/>
        </p:nvSpPr>
        <p:spPr>
          <a:xfrm>
            <a:off x="5230368" y="1993392"/>
            <a:ext cx="17739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70" b="1" dirty="0">
                <a:solidFill>
                  <a:srgbClr val="FF5F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FAILURES</a:t>
            </a:r>
            <a:endParaRPr lang="en-US" sz="970" dirty="0"/>
          </a:p>
        </p:txBody>
      </p:sp>
      <p:sp>
        <p:nvSpPr>
          <p:cNvPr id="50" name="Text 48"/>
          <p:cNvSpPr/>
          <p:nvPr/>
        </p:nvSpPr>
        <p:spPr>
          <a:xfrm>
            <a:off x="5230368" y="2267712"/>
            <a:ext cx="17739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F5F9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transactions_failed_total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7379208" y="1828800"/>
            <a:ext cx="1993392" cy="960120"/>
          </a:xfrm>
          <a:prstGeom prst="roundRect">
            <a:avLst>
              <a:gd name="adj" fmla="val 5714"/>
            </a:avLst>
          </a:prstGeom>
          <a:solidFill>
            <a:srgbClr val="0C1B2D"/>
          </a:solidFill>
          <a:ln w="12700">
            <a:solidFill>
              <a:srgbClr val="4B7BFF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52" name="Text 50"/>
          <p:cNvSpPr/>
          <p:nvPr/>
        </p:nvSpPr>
        <p:spPr>
          <a:xfrm>
            <a:off x="7488936" y="1993392"/>
            <a:ext cx="17739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70" b="1" dirty="0">
                <a:solidFill>
                  <a:srgbClr val="4B7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LATENCY</a:t>
            </a:r>
            <a:endParaRPr lang="en-US" sz="970" dirty="0"/>
          </a:p>
        </p:txBody>
      </p:sp>
      <p:sp>
        <p:nvSpPr>
          <p:cNvPr id="53" name="Text 51"/>
          <p:cNvSpPr/>
          <p:nvPr/>
        </p:nvSpPr>
        <p:spPr>
          <a:xfrm>
            <a:off x="7488936" y="2267712"/>
            <a:ext cx="17739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F5F9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transaction_duration_seconds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9637776" y="1828800"/>
            <a:ext cx="1993392" cy="960120"/>
          </a:xfrm>
          <a:prstGeom prst="roundRect">
            <a:avLst>
              <a:gd name="adj" fmla="val 5714"/>
            </a:avLst>
          </a:prstGeom>
          <a:solidFill>
            <a:srgbClr val="0C1B2D"/>
          </a:solidFill>
          <a:ln w="12700">
            <a:solidFill>
              <a:srgbClr val="FFC857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55" name="Text 53"/>
          <p:cNvSpPr/>
          <p:nvPr/>
        </p:nvSpPr>
        <p:spPr>
          <a:xfrm>
            <a:off x="9747504" y="1993392"/>
            <a:ext cx="17739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70" b="1" dirty="0">
                <a:solidFill>
                  <a:srgbClr val="FFC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 ERRORS</a:t>
            </a:r>
            <a:endParaRPr lang="en-US" sz="970" dirty="0"/>
          </a:p>
        </p:txBody>
      </p:sp>
      <p:sp>
        <p:nvSpPr>
          <p:cNvPr id="56" name="Text 54"/>
          <p:cNvSpPr/>
          <p:nvPr/>
        </p:nvSpPr>
        <p:spPr>
          <a:xfrm>
            <a:off x="9747504" y="2267712"/>
            <a:ext cx="17739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F5F9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database_errors_total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621792" y="3246120"/>
            <a:ext cx="3291840" cy="1417320"/>
          </a:xfrm>
          <a:prstGeom prst="roundRect">
            <a:avLst>
              <a:gd name="adj" fmla="val 5161"/>
            </a:avLst>
          </a:prstGeom>
          <a:solidFill>
            <a:srgbClr val="0C1B2D"/>
          </a:solidFill>
          <a:ln w="13970">
            <a:solidFill>
              <a:srgbClr val="1D3B58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58" name="Shape 56"/>
          <p:cNvSpPr/>
          <p:nvPr/>
        </p:nvSpPr>
        <p:spPr>
          <a:xfrm>
            <a:off x="658368" y="3300984"/>
            <a:ext cx="45720" cy="1307592"/>
          </a:xfrm>
          <a:prstGeom prst="rect">
            <a:avLst/>
          </a:prstGeom>
          <a:solidFill>
            <a:srgbClr val="27D3FF"/>
          </a:solidFill>
          <a:ln w="12700">
            <a:solidFill>
              <a:srgbClr val="27D3FF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59" name="Text 57"/>
          <p:cNvSpPr/>
          <p:nvPr/>
        </p:nvSpPr>
        <p:spPr>
          <a:xfrm>
            <a:off x="804672" y="3392424"/>
            <a:ext cx="2999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F5F9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Trazabilidad</a:t>
            </a:r>
            <a:endParaRPr lang="en-US" sz="1450" dirty="0"/>
          </a:p>
        </p:txBody>
      </p:sp>
      <p:sp>
        <p:nvSpPr>
          <p:cNvPr id="60" name="Text 58"/>
          <p:cNvSpPr/>
          <p:nvPr/>
        </p:nvSpPr>
        <p:spPr>
          <a:xfrm>
            <a:off x="804672" y="3739896"/>
            <a:ext cx="2971800" cy="8138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9AB2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X-Correlation-ID conecta API → Outbox → Worker → Bancs → IA.</a:t>
            </a:r>
            <a:endParaRPr lang="en-US" sz="1120" dirty="0"/>
          </a:p>
        </p:txBody>
      </p:sp>
      <p:sp>
        <p:nvSpPr>
          <p:cNvPr id="61" name="Shape 59"/>
          <p:cNvSpPr/>
          <p:nvPr/>
        </p:nvSpPr>
        <p:spPr>
          <a:xfrm>
            <a:off x="4160520" y="3246120"/>
            <a:ext cx="3291840" cy="1417320"/>
          </a:xfrm>
          <a:prstGeom prst="roundRect">
            <a:avLst>
              <a:gd name="adj" fmla="val 5161"/>
            </a:avLst>
          </a:prstGeom>
          <a:solidFill>
            <a:srgbClr val="0C1B2D"/>
          </a:solidFill>
          <a:ln w="13970">
            <a:solidFill>
              <a:srgbClr val="1D3B58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62" name="Shape 60"/>
          <p:cNvSpPr/>
          <p:nvPr/>
        </p:nvSpPr>
        <p:spPr>
          <a:xfrm>
            <a:off x="4197096" y="3300984"/>
            <a:ext cx="45720" cy="1307592"/>
          </a:xfrm>
          <a:prstGeom prst="rect">
            <a:avLst/>
          </a:prstGeom>
          <a:solidFill>
            <a:srgbClr val="FF5F6D"/>
          </a:solidFill>
          <a:ln w="12700">
            <a:solidFill>
              <a:srgbClr val="FF5F6D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63" name="Text 61"/>
          <p:cNvSpPr/>
          <p:nvPr/>
        </p:nvSpPr>
        <p:spPr>
          <a:xfrm>
            <a:off x="4343400" y="3392424"/>
            <a:ext cx="2999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F5F9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Síntomas del incidente</a:t>
            </a:r>
            <a:endParaRPr lang="en-US" sz="1450" dirty="0"/>
          </a:p>
        </p:txBody>
      </p:sp>
      <p:sp>
        <p:nvSpPr>
          <p:cNvPr id="64" name="Text 62"/>
          <p:cNvSpPr/>
          <p:nvPr/>
        </p:nvSpPr>
        <p:spPr>
          <a:xfrm>
            <a:off x="4343400" y="3739896"/>
            <a:ext cx="2971800" cy="8138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9AB2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Latencia severa, timeouts de conexión, errores y posibles deadlocks.</a:t>
            </a:r>
            <a:endParaRPr lang="en-US" sz="1120" dirty="0"/>
          </a:p>
        </p:txBody>
      </p:sp>
      <p:sp>
        <p:nvSpPr>
          <p:cNvPr id="65" name="Shape 63"/>
          <p:cNvSpPr/>
          <p:nvPr/>
        </p:nvSpPr>
        <p:spPr>
          <a:xfrm>
            <a:off x="7699248" y="324612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0C1B2D"/>
          </a:solidFill>
          <a:ln w="13970">
            <a:solidFill>
              <a:srgbClr val="1D3B58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66" name="Shape 64"/>
          <p:cNvSpPr/>
          <p:nvPr/>
        </p:nvSpPr>
        <p:spPr>
          <a:xfrm>
            <a:off x="7735824" y="3300984"/>
            <a:ext cx="45720" cy="1307592"/>
          </a:xfrm>
          <a:prstGeom prst="rect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67" name="Text 65"/>
          <p:cNvSpPr/>
          <p:nvPr/>
        </p:nvSpPr>
        <p:spPr>
          <a:xfrm>
            <a:off x="7882128" y="3392424"/>
            <a:ext cx="3227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F5F9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Diagnóstico MariaDB</a:t>
            </a:r>
            <a:endParaRPr lang="en-US" sz="1450" dirty="0"/>
          </a:p>
        </p:txBody>
      </p:sp>
      <p:sp>
        <p:nvSpPr>
          <p:cNvPr id="68" name="Text 66"/>
          <p:cNvSpPr/>
          <p:nvPr/>
        </p:nvSpPr>
        <p:spPr>
          <a:xfrm>
            <a:off x="7882128" y="3739896"/>
            <a:ext cx="3200400" cy="8138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9AB2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 FULL PROCESSLIST</a:t>
            </a: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9AB2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INNODB_TRX</a:t>
            </a: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9AB2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 ENGINE INNODB STATUS</a:t>
            </a:r>
            <a:endParaRPr lang="en-US" sz="1120" dirty="0"/>
          </a:p>
        </p:txBody>
      </p:sp>
      <p:sp>
        <p:nvSpPr>
          <p:cNvPr id="69" name="Text 67"/>
          <p:cNvSpPr/>
          <p:nvPr/>
        </p:nvSpPr>
        <p:spPr>
          <a:xfrm>
            <a:off x="640080" y="5010912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F9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Respuesta operacional</a:t>
            </a:r>
            <a:endParaRPr lang="en-US" sz="1300" dirty="0"/>
          </a:p>
        </p:txBody>
      </p:sp>
      <p:sp>
        <p:nvSpPr>
          <p:cNvPr id="70" name="Shape 68"/>
          <p:cNvSpPr/>
          <p:nvPr/>
        </p:nvSpPr>
        <p:spPr>
          <a:xfrm>
            <a:off x="658368" y="5413248"/>
            <a:ext cx="2487168" cy="310896"/>
          </a:xfrm>
          <a:prstGeom prst="roundRect">
            <a:avLst>
              <a:gd name="adj" fmla="val 35294"/>
            </a:avLst>
          </a:prstGeom>
          <a:solidFill>
            <a:srgbClr val="27D3FF">
              <a:alpha val="18000"/>
            </a:srgbClr>
          </a:solidFill>
          <a:ln w="10160">
            <a:solidFill>
              <a:srgbClr val="27D3FF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71" name="Text 69"/>
          <p:cNvSpPr/>
          <p:nvPr/>
        </p:nvSpPr>
        <p:spPr>
          <a:xfrm>
            <a:off x="713232" y="5472684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40" b="1" dirty="0">
                <a:solidFill>
                  <a:srgbClr val="27D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Identificar el cuello de botella</a:t>
            </a:r>
            <a:endParaRPr lang="en-US" sz="940" dirty="0"/>
          </a:p>
        </p:txBody>
      </p:sp>
      <p:sp>
        <p:nvSpPr>
          <p:cNvPr id="72" name="Shape 70"/>
          <p:cNvSpPr/>
          <p:nvPr/>
        </p:nvSpPr>
        <p:spPr>
          <a:xfrm>
            <a:off x="3447288" y="5413248"/>
            <a:ext cx="2487168" cy="310896"/>
          </a:xfrm>
          <a:prstGeom prst="roundRect">
            <a:avLst>
              <a:gd name="adj" fmla="val 35294"/>
            </a:avLst>
          </a:prstGeom>
          <a:solidFill>
            <a:srgbClr val="4B7BFF">
              <a:alpha val="18000"/>
            </a:srgbClr>
          </a:solidFill>
          <a:ln w="10160">
            <a:solidFill>
              <a:srgbClr val="4B7BFF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73" name="Text 71"/>
          <p:cNvSpPr/>
          <p:nvPr/>
        </p:nvSpPr>
        <p:spPr>
          <a:xfrm>
            <a:off x="3502152" y="5472684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40" b="1" dirty="0">
                <a:solidFill>
                  <a:srgbClr val="4B7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Reducir carga no crítica / revisar pool</a:t>
            </a:r>
            <a:endParaRPr lang="en-US" sz="940" dirty="0"/>
          </a:p>
        </p:txBody>
      </p:sp>
      <p:sp>
        <p:nvSpPr>
          <p:cNvPr id="74" name="Shape 72"/>
          <p:cNvSpPr/>
          <p:nvPr/>
        </p:nvSpPr>
        <p:spPr>
          <a:xfrm>
            <a:off x="6236208" y="5413248"/>
            <a:ext cx="2487168" cy="310896"/>
          </a:xfrm>
          <a:prstGeom prst="roundRect">
            <a:avLst>
              <a:gd name="adj" fmla="val 35294"/>
            </a:avLst>
          </a:prstGeom>
          <a:solidFill>
            <a:srgbClr val="31D49B">
              <a:alpha val="18000"/>
            </a:srgbClr>
          </a:solidFill>
          <a:ln w="10160">
            <a:solidFill>
              <a:srgbClr val="31D49B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75" name="Text 73"/>
          <p:cNvSpPr/>
          <p:nvPr/>
        </p:nvSpPr>
        <p:spPr>
          <a:xfrm>
            <a:off x="6291072" y="5472684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40" b="1" dirty="0">
                <a:solidFill>
                  <a:srgbClr val="31D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Validar recuperación y backlog del Outbox</a:t>
            </a:r>
            <a:endParaRPr lang="en-US" sz="940" dirty="0"/>
          </a:p>
        </p:txBody>
      </p:sp>
      <p:sp>
        <p:nvSpPr>
          <p:cNvPr id="76" name="Shape 74"/>
          <p:cNvSpPr/>
          <p:nvPr/>
        </p:nvSpPr>
        <p:spPr>
          <a:xfrm>
            <a:off x="9025128" y="5413248"/>
            <a:ext cx="2487168" cy="310896"/>
          </a:xfrm>
          <a:prstGeom prst="roundRect">
            <a:avLst>
              <a:gd name="adj" fmla="val 35294"/>
            </a:avLst>
          </a:prstGeom>
          <a:solidFill>
            <a:srgbClr val="8C65FF">
              <a:alpha val="18000"/>
            </a:srgbClr>
          </a:solidFill>
          <a:ln w="10160">
            <a:solidFill>
              <a:srgbClr val="8C65FF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77" name="Text 75"/>
          <p:cNvSpPr/>
          <p:nvPr/>
        </p:nvSpPr>
        <p:spPr>
          <a:xfrm>
            <a:off x="9079992" y="5472684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40" b="1" dirty="0">
                <a:solidFill>
                  <a:srgbClr val="8C6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Documentar postmortem y acciones preventivas</a:t>
            </a:r>
            <a:endParaRPr lang="en-US" sz="940" dirty="0"/>
          </a:p>
        </p:txBody>
      </p:sp>
      <p:sp>
        <p:nvSpPr>
          <p:cNvPr id="7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73952"/>
            <a:ext cx="36576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F8CA8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74320"/>
            <a:ext cx="0" cy="6035040"/>
          </a:xfrm>
          <a:prstGeom prst="line">
            <a:avLst/>
          </a:prstGeom>
          <a:noFill/>
          <a:ln w="4445">
            <a:solidFill>
              <a:srgbClr val="12304A">
                <a:alpha val="7200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" name="Shape 1"/>
          <p:cNvSpPr/>
          <p:nvPr/>
        </p:nvSpPr>
        <p:spPr>
          <a:xfrm>
            <a:off x="914400" y="274320"/>
            <a:ext cx="0" cy="6035040"/>
          </a:xfrm>
          <a:prstGeom prst="line">
            <a:avLst/>
          </a:prstGeom>
          <a:noFill/>
          <a:ln w="4445">
            <a:solidFill>
              <a:srgbClr val="12304A">
                <a:alpha val="7200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" name="Shape 2"/>
          <p:cNvSpPr/>
          <p:nvPr/>
        </p:nvSpPr>
        <p:spPr>
          <a:xfrm>
            <a:off x="1417320" y="274320"/>
            <a:ext cx="0" cy="6035040"/>
          </a:xfrm>
          <a:prstGeom prst="line">
            <a:avLst/>
          </a:prstGeom>
          <a:noFill/>
          <a:ln w="4445">
            <a:solidFill>
              <a:srgbClr val="12304A">
                <a:alpha val="7200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5" name="Shape 3"/>
          <p:cNvSpPr/>
          <p:nvPr/>
        </p:nvSpPr>
        <p:spPr>
          <a:xfrm>
            <a:off x="1920240" y="274320"/>
            <a:ext cx="0" cy="6035040"/>
          </a:xfrm>
          <a:prstGeom prst="line">
            <a:avLst/>
          </a:prstGeom>
          <a:noFill/>
          <a:ln w="4445">
            <a:solidFill>
              <a:srgbClr val="12304A">
                <a:alpha val="7200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6" name="Shape 4"/>
          <p:cNvSpPr/>
          <p:nvPr/>
        </p:nvSpPr>
        <p:spPr>
          <a:xfrm>
            <a:off x="2423160" y="274320"/>
            <a:ext cx="0" cy="6035040"/>
          </a:xfrm>
          <a:prstGeom prst="line">
            <a:avLst/>
          </a:prstGeom>
          <a:noFill/>
          <a:ln w="4445">
            <a:solidFill>
              <a:srgbClr val="12304A">
                <a:alpha val="7200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7" name="Shape 5"/>
          <p:cNvSpPr/>
          <p:nvPr/>
        </p:nvSpPr>
        <p:spPr>
          <a:xfrm>
            <a:off x="2926080" y="274320"/>
            <a:ext cx="0" cy="6035040"/>
          </a:xfrm>
          <a:prstGeom prst="line">
            <a:avLst/>
          </a:prstGeom>
          <a:noFill/>
          <a:ln w="4445">
            <a:solidFill>
              <a:srgbClr val="12304A">
                <a:alpha val="7200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8" name="Shape 6"/>
          <p:cNvSpPr/>
          <p:nvPr/>
        </p:nvSpPr>
        <p:spPr>
          <a:xfrm>
            <a:off x="3429000" y="274320"/>
            <a:ext cx="0" cy="6035040"/>
          </a:xfrm>
          <a:prstGeom prst="line">
            <a:avLst/>
          </a:prstGeom>
          <a:noFill/>
          <a:ln w="4445">
            <a:solidFill>
              <a:srgbClr val="12304A">
                <a:alpha val="7200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9" name="Shape 7"/>
          <p:cNvSpPr/>
          <p:nvPr/>
        </p:nvSpPr>
        <p:spPr>
          <a:xfrm>
            <a:off x="3931920" y="274320"/>
            <a:ext cx="0" cy="6035040"/>
          </a:xfrm>
          <a:prstGeom prst="line">
            <a:avLst/>
          </a:prstGeom>
          <a:noFill/>
          <a:ln w="4445">
            <a:solidFill>
              <a:srgbClr val="12304A">
                <a:alpha val="7200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0" name="Shape 8"/>
          <p:cNvSpPr/>
          <p:nvPr/>
        </p:nvSpPr>
        <p:spPr>
          <a:xfrm>
            <a:off x="4434840" y="274320"/>
            <a:ext cx="0" cy="6035040"/>
          </a:xfrm>
          <a:prstGeom prst="line">
            <a:avLst/>
          </a:prstGeom>
          <a:noFill/>
          <a:ln w="4445">
            <a:solidFill>
              <a:srgbClr val="12304A">
                <a:alpha val="7200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1" name="Shape 9"/>
          <p:cNvSpPr/>
          <p:nvPr/>
        </p:nvSpPr>
        <p:spPr>
          <a:xfrm>
            <a:off x="4937760" y="274320"/>
            <a:ext cx="0" cy="6035040"/>
          </a:xfrm>
          <a:prstGeom prst="line">
            <a:avLst/>
          </a:prstGeom>
          <a:noFill/>
          <a:ln w="4445">
            <a:solidFill>
              <a:srgbClr val="12304A">
                <a:alpha val="7200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2" name="Shape 10"/>
          <p:cNvSpPr/>
          <p:nvPr/>
        </p:nvSpPr>
        <p:spPr>
          <a:xfrm>
            <a:off x="5440680" y="274320"/>
            <a:ext cx="0" cy="6035040"/>
          </a:xfrm>
          <a:prstGeom prst="line">
            <a:avLst/>
          </a:prstGeom>
          <a:noFill/>
          <a:ln w="4445">
            <a:solidFill>
              <a:srgbClr val="12304A">
                <a:alpha val="7200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3" name="Shape 11"/>
          <p:cNvSpPr/>
          <p:nvPr/>
        </p:nvSpPr>
        <p:spPr>
          <a:xfrm>
            <a:off x="5943600" y="274320"/>
            <a:ext cx="0" cy="6035040"/>
          </a:xfrm>
          <a:prstGeom prst="line">
            <a:avLst/>
          </a:prstGeom>
          <a:noFill/>
          <a:ln w="4445">
            <a:solidFill>
              <a:srgbClr val="12304A">
                <a:alpha val="7200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4" name="Shape 12"/>
          <p:cNvSpPr/>
          <p:nvPr/>
        </p:nvSpPr>
        <p:spPr>
          <a:xfrm>
            <a:off x="6446520" y="274320"/>
            <a:ext cx="0" cy="6035040"/>
          </a:xfrm>
          <a:prstGeom prst="line">
            <a:avLst/>
          </a:prstGeom>
          <a:noFill/>
          <a:ln w="4445">
            <a:solidFill>
              <a:srgbClr val="12304A">
                <a:alpha val="7200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5" name="Shape 13"/>
          <p:cNvSpPr/>
          <p:nvPr/>
        </p:nvSpPr>
        <p:spPr>
          <a:xfrm>
            <a:off x="6949440" y="274320"/>
            <a:ext cx="0" cy="6035040"/>
          </a:xfrm>
          <a:prstGeom prst="line">
            <a:avLst/>
          </a:prstGeom>
          <a:noFill/>
          <a:ln w="4445">
            <a:solidFill>
              <a:srgbClr val="12304A">
                <a:alpha val="7200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6" name="Shape 14"/>
          <p:cNvSpPr/>
          <p:nvPr/>
        </p:nvSpPr>
        <p:spPr>
          <a:xfrm>
            <a:off x="7452360" y="274320"/>
            <a:ext cx="0" cy="6035040"/>
          </a:xfrm>
          <a:prstGeom prst="line">
            <a:avLst/>
          </a:prstGeom>
          <a:noFill/>
          <a:ln w="4445">
            <a:solidFill>
              <a:srgbClr val="12304A">
                <a:alpha val="7200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7" name="Shape 15"/>
          <p:cNvSpPr/>
          <p:nvPr/>
        </p:nvSpPr>
        <p:spPr>
          <a:xfrm>
            <a:off x="7955280" y="274320"/>
            <a:ext cx="0" cy="6035040"/>
          </a:xfrm>
          <a:prstGeom prst="line">
            <a:avLst/>
          </a:prstGeom>
          <a:noFill/>
          <a:ln w="4445">
            <a:solidFill>
              <a:srgbClr val="12304A">
                <a:alpha val="7200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8" name="Shape 16"/>
          <p:cNvSpPr/>
          <p:nvPr/>
        </p:nvSpPr>
        <p:spPr>
          <a:xfrm>
            <a:off x="8458200" y="274320"/>
            <a:ext cx="0" cy="6035040"/>
          </a:xfrm>
          <a:prstGeom prst="line">
            <a:avLst/>
          </a:prstGeom>
          <a:noFill/>
          <a:ln w="4445">
            <a:solidFill>
              <a:srgbClr val="12304A">
                <a:alpha val="7200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9" name="Shape 17"/>
          <p:cNvSpPr/>
          <p:nvPr/>
        </p:nvSpPr>
        <p:spPr>
          <a:xfrm>
            <a:off x="8961120" y="274320"/>
            <a:ext cx="0" cy="6035040"/>
          </a:xfrm>
          <a:prstGeom prst="line">
            <a:avLst/>
          </a:prstGeom>
          <a:noFill/>
          <a:ln w="4445">
            <a:solidFill>
              <a:srgbClr val="12304A">
                <a:alpha val="7200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0" name="Shape 18"/>
          <p:cNvSpPr/>
          <p:nvPr/>
        </p:nvSpPr>
        <p:spPr>
          <a:xfrm>
            <a:off x="9464040" y="274320"/>
            <a:ext cx="0" cy="6035040"/>
          </a:xfrm>
          <a:prstGeom prst="line">
            <a:avLst/>
          </a:prstGeom>
          <a:noFill/>
          <a:ln w="4445">
            <a:solidFill>
              <a:srgbClr val="12304A">
                <a:alpha val="7200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1" name="Shape 19"/>
          <p:cNvSpPr/>
          <p:nvPr/>
        </p:nvSpPr>
        <p:spPr>
          <a:xfrm>
            <a:off x="9966960" y="274320"/>
            <a:ext cx="0" cy="6035040"/>
          </a:xfrm>
          <a:prstGeom prst="line">
            <a:avLst/>
          </a:prstGeom>
          <a:noFill/>
          <a:ln w="4445">
            <a:solidFill>
              <a:srgbClr val="12304A">
                <a:alpha val="7200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2" name="Shape 20"/>
          <p:cNvSpPr/>
          <p:nvPr/>
        </p:nvSpPr>
        <p:spPr>
          <a:xfrm>
            <a:off x="10469880" y="274320"/>
            <a:ext cx="0" cy="6035040"/>
          </a:xfrm>
          <a:prstGeom prst="line">
            <a:avLst/>
          </a:prstGeom>
          <a:noFill/>
          <a:ln w="4445">
            <a:solidFill>
              <a:srgbClr val="12304A">
                <a:alpha val="7200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3" name="Shape 21"/>
          <p:cNvSpPr/>
          <p:nvPr/>
        </p:nvSpPr>
        <p:spPr>
          <a:xfrm>
            <a:off x="10972800" y="274320"/>
            <a:ext cx="0" cy="6035040"/>
          </a:xfrm>
          <a:prstGeom prst="line">
            <a:avLst/>
          </a:prstGeom>
          <a:noFill/>
          <a:ln w="4445">
            <a:solidFill>
              <a:srgbClr val="12304A">
                <a:alpha val="7200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4" name="Shape 22"/>
          <p:cNvSpPr/>
          <p:nvPr/>
        </p:nvSpPr>
        <p:spPr>
          <a:xfrm>
            <a:off x="11475720" y="274320"/>
            <a:ext cx="0" cy="6035040"/>
          </a:xfrm>
          <a:prstGeom prst="line">
            <a:avLst/>
          </a:prstGeom>
          <a:noFill/>
          <a:ln w="4445">
            <a:solidFill>
              <a:srgbClr val="12304A">
                <a:alpha val="7200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5" name="Shape 23"/>
          <p:cNvSpPr/>
          <p:nvPr/>
        </p:nvSpPr>
        <p:spPr>
          <a:xfrm>
            <a:off x="320040" y="365760"/>
            <a:ext cx="11521440" cy="0"/>
          </a:xfrm>
          <a:prstGeom prst="line">
            <a:avLst/>
          </a:prstGeom>
          <a:noFill/>
          <a:ln w="4445">
            <a:solidFill>
              <a:srgbClr val="12304A">
                <a:alpha val="7200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6" name="Shape 24"/>
          <p:cNvSpPr/>
          <p:nvPr/>
        </p:nvSpPr>
        <p:spPr>
          <a:xfrm>
            <a:off x="320040" y="822960"/>
            <a:ext cx="11521440" cy="0"/>
          </a:xfrm>
          <a:prstGeom prst="line">
            <a:avLst/>
          </a:prstGeom>
          <a:noFill/>
          <a:ln w="4445">
            <a:solidFill>
              <a:srgbClr val="12304A">
                <a:alpha val="7200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7" name="Shape 25"/>
          <p:cNvSpPr/>
          <p:nvPr/>
        </p:nvSpPr>
        <p:spPr>
          <a:xfrm>
            <a:off x="320040" y="1280160"/>
            <a:ext cx="11521440" cy="0"/>
          </a:xfrm>
          <a:prstGeom prst="line">
            <a:avLst/>
          </a:prstGeom>
          <a:noFill/>
          <a:ln w="4445">
            <a:solidFill>
              <a:srgbClr val="12304A">
                <a:alpha val="7200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8" name="Shape 26"/>
          <p:cNvSpPr/>
          <p:nvPr/>
        </p:nvSpPr>
        <p:spPr>
          <a:xfrm>
            <a:off x="320040" y="1737360"/>
            <a:ext cx="11521440" cy="0"/>
          </a:xfrm>
          <a:prstGeom prst="line">
            <a:avLst/>
          </a:prstGeom>
          <a:noFill/>
          <a:ln w="4445">
            <a:solidFill>
              <a:srgbClr val="12304A">
                <a:alpha val="7200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9" name="Shape 27"/>
          <p:cNvSpPr/>
          <p:nvPr/>
        </p:nvSpPr>
        <p:spPr>
          <a:xfrm>
            <a:off x="320040" y="2194560"/>
            <a:ext cx="11521440" cy="0"/>
          </a:xfrm>
          <a:prstGeom prst="line">
            <a:avLst/>
          </a:prstGeom>
          <a:noFill/>
          <a:ln w="4445">
            <a:solidFill>
              <a:srgbClr val="12304A">
                <a:alpha val="7200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0" name="Shape 28"/>
          <p:cNvSpPr/>
          <p:nvPr/>
        </p:nvSpPr>
        <p:spPr>
          <a:xfrm>
            <a:off x="320040" y="2651760"/>
            <a:ext cx="11521440" cy="0"/>
          </a:xfrm>
          <a:prstGeom prst="line">
            <a:avLst/>
          </a:prstGeom>
          <a:noFill/>
          <a:ln w="4445">
            <a:solidFill>
              <a:srgbClr val="12304A">
                <a:alpha val="7200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1" name="Shape 29"/>
          <p:cNvSpPr/>
          <p:nvPr/>
        </p:nvSpPr>
        <p:spPr>
          <a:xfrm>
            <a:off x="320040" y="3108960"/>
            <a:ext cx="11521440" cy="0"/>
          </a:xfrm>
          <a:prstGeom prst="line">
            <a:avLst/>
          </a:prstGeom>
          <a:noFill/>
          <a:ln w="4445">
            <a:solidFill>
              <a:srgbClr val="12304A">
                <a:alpha val="7200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2" name="Shape 30"/>
          <p:cNvSpPr/>
          <p:nvPr/>
        </p:nvSpPr>
        <p:spPr>
          <a:xfrm>
            <a:off x="320040" y="3566160"/>
            <a:ext cx="11521440" cy="0"/>
          </a:xfrm>
          <a:prstGeom prst="line">
            <a:avLst/>
          </a:prstGeom>
          <a:noFill/>
          <a:ln w="4445">
            <a:solidFill>
              <a:srgbClr val="12304A">
                <a:alpha val="7200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3" name="Shape 31"/>
          <p:cNvSpPr/>
          <p:nvPr/>
        </p:nvSpPr>
        <p:spPr>
          <a:xfrm>
            <a:off x="320040" y="4023360"/>
            <a:ext cx="11521440" cy="0"/>
          </a:xfrm>
          <a:prstGeom prst="line">
            <a:avLst/>
          </a:prstGeom>
          <a:noFill/>
          <a:ln w="4445">
            <a:solidFill>
              <a:srgbClr val="12304A">
                <a:alpha val="7200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4" name="Shape 32"/>
          <p:cNvSpPr/>
          <p:nvPr/>
        </p:nvSpPr>
        <p:spPr>
          <a:xfrm>
            <a:off x="320040" y="4480560"/>
            <a:ext cx="11521440" cy="0"/>
          </a:xfrm>
          <a:prstGeom prst="line">
            <a:avLst/>
          </a:prstGeom>
          <a:noFill/>
          <a:ln w="4445">
            <a:solidFill>
              <a:srgbClr val="12304A">
                <a:alpha val="7200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5" name="Shape 33"/>
          <p:cNvSpPr/>
          <p:nvPr/>
        </p:nvSpPr>
        <p:spPr>
          <a:xfrm>
            <a:off x="320040" y="4937760"/>
            <a:ext cx="11521440" cy="0"/>
          </a:xfrm>
          <a:prstGeom prst="line">
            <a:avLst/>
          </a:prstGeom>
          <a:noFill/>
          <a:ln w="4445">
            <a:solidFill>
              <a:srgbClr val="12304A">
                <a:alpha val="7200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6" name="Shape 34"/>
          <p:cNvSpPr/>
          <p:nvPr/>
        </p:nvSpPr>
        <p:spPr>
          <a:xfrm>
            <a:off x="320040" y="5394960"/>
            <a:ext cx="11521440" cy="0"/>
          </a:xfrm>
          <a:prstGeom prst="line">
            <a:avLst/>
          </a:prstGeom>
          <a:noFill/>
          <a:ln w="4445">
            <a:solidFill>
              <a:srgbClr val="12304A">
                <a:alpha val="7200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7" name="Shape 35"/>
          <p:cNvSpPr/>
          <p:nvPr/>
        </p:nvSpPr>
        <p:spPr>
          <a:xfrm>
            <a:off x="320040" y="5852160"/>
            <a:ext cx="11521440" cy="0"/>
          </a:xfrm>
          <a:prstGeom prst="line">
            <a:avLst/>
          </a:prstGeom>
          <a:noFill/>
          <a:ln w="4445">
            <a:solidFill>
              <a:srgbClr val="12304A">
                <a:alpha val="7200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8" name="Shape 36"/>
          <p:cNvSpPr/>
          <p:nvPr/>
        </p:nvSpPr>
        <p:spPr>
          <a:xfrm>
            <a:off x="320040" y="6309360"/>
            <a:ext cx="11521440" cy="0"/>
          </a:xfrm>
          <a:prstGeom prst="line">
            <a:avLst/>
          </a:prstGeom>
          <a:noFill/>
          <a:ln w="4445">
            <a:solidFill>
              <a:srgbClr val="12304A">
                <a:alpha val="7200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9" name="Text 37"/>
          <p:cNvSpPr/>
          <p:nvPr/>
        </p:nvSpPr>
        <p:spPr>
          <a:xfrm>
            <a:off x="502920" y="38404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20" dirty="0">
                <a:solidFill>
                  <a:srgbClr val="27D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/ CALIDAD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502920" y="694944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F5F9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Pruebas y despliegue reproducible</a:t>
            </a:r>
            <a:endParaRPr lang="en-US" sz="2700" dirty="0"/>
          </a:p>
        </p:txBody>
      </p:sp>
      <p:sp>
        <p:nvSpPr>
          <p:cNvPr id="41" name="Text 39"/>
          <p:cNvSpPr/>
          <p:nvPr/>
        </p:nvSpPr>
        <p:spPr>
          <a:xfrm>
            <a:off x="521208" y="1243584"/>
            <a:ext cx="10424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80" dirty="0">
                <a:solidFill>
                  <a:srgbClr val="9AB2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evaluador puede levantar el MVP completo con un solo comando.</a:t>
            </a:r>
            <a:endParaRPr lang="en-US" sz="1280" dirty="0"/>
          </a:p>
        </p:txBody>
      </p:sp>
      <p:sp>
        <p:nvSpPr>
          <p:cNvPr id="42" name="Text 40"/>
          <p:cNvSpPr/>
          <p:nvPr/>
        </p:nvSpPr>
        <p:spPr>
          <a:xfrm>
            <a:off x="640080" y="1783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F9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Pytest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658368" y="2212848"/>
            <a:ext cx="3246120" cy="484632"/>
          </a:xfrm>
          <a:prstGeom prst="roundRect">
            <a:avLst>
              <a:gd name="adj" fmla="val 9434"/>
            </a:avLst>
          </a:prstGeom>
          <a:solidFill>
            <a:srgbClr val="0C1B2D"/>
          </a:solidFill>
          <a:ln w="12700">
            <a:solidFill>
              <a:srgbClr val="31D49B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4" name="Text 42"/>
          <p:cNvSpPr/>
          <p:nvPr/>
        </p:nvSpPr>
        <p:spPr>
          <a:xfrm>
            <a:off x="822960" y="2322576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1D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1133856" y="2304288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5F9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Transferencia correcta</a:t>
            </a:r>
            <a:endParaRPr lang="en-US" sz="1150" dirty="0"/>
          </a:p>
        </p:txBody>
      </p:sp>
      <p:sp>
        <p:nvSpPr>
          <p:cNvPr id="46" name="Shape 44"/>
          <p:cNvSpPr/>
          <p:nvPr/>
        </p:nvSpPr>
        <p:spPr>
          <a:xfrm>
            <a:off x="658368" y="2871216"/>
            <a:ext cx="3246120" cy="484632"/>
          </a:xfrm>
          <a:prstGeom prst="roundRect">
            <a:avLst>
              <a:gd name="adj" fmla="val 9434"/>
            </a:avLst>
          </a:prstGeom>
          <a:solidFill>
            <a:srgbClr val="0C1B2D"/>
          </a:solidFill>
          <a:ln w="12700">
            <a:solidFill>
              <a:srgbClr val="FF5F6D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7" name="Text 45"/>
          <p:cNvSpPr/>
          <p:nvPr/>
        </p:nvSpPr>
        <p:spPr>
          <a:xfrm>
            <a:off x="822960" y="2980944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5F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1133856" y="2962656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5F9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Saldo insuficiente</a:t>
            </a:r>
            <a:endParaRPr lang="en-US" sz="1150" dirty="0"/>
          </a:p>
        </p:txBody>
      </p:sp>
      <p:sp>
        <p:nvSpPr>
          <p:cNvPr id="49" name="Shape 47"/>
          <p:cNvSpPr/>
          <p:nvPr/>
        </p:nvSpPr>
        <p:spPr>
          <a:xfrm>
            <a:off x="658368" y="3529584"/>
            <a:ext cx="3246120" cy="484632"/>
          </a:xfrm>
          <a:prstGeom prst="roundRect">
            <a:avLst>
              <a:gd name="adj" fmla="val 9434"/>
            </a:avLst>
          </a:prstGeom>
          <a:solidFill>
            <a:srgbClr val="0C1B2D"/>
          </a:solidFill>
          <a:ln w="12700">
            <a:solidFill>
              <a:srgbClr val="27D3FF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50" name="Text 48"/>
          <p:cNvSpPr/>
          <p:nvPr/>
        </p:nvSpPr>
        <p:spPr>
          <a:xfrm>
            <a:off x="822960" y="3639312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7D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1133856" y="3621024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5F9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Idempotencia</a:t>
            </a:r>
            <a:endParaRPr lang="en-US" sz="1150" dirty="0"/>
          </a:p>
        </p:txBody>
      </p:sp>
      <p:sp>
        <p:nvSpPr>
          <p:cNvPr id="52" name="Shape 50"/>
          <p:cNvSpPr/>
          <p:nvPr/>
        </p:nvSpPr>
        <p:spPr>
          <a:xfrm>
            <a:off x="658368" y="4187952"/>
            <a:ext cx="3246120" cy="484632"/>
          </a:xfrm>
          <a:prstGeom prst="roundRect">
            <a:avLst>
              <a:gd name="adj" fmla="val 9434"/>
            </a:avLst>
          </a:prstGeom>
          <a:solidFill>
            <a:srgbClr val="0C1B2D"/>
          </a:solidFill>
          <a:ln w="12700">
            <a:solidFill>
              <a:srgbClr val="4B7BFF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53" name="Text 51"/>
          <p:cNvSpPr/>
          <p:nvPr/>
        </p:nvSpPr>
        <p:spPr>
          <a:xfrm>
            <a:off x="822960" y="4297680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B7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1133856" y="4279392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5F9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Concurrencia</a:t>
            </a:r>
            <a:endParaRPr lang="en-US" sz="1150" dirty="0"/>
          </a:p>
        </p:txBody>
      </p:sp>
      <p:sp>
        <p:nvSpPr>
          <p:cNvPr id="55" name="Text 53"/>
          <p:cNvSpPr/>
          <p:nvPr/>
        </p:nvSpPr>
        <p:spPr>
          <a:xfrm>
            <a:off x="4434840" y="17830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F9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Compose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4434840" y="2212848"/>
            <a:ext cx="2011680" cy="621792"/>
          </a:xfrm>
          <a:prstGeom prst="roundRect">
            <a:avLst>
              <a:gd name="adj" fmla="val 8824"/>
            </a:avLst>
          </a:prstGeom>
          <a:solidFill>
            <a:srgbClr val="0C1B2D"/>
          </a:solidFill>
          <a:ln w="15240">
            <a:solidFill>
              <a:srgbClr val="27D3FF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57" name="Text 55"/>
          <p:cNvSpPr/>
          <p:nvPr/>
        </p:nvSpPr>
        <p:spPr>
          <a:xfrm>
            <a:off x="4526280" y="235915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F9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</a:t>
            </a:r>
            <a:endParaRPr lang="en-US" sz="1300" dirty="0"/>
          </a:p>
        </p:txBody>
      </p:sp>
      <p:sp>
        <p:nvSpPr>
          <p:cNvPr id="58" name="Text 56"/>
          <p:cNvSpPr/>
          <p:nvPr/>
        </p:nvSpPr>
        <p:spPr>
          <a:xfrm>
            <a:off x="4544568" y="2679192"/>
            <a:ext cx="1792224" cy="640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70" dirty="0">
                <a:solidFill>
                  <a:srgbClr val="9AB2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8000</a:t>
            </a:r>
            <a:endParaRPr lang="en-US" sz="970" dirty="0"/>
          </a:p>
        </p:txBody>
      </p:sp>
      <p:sp>
        <p:nvSpPr>
          <p:cNvPr id="59" name="Shape 57"/>
          <p:cNvSpPr/>
          <p:nvPr/>
        </p:nvSpPr>
        <p:spPr>
          <a:xfrm>
            <a:off x="4434840" y="3035808"/>
            <a:ext cx="2011680" cy="621792"/>
          </a:xfrm>
          <a:prstGeom prst="roundRect">
            <a:avLst>
              <a:gd name="adj" fmla="val 8824"/>
            </a:avLst>
          </a:prstGeom>
          <a:solidFill>
            <a:srgbClr val="0C1B2D"/>
          </a:solidFill>
          <a:ln w="15240">
            <a:solidFill>
              <a:srgbClr val="8C65FF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60" name="Text 58"/>
          <p:cNvSpPr/>
          <p:nvPr/>
        </p:nvSpPr>
        <p:spPr>
          <a:xfrm>
            <a:off x="4526280" y="318211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F9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</a:t>
            </a:r>
            <a:endParaRPr lang="en-US" sz="1300" dirty="0"/>
          </a:p>
        </p:txBody>
      </p:sp>
      <p:sp>
        <p:nvSpPr>
          <p:cNvPr id="61" name="Text 59"/>
          <p:cNvSpPr/>
          <p:nvPr/>
        </p:nvSpPr>
        <p:spPr>
          <a:xfrm>
            <a:off x="4544568" y="3502152"/>
            <a:ext cx="1792224" cy="640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70" dirty="0">
                <a:solidFill>
                  <a:srgbClr val="9AB2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8001</a:t>
            </a:r>
            <a:endParaRPr lang="en-US" sz="970" dirty="0"/>
          </a:p>
        </p:txBody>
      </p:sp>
      <p:sp>
        <p:nvSpPr>
          <p:cNvPr id="62" name="Shape 60"/>
          <p:cNvSpPr/>
          <p:nvPr/>
        </p:nvSpPr>
        <p:spPr>
          <a:xfrm>
            <a:off x="4434840" y="3858768"/>
            <a:ext cx="2011680" cy="621792"/>
          </a:xfrm>
          <a:prstGeom prst="roundRect">
            <a:avLst>
              <a:gd name="adj" fmla="val 8824"/>
            </a:avLst>
          </a:prstGeom>
          <a:solidFill>
            <a:srgbClr val="0C1B2D"/>
          </a:solidFill>
          <a:ln w="15240">
            <a:solidFill>
              <a:srgbClr val="FFC857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63" name="Text 61"/>
          <p:cNvSpPr/>
          <p:nvPr/>
        </p:nvSpPr>
        <p:spPr>
          <a:xfrm>
            <a:off x="4526280" y="400507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F9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Bancs</a:t>
            </a:r>
            <a:endParaRPr lang="en-US" sz="1300" dirty="0"/>
          </a:p>
        </p:txBody>
      </p:sp>
      <p:sp>
        <p:nvSpPr>
          <p:cNvPr id="64" name="Text 62"/>
          <p:cNvSpPr/>
          <p:nvPr/>
        </p:nvSpPr>
        <p:spPr>
          <a:xfrm>
            <a:off x="4544568" y="4325112"/>
            <a:ext cx="1792224" cy="640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70" dirty="0">
                <a:solidFill>
                  <a:srgbClr val="9AB2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8002</a:t>
            </a:r>
            <a:endParaRPr lang="en-US" sz="970" dirty="0"/>
          </a:p>
        </p:txBody>
      </p:sp>
      <p:sp>
        <p:nvSpPr>
          <p:cNvPr id="65" name="Shape 63"/>
          <p:cNvSpPr/>
          <p:nvPr/>
        </p:nvSpPr>
        <p:spPr>
          <a:xfrm>
            <a:off x="6793992" y="2212848"/>
            <a:ext cx="2011680" cy="621792"/>
          </a:xfrm>
          <a:prstGeom prst="roundRect">
            <a:avLst>
              <a:gd name="adj" fmla="val 8824"/>
            </a:avLst>
          </a:prstGeom>
          <a:solidFill>
            <a:srgbClr val="0C1B2D"/>
          </a:solidFill>
          <a:ln w="15240">
            <a:solidFill>
              <a:srgbClr val="4B7BFF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66" name="Text 64"/>
          <p:cNvSpPr/>
          <p:nvPr/>
        </p:nvSpPr>
        <p:spPr>
          <a:xfrm>
            <a:off x="6885432" y="235915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F9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MariaDB</a:t>
            </a:r>
            <a:endParaRPr lang="en-US" sz="1300" dirty="0"/>
          </a:p>
        </p:txBody>
      </p:sp>
      <p:sp>
        <p:nvSpPr>
          <p:cNvPr id="67" name="Text 65"/>
          <p:cNvSpPr/>
          <p:nvPr/>
        </p:nvSpPr>
        <p:spPr>
          <a:xfrm>
            <a:off x="6903720" y="2679192"/>
            <a:ext cx="1792224" cy="640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70" dirty="0">
                <a:solidFill>
                  <a:srgbClr val="9AB2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3307</a:t>
            </a:r>
            <a:endParaRPr lang="en-US" sz="970" dirty="0"/>
          </a:p>
        </p:txBody>
      </p:sp>
      <p:sp>
        <p:nvSpPr>
          <p:cNvPr id="68" name="Shape 66"/>
          <p:cNvSpPr/>
          <p:nvPr/>
        </p:nvSpPr>
        <p:spPr>
          <a:xfrm>
            <a:off x="6793992" y="3035808"/>
            <a:ext cx="2011680" cy="621792"/>
          </a:xfrm>
          <a:prstGeom prst="roundRect">
            <a:avLst>
              <a:gd name="adj" fmla="val 8824"/>
            </a:avLst>
          </a:prstGeom>
          <a:solidFill>
            <a:srgbClr val="0C1B2D"/>
          </a:solidFill>
          <a:ln w="15240">
            <a:solidFill>
              <a:srgbClr val="31D49B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69" name="Text 67"/>
          <p:cNvSpPr/>
          <p:nvPr/>
        </p:nvSpPr>
        <p:spPr>
          <a:xfrm>
            <a:off x="6885432" y="318211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F9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Worker</a:t>
            </a:r>
            <a:endParaRPr lang="en-US" sz="1300" dirty="0"/>
          </a:p>
        </p:txBody>
      </p:sp>
      <p:sp>
        <p:nvSpPr>
          <p:cNvPr id="70" name="Text 68"/>
          <p:cNvSpPr/>
          <p:nvPr/>
        </p:nvSpPr>
        <p:spPr>
          <a:xfrm>
            <a:off x="6903720" y="3502152"/>
            <a:ext cx="1792224" cy="640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70" dirty="0">
                <a:solidFill>
                  <a:srgbClr val="9AB2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async</a:t>
            </a:r>
            <a:endParaRPr lang="en-US" sz="970" dirty="0"/>
          </a:p>
        </p:txBody>
      </p:sp>
      <p:sp>
        <p:nvSpPr>
          <p:cNvPr id="71" name="Shape 69"/>
          <p:cNvSpPr/>
          <p:nvPr/>
        </p:nvSpPr>
        <p:spPr>
          <a:xfrm>
            <a:off x="8915400" y="1783080"/>
            <a:ext cx="2514600" cy="3611880"/>
          </a:xfrm>
          <a:prstGeom prst="roundRect">
            <a:avLst>
              <a:gd name="adj" fmla="val 2909"/>
            </a:avLst>
          </a:prstGeom>
          <a:solidFill>
            <a:srgbClr val="050C13"/>
          </a:solidFill>
          <a:ln w="13970">
            <a:solidFill>
              <a:srgbClr val="1D3B58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72" name="Text 70"/>
          <p:cNvSpPr/>
          <p:nvPr/>
        </p:nvSpPr>
        <p:spPr>
          <a:xfrm>
            <a:off x="9144000" y="201168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1D4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PS &gt;</a:t>
            </a:r>
            <a:endParaRPr lang="en-US" sz="1100" dirty="0"/>
          </a:p>
        </p:txBody>
      </p:sp>
      <p:sp>
        <p:nvSpPr>
          <p:cNvPr id="73" name="Text 71"/>
          <p:cNvSpPr/>
          <p:nvPr/>
        </p:nvSpPr>
        <p:spPr>
          <a:xfrm>
            <a:off x="9646920" y="201168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F5F9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compose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5F9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 --build</a:t>
            </a:r>
            <a:endParaRPr lang="en-US" sz="1150" dirty="0"/>
          </a:p>
        </p:txBody>
      </p:sp>
      <p:sp>
        <p:nvSpPr>
          <p:cNvPr id="74" name="Text 72"/>
          <p:cNvSpPr/>
          <p:nvPr/>
        </p:nvSpPr>
        <p:spPr>
          <a:xfrm>
            <a:off x="9144000" y="2880360"/>
            <a:ext cx="1645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C4D6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api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C4D6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mariadb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C4D6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worker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C4D6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mock-bancs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C4D6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ai-service</a:t>
            </a:r>
            <a:endParaRPr lang="en-US" sz="1080" dirty="0"/>
          </a:p>
        </p:txBody>
      </p:sp>
      <p:sp>
        <p:nvSpPr>
          <p:cNvPr id="75" name="Shape 73"/>
          <p:cNvSpPr/>
          <p:nvPr/>
        </p:nvSpPr>
        <p:spPr>
          <a:xfrm>
            <a:off x="9162288" y="4645152"/>
            <a:ext cx="1783080" cy="310896"/>
          </a:xfrm>
          <a:prstGeom prst="roundRect">
            <a:avLst>
              <a:gd name="adj" fmla="val 35294"/>
            </a:avLst>
          </a:prstGeom>
          <a:solidFill>
            <a:srgbClr val="31D49B">
              <a:alpha val="18000"/>
            </a:srgbClr>
          </a:solidFill>
          <a:ln w="10160">
            <a:solidFill>
              <a:srgbClr val="31D49B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76" name="Text 74"/>
          <p:cNvSpPr/>
          <p:nvPr/>
        </p:nvSpPr>
        <p:spPr>
          <a:xfrm>
            <a:off x="9217152" y="4704588"/>
            <a:ext cx="1673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40" b="1" dirty="0">
                <a:solidFill>
                  <a:srgbClr val="31D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REPRODUCIBLE</a:t>
            </a:r>
            <a:endParaRPr lang="en-US" sz="940" dirty="0"/>
          </a:p>
        </p:txBody>
      </p:sp>
      <p:sp>
        <p:nvSpPr>
          <p:cNvPr id="77" name="Text 75"/>
          <p:cNvSpPr/>
          <p:nvPr/>
        </p:nvSpPr>
        <p:spPr>
          <a:xfrm>
            <a:off x="658368" y="5440680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40" dirty="0">
                <a:solidFill>
                  <a:srgbClr val="9AB2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Entrega: código + configuración + pruebas + documentación técnica + evidencia.</a:t>
            </a:r>
            <a:endParaRPr lang="en-US" sz="1240" dirty="0"/>
          </a:p>
        </p:txBody>
      </p:sp>
      <p:sp>
        <p:nvSpPr>
          <p:cNvPr id="7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73952"/>
            <a:ext cx="36576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F8CA8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74320"/>
            <a:ext cx="0" cy="6035040"/>
          </a:xfrm>
          <a:prstGeom prst="line">
            <a:avLst/>
          </a:prstGeom>
          <a:noFill/>
          <a:ln w="4445">
            <a:solidFill>
              <a:srgbClr val="12304A">
                <a:alpha val="7600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" name="Shape 1"/>
          <p:cNvSpPr/>
          <p:nvPr/>
        </p:nvSpPr>
        <p:spPr>
          <a:xfrm>
            <a:off x="914400" y="274320"/>
            <a:ext cx="0" cy="6035040"/>
          </a:xfrm>
          <a:prstGeom prst="line">
            <a:avLst/>
          </a:prstGeom>
          <a:noFill/>
          <a:ln w="4445">
            <a:solidFill>
              <a:srgbClr val="12304A">
                <a:alpha val="7600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" name="Shape 2"/>
          <p:cNvSpPr/>
          <p:nvPr/>
        </p:nvSpPr>
        <p:spPr>
          <a:xfrm>
            <a:off x="1417320" y="274320"/>
            <a:ext cx="0" cy="6035040"/>
          </a:xfrm>
          <a:prstGeom prst="line">
            <a:avLst/>
          </a:prstGeom>
          <a:noFill/>
          <a:ln w="4445">
            <a:solidFill>
              <a:srgbClr val="12304A">
                <a:alpha val="7600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5" name="Shape 3"/>
          <p:cNvSpPr/>
          <p:nvPr/>
        </p:nvSpPr>
        <p:spPr>
          <a:xfrm>
            <a:off x="1920240" y="274320"/>
            <a:ext cx="0" cy="6035040"/>
          </a:xfrm>
          <a:prstGeom prst="line">
            <a:avLst/>
          </a:prstGeom>
          <a:noFill/>
          <a:ln w="4445">
            <a:solidFill>
              <a:srgbClr val="12304A">
                <a:alpha val="7600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6" name="Shape 4"/>
          <p:cNvSpPr/>
          <p:nvPr/>
        </p:nvSpPr>
        <p:spPr>
          <a:xfrm>
            <a:off x="2423160" y="274320"/>
            <a:ext cx="0" cy="6035040"/>
          </a:xfrm>
          <a:prstGeom prst="line">
            <a:avLst/>
          </a:prstGeom>
          <a:noFill/>
          <a:ln w="4445">
            <a:solidFill>
              <a:srgbClr val="12304A">
                <a:alpha val="7600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7" name="Shape 5"/>
          <p:cNvSpPr/>
          <p:nvPr/>
        </p:nvSpPr>
        <p:spPr>
          <a:xfrm>
            <a:off x="2926080" y="274320"/>
            <a:ext cx="0" cy="6035040"/>
          </a:xfrm>
          <a:prstGeom prst="line">
            <a:avLst/>
          </a:prstGeom>
          <a:noFill/>
          <a:ln w="4445">
            <a:solidFill>
              <a:srgbClr val="12304A">
                <a:alpha val="7600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8" name="Shape 6"/>
          <p:cNvSpPr/>
          <p:nvPr/>
        </p:nvSpPr>
        <p:spPr>
          <a:xfrm>
            <a:off x="3429000" y="274320"/>
            <a:ext cx="0" cy="6035040"/>
          </a:xfrm>
          <a:prstGeom prst="line">
            <a:avLst/>
          </a:prstGeom>
          <a:noFill/>
          <a:ln w="4445">
            <a:solidFill>
              <a:srgbClr val="12304A">
                <a:alpha val="7600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9" name="Shape 7"/>
          <p:cNvSpPr/>
          <p:nvPr/>
        </p:nvSpPr>
        <p:spPr>
          <a:xfrm>
            <a:off x="3931920" y="274320"/>
            <a:ext cx="0" cy="6035040"/>
          </a:xfrm>
          <a:prstGeom prst="line">
            <a:avLst/>
          </a:prstGeom>
          <a:noFill/>
          <a:ln w="4445">
            <a:solidFill>
              <a:srgbClr val="12304A">
                <a:alpha val="7600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0" name="Shape 8"/>
          <p:cNvSpPr/>
          <p:nvPr/>
        </p:nvSpPr>
        <p:spPr>
          <a:xfrm>
            <a:off x="4434840" y="274320"/>
            <a:ext cx="0" cy="6035040"/>
          </a:xfrm>
          <a:prstGeom prst="line">
            <a:avLst/>
          </a:prstGeom>
          <a:noFill/>
          <a:ln w="4445">
            <a:solidFill>
              <a:srgbClr val="12304A">
                <a:alpha val="7600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1" name="Shape 9"/>
          <p:cNvSpPr/>
          <p:nvPr/>
        </p:nvSpPr>
        <p:spPr>
          <a:xfrm>
            <a:off x="4937760" y="274320"/>
            <a:ext cx="0" cy="6035040"/>
          </a:xfrm>
          <a:prstGeom prst="line">
            <a:avLst/>
          </a:prstGeom>
          <a:noFill/>
          <a:ln w="4445">
            <a:solidFill>
              <a:srgbClr val="12304A">
                <a:alpha val="7600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2" name="Shape 10"/>
          <p:cNvSpPr/>
          <p:nvPr/>
        </p:nvSpPr>
        <p:spPr>
          <a:xfrm>
            <a:off x="5440680" y="274320"/>
            <a:ext cx="0" cy="6035040"/>
          </a:xfrm>
          <a:prstGeom prst="line">
            <a:avLst/>
          </a:prstGeom>
          <a:noFill/>
          <a:ln w="4445">
            <a:solidFill>
              <a:srgbClr val="12304A">
                <a:alpha val="7600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3" name="Shape 11"/>
          <p:cNvSpPr/>
          <p:nvPr/>
        </p:nvSpPr>
        <p:spPr>
          <a:xfrm>
            <a:off x="5943600" y="274320"/>
            <a:ext cx="0" cy="6035040"/>
          </a:xfrm>
          <a:prstGeom prst="line">
            <a:avLst/>
          </a:prstGeom>
          <a:noFill/>
          <a:ln w="4445">
            <a:solidFill>
              <a:srgbClr val="12304A">
                <a:alpha val="7600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4" name="Shape 12"/>
          <p:cNvSpPr/>
          <p:nvPr/>
        </p:nvSpPr>
        <p:spPr>
          <a:xfrm>
            <a:off x="6446520" y="274320"/>
            <a:ext cx="0" cy="6035040"/>
          </a:xfrm>
          <a:prstGeom prst="line">
            <a:avLst/>
          </a:prstGeom>
          <a:noFill/>
          <a:ln w="4445">
            <a:solidFill>
              <a:srgbClr val="12304A">
                <a:alpha val="7600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5" name="Shape 13"/>
          <p:cNvSpPr/>
          <p:nvPr/>
        </p:nvSpPr>
        <p:spPr>
          <a:xfrm>
            <a:off x="6949440" y="274320"/>
            <a:ext cx="0" cy="6035040"/>
          </a:xfrm>
          <a:prstGeom prst="line">
            <a:avLst/>
          </a:prstGeom>
          <a:noFill/>
          <a:ln w="4445">
            <a:solidFill>
              <a:srgbClr val="12304A">
                <a:alpha val="7600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6" name="Shape 14"/>
          <p:cNvSpPr/>
          <p:nvPr/>
        </p:nvSpPr>
        <p:spPr>
          <a:xfrm>
            <a:off x="7452360" y="274320"/>
            <a:ext cx="0" cy="6035040"/>
          </a:xfrm>
          <a:prstGeom prst="line">
            <a:avLst/>
          </a:prstGeom>
          <a:noFill/>
          <a:ln w="4445">
            <a:solidFill>
              <a:srgbClr val="12304A">
                <a:alpha val="7600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7" name="Shape 15"/>
          <p:cNvSpPr/>
          <p:nvPr/>
        </p:nvSpPr>
        <p:spPr>
          <a:xfrm>
            <a:off x="7955280" y="274320"/>
            <a:ext cx="0" cy="6035040"/>
          </a:xfrm>
          <a:prstGeom prst="line">
            <a:avLst/>
          </a:prstGeom>
          <a:noFill/>
          <a:ln w="4445">
            <a:solidFill>
              <a:srgbClr val="12304A">
                <a:alpha val="7600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8" name="Shape 16"/>
          <p:cNvSpPr/>
          <p:nvPr/>
        </p:nvSpPr>
        <p:spPr>
          <a:xfrm>
            <a:off x="8458200" y="274320"/>
            <a:ext cx="0" cy="6035040"/>
          </a:xfrm>
          <a:prstGeom prst="line">
            <a:avLst/>
          </a:prstGeom>
          <a:noFill/>
          <a:ln w="4445">
            <a:solidFill>
              <a:srgbClr val="12304A">
                <a:alpha val="7600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9" name="Shape 17"/>
          <p:cNvSpPr/>
          <p:nvPr/>
        </p:nvSpPr>
        <p:spPr>
          <a:xfrm>
            <a:off x="8961120" y="274320"/>
            <a:ext cx="0" cy="6035040"/>
          </a:xfrm>
          <a:prstGeom prst="line">
            <a:avLst/>
          </a:prstGeom>
          <a:noFill/>
          <a:ln w="4445">
            <a:solidFill>
              <a:srgbClr val="12304A">
                <a:alpha val="7600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0" name="Shape 18"/>
          <p:cNvSpPr/>
          <p:nvPr/>
        </p:nvSpPr>
        <p:spPr>
          <a:xfrm>
            <a:off x="9464040" y="274320"/>
            <a:ext cx="0" cy="6035040"/>
          </a:xfrm>
          <a:prstGeom prst="line">
            <a:avLst/>
          </a:prstGeom>
          <a:noFill/>
          <a:ln w="4445">
            <a:solidFill>
              <a:srgbClr val="12304A">
                <a:alpha val="7600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1" name="Shape 19"/>
          <p:cNvSpPr/>
          <p:nvPr/>
        </p:nvSpPr>
        <p:spPr>
          <a:xfrm>
            <a:off x="9966960" y="274320"/>
            <a:ext cx="0" cy="6035040"/>
          </a:xfrm>
          <a:prstGeom prst="line">
            <a:avLst/>
          </a:prstGeom>
          <a:noFill/>
          <a:ln w="4445">
            <a:solidFill>
              <a:srgbClr val="12304A">
                <a:alpha val="7600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2" name="Shape 20"/>
          <p:cNvSpPr/>
          <p:nvPr/>
        </p:nvSpPr>
        <p:spPr>
          <a:xfrm>
            <a:off x="10469880" y="274320"/>
            <a:ext cx="0" cy="6035040"/>
          </a:xfrm>
          <a:prstGeom prst="line">
            <a:avLst/>
          </a:prstGeom>
          <a:noFill/>
          <a:ln w="4445">
            <a:solidFill>
              <a:srgbClr val="12304A">
                <a:alpha val="7600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3" name="Shape 21"/>
          <p:cNvSpPr/>
          <p:nvPr/>
        </p:nvSpPr>
        <p:spPr>
          <a:xfrm>
            <a:off x="10972800" y="274320"/>
            <a:ext cx="0" cy="6035040"/>
          </a:xfrm>
          <a:prstGeom prst="line">
            <a:avLst/>
          </a:prstGeom>
          <a:noFill/>
          <a:ln w="4445">
            <a:solidFill>
              <a:srgbClr val="12304A">
                <a:alpha val="7600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4" name="Shape 22"/>
          <p:cNvSpPr/>
          <p:nvPr/>
        </p:nvSpPr>
        <p:spPr>
          <a:xfrm>
            <a:off x="11475720" y="274320"/>
            <a:ext cx="0" cy="6035040"/>
          </a:xfrm>
          <a:prstGeom prst="line">
            <a:avLst/>
          </a:prstGeom>
          <a:noFill/>
          <a:ln w="4445">
            <a:solidFill>
              <a:srgbClr val="12304A">
                <a:alpha val="7600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5" name="Shape 23"/>
          <p:cNvSpPr/>
          <p:nvPr/>
        </p:nvSpPr>
        <p:spPr>
          <a:xfrm>
            <a:off x="320040" y="365760"/>
            <a:ext cx="11521440" cy="0"/>
          </a:xfrm>
          <a:prstGeom prst="line">
            <a:avLst/>
          </a:prstGeom>
          <a:noFill/>
          <a:ln w="4445">
            <a:solidFill>
              <a:srgbClr val="12304A">
                <a:alpha val="7600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6" name="Shape 24"/>
          <p:cNvSpPr/>
          <p:nvPr/>
        </p:nvSpPr>
        <p:spPr>
          <a:xfrm>
            <a:off x="320040" y="822960"/>
            <a:ext cx="11521440" cy="0"/>
          </a:xfrm>
          <a:prstGeom prst="line">
            <a:avLst/>
          </a:prstGeom>
          <a:noFill/>
          <a:ln w="4445">
            <a:solidFill>
              <a:srgbClr val="12304A">
                <a:alpha val="7600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7" name="Shape 25"/>
          <p:cNvSpPr/>
          <p:nvPr/>
        </p:nvSpPr>
        <p:spPr>
          <a:xfrm>
            <a:off x="320040" y="1280160"/>
            <a:ext cx="11521440" cy="0"/>
          </a:xfrm>
          <a:prstGeom prst="line">
            <a:avLst/>
          </a:prstGeom>
          <a:noFill/>
          <a:ln w="4445">
            <a:solidFill>
              <a:srgbClr val="12304A">
                <a:alpha val="7600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8" name="Shape 26"/>
          <p:cNvSpPr/>
          <p:nvPr/>
        </p:nvSpPr>
        <p:spPr>
          <a:xfrm>
            <a:off x="320040" y="1737360"/>
            <a:ext cx="11521440" cy="0"/>
          </a:xfrm>
          <a:prstGeom prst="line">
            <a:avLst/>
          </a:prstGeom>
          <a:noFill/>
          <a:ln w="4445">
            <a:solidFill>
              <a:srgbClr val="12304A">
                <a:alpha val="7600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9" name="Shape 27"/>
          <p:cNvSpPr/>
          <p:nvPr/>
        </p:nvSpPr>
        <p:spPr>
          <a:xfrm>
            <a:off x="320040" y="2194560"/>
            <a:ext cx="11521440" cy="0"/>
          </a:xfrm>
          <a:prstGeom prst="line">
            <a:avLst/>
          </a:prstGeom>
          <a:noFill/>
          <a:ln w="4445">
            <a:solidFill>
              <a:srgbClr val="12304A">
                <a:alpha val="7600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0" name="Shape 28"/>
          <p:cNvSpPr/>
          <p:nvPr/>
        </p:nvSpPr>
        <p:spPr>
          <a:xfrm>
            <a:off x="320040" y="2651760"/>
            <a:ext cx="11521440" cy="0"/>
          </a:xfrm>
          <a:prstGeom prst="line">
            <a:avLst/>
          </a:prstGeom>
          <a:noFill/>
          <a:ln w="4445">
            <a:solidFill>
              <a:srgbClr val="12304A">
                <a:alpha val="7600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1" name="Shape 29"/>
          <p:cNvSpPr/>
          <p:nvPr/>
        </p:nvSpPr>
        <p:spPr>
          <a:xfrm>
            <a:off x="320040" y="3108960"/>
            <a:ext cx="11521440" cy="0"/>
          </a:xfrm>
          <a:prstGeom prst="line">
            <a:avLst/>
          </a:prstGeom>
          <a:noFill/>
          <a:ln w="4445">
            <a:solidFill>
              <a:srgbClr val="12304A">
                <a:alpha val="7600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2" name="Shape 30"/>
          <p:cNvSpPr/>
          <p:nvPr/>
        </p:nvSpPr>
        <p:spPr>
          <a:xfrm>
            <a:off x="320040" y="3566160"/>
            <a:ext cx="11521440" cy="0"/>
          </a:xfrm>
          <a:prstGeom prst="line">
            <a:avLst/>
          </a:prstGeom>
          <a:noFill/>
          <a:ln w="4445">
            <a:solidFill>
              <a:srgbClr val="12304A">
                <a:alpha val="7600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3" name="Shape 31"/>
          <p:cNvSpPr/>
          <p:nvPr/>
        </p:nvSpPr>
        <p:spPr>
          <a:xfrm>
            <a:off x="320040" y="4023360"/>
            <a:ext cx="11521440" cy="0"/>
          </a:xfrm>
          <a:prstGeom prst="line">
            <a:avLst/>
          </a:prstGeom>
          <a:noFill/>
          <a:ln w="4445">
            <a:solidFill>
              <a:srgbClr val="12304A">
                <a:alpha val="7600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4" name="Shape 32"/>
          <p:cNvSpPr/>
          <p:nvPr/>
        </p:nvSpPr>
        <p:spPr>
          <a:xfrm>
            <a:off x="320040" y="4480560"/>
            <a:ext cx="11521440" cy="0"/>
          </a:xfrm>
          <a:prstGeom prst="line">
            <a:avLst/>
          </a:prstGeom>
          <a:noFill/>
          <a:ln w="4445">
            <a:solidFill>
              <a:srgbClr val="12304A">
                <a:alpha val="7600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5" name="Shape 33"/>
          <p:cNvSpPr/>
          <p:nvPr/>
        </p:nvSpPr>
        <p:spPr>
          <a:xfrm>
            <a:off x="320040" y="4937760"/>
            <a:ext cx="11521440" cy="0"/>
          </a:xfrm>
          <a:prstGeom prst="line">
            <a:avLst/>
          </a:prstGeom>
          <a:noFill/>
          <a:ln w="4445">
            <a:solidFill>
              <a:srgbClr val="12304A">
                <a:alpha val="7600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6" name="Shape 34"/>
          <p:cNvSpPr/>
          <p:nvPr/>
        </p:nvSpPr>
        <p:spPr>
          <a:xfrm>
            <a:off x="320040" y="5394960"/>
            <a:ext cx="11521440" cy="0"/>
          </a:xfrm>
          <a:prstGeom prst="line">
            <a:avLst/>
          </a:prstGeom>
          <a:noFill/>
          <a:ln w="4445">
            <a:solidFill>
              <a:srgbClr val="12304A">
                <a:alpha val="7600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7" name="Shape 35"/>
          <p:cNvSpPr/>
          <p:nvPr/>
        </p:nvSpPr>
        <p:spPr>
          <a:xfrm>
            <a:off x="320040" y="5852160"/>
            <a:ext cx="11521440" cy="0"/>
          </a:xfrm>
          <a:prstGeom prst="line">
            <a:avLst/>
          </a:prstGeom>
          <a:noFill/>
          <a:ln w="4445">
            <a:solidFill>
              <a:srgbClr val="12304A">
                <a:alpha val="7600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8" name="Shape 36"/>
          <p:cNvSpPr/>
          <p:nvPr/>
        </p:nvSpPr>
        <p:spPr>
          <a:xfrm>
            <a:off x="320040" y="6309360"/>
            <a:ext cx="11521440" cy="0"/>
          </a:xfrm>
          <a:prstGeom prst="line">
            <a:avLst/>
          </a:prstGeom>
          <a:noFill/>
          <a:ln w="4445">
            <a:solidFill>
              <a:srgbClr val="12304A">
                <a:alpha val="7600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9" name="Shape 37"/>
          <p:cNvSpPr/>
          <p:nvPr/>
        </p:nvSpPr>
        <p:spPr>
          <a:xfrm>
            <a:off x="9966960" y="731520"/>
            <a:ext cx="1645920" cy="1645920"/>
          </a:xfrm>
          <a:prstGeom prst="ellipse">
            <a:avLst/>
          </a:prstGeom>
          <a:solidFill>
            <a:srgbClr val="27D3FF">
              <a:alpha val="15000"/>
            </a:srgbClr>
          </a:solidFill>
          <a:ln w="12700">
            <a:solidFill>
              <a:srgbClr val="27D3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0" name="Text 38"/>
          <p:cNvSpPr/>
          <p:nvPr/>
        </p:nvSpPr>
        <p:spPr>
          <a:xfrm>
            <a:off x="502920" y="38404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20" dirty="0">
                <a:solidFill>
                  <a:srgbClr val="27D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/ CIERRE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502920" y="694944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F5F9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SmartBancs: qué demuestra el MVP</a:t>
            </a:r>
            <a:endParaRPr lang="en-US" sz="2700" dirty="0"/>
          </a:p>
        </p:txBody>
      </p:sp>
      <p:sp>
        <p:nvSpPr>
          <p:cNvPr id="42" name="Text 40"/>
          <p:cNvSpPr/>
          <p:nvPr/>
        </p:nvSpPr>
        <p:spPr>
          <a:xfrm>
            <a:off x="521208" y="1243584"/>
            <a:ext cx="10424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80" dirty="0">
                <a:solidFill>
                  <a:srgbClr val="9AB2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diseño pequeño, reproducible y defendible para un escenario bancario con concurrencia e integraciones externas.</a:t>
            </a:r>
            <a:endParaRPr lang="en-US" sz="1280" dirty="0"/>
          </a:p>
        </p:txBody>
      </p:sp>
      <p:sp>
        <p:nvSpPr>
          <p:cNvPr id="43" name="Shape 41"/>
          <p:cNvSpPr/>
          <p:nvPr/>
        </p:nvSpPr>
        <p:spPr>
          <a:xfrm>
            <a:off x="658368" y="1828800"/>
            <a:ext cx="5074920" cy="1060704"/>
          </a:xfrm>
          <a:prstGeom prst="roundRect">
            <a:avLst>
              <a:gd name="adj" fmla="val 6897"/>
            </a:avLst>
          </a:prstGeom>
          <a:solidFill>
            <a:srgbClr val="0C1B2D"/>
          </a:solidFill>
          <a:ln w="13970">
            <a:solidFill>
              <a:srgbClr val="1D3B58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4" name="Shape 42"/>
          <p:cNvSpPr/>
          <p:nvPr/>
        </p:nvSpPr>
        <p:spPr>
          <a:xfrm>
            <a:off x="694944" y="1883664"/>
            <a:ext cx="45720" cy="950976"/>
          </a:xfrm>
          <a:prstGeom prst="rect">
            <a:avLst/>
          </a:prstGeom>
          <a:solidFill>
            <a:srgbClr val="31D49B"/>
          </a:solidFill>
          <a:ln w="12700">
            <a:solidFill>
              <a:srgbClr val="31D49B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5" name="Text 43"/>
          <p:cNvSpPr/>
          <p:nvPr/>
        </p:nvSpPr>
        <p:spPr>
          <a:xfrm>
            <a:off x="841248" y="1975104"/>
            <a:ext cx="4782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F5F9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Consistencia financiera</a:t>
            </a:r>
            <a:endParaRPr lang="en-US" sz="1450" dirty="0"/>
          </a:p>
        </p:txBody>
      </p:sp>
      <p:sp>
        <p:nvSpPr>
          <p:cNvPr id="46" name="Text 44"/>
          <p:cNvSpPr/>
          <p:nvPr/>
        </p:nvSpPr>
        <p:spPr>
          <a:xfrm>
            <a:off x="841248" y="2322576"/>
            <a:ext cx="475488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9AB2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ACID, locks, rollback e idempotencia</a:t>
            </a:r>
            <a:endParaRPr lang="en-US" sz="1120" dirty="0"/>
          </a:p>
        </p:txBody>
      </p:sp>
      <p:sp>
        <p:nvSpPr>
          <p:cNvPr id="47" name="Shape 45"/>
          <p:cNvSpPr/>
          <p:nvPr/>
        </p:nvSpPr>
        <p:spPr>
          <a:xfrm>
            <a:off x="6099048" y="1828800"/>
            <a:ext cx="5074920" cy="1060704"/>
          </a:xfrm>
          <a:prstGeom prst="roundRect">
            <a:avLst>
              <a:gd name="adj" fmla="val 6897"/>
            </a:avLst>
          </a:prstGeom>
          <a:solidFill>
            <a:srgbClr val="0C1B2D"/>
          </a:solidFill>
          <a:ln w="13970">
            <a:solidFill>
              <a:srgbClr val="1D3B58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8" name="Shape 46"/>
          <p:cNvSpPr/>
          <p:nvPr/>
        </p:nvSpPr>
        <p:spPr>
          <a:xfrm>
            <a:off x="6135624" y="1883664"/>
            <a:ext cx="45720" cy="950976"/>
          </a:xfrm>
          <a:prstGeom prst="rect">
            <a:avLst/>
          </a:prstGeom>
          <a:solidFill>
            <a:srgbClr val="27D3FF"/>
          </a:solidFill>
          <a:ln w="12700">
            <a:solidFill>
              <a:srgbClr val="27D3FF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9" name="Text 47"/>
          <p:cNvSpPr/>
          <p:nvPr/>
        </p:nvSpPr>
        <p:spPr>
          <a:xfrm>
            <a:off x="6281928" y="1975104"/>
            <a:ext cx="4782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F5F9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Integración desacoplada</a:t>
            </a:r>
            <a:endParaRPr lang="en-US" sz="1450" dirty="0"/>
          </a:p>
        </p:txBody>
      </p:sp>
      <p:sp>
        <p:nvSpPr>
          <p:cNvPr id="50" name="Text 48"/>
          <p:cNvSpPr/>
          <p:nvPr/>
        </p:nvSpPr>
        <p:spPr>
          <a:xfrm>
            <a:off x="6281928" y="2322576"/>
            <a:ext cx="475488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9AB2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Outbox + Worker para proteger Bancs</a:t>
            </a:r>
            <a:endParaRPr lang="en-US" sz="1120" dirty="0"/>
          </a:p>
        </p:txBody>
      </p:sp>
      <p:sp>
        <p:nvSpPr>
          <p:cNvPr id="51" name="Shape 49"/>
          <p:cNvSpPr/>
          <p:nvPr/>
        </p:nvSpPr>
        <p:spPr>
          <a:xfrm>
            <a:off x="658368" y="3154680"/>
            <a:ext cx="5074920" cy="1060704"/>
          </a:xfrm>
          <a:prstGeom prst="roundRect">
            <a:avLst>
              <a:gd name="adj" fmla="val 6897"/>
            </a:avLst>
          </a:prstGeom>
          <a:solidFill>
            <a:srgbClr val="0C1B2D"/>
          </a:solidFill>
          <a:ln w="13970">
            <a:solidFill>
              <a:srgbClr val="1D3B58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52" name="Shape 50"/>
          <p:cNvSpPr/>
          <p:nvPr/>
        </p:nvSpPr>
        <p:spPr>
          <a:xfrm>
            <a:off x="694944" y="3209544"/>
            <a:ext cx="45720" cy="950976"/>
          </a:xfrm>
          <a:prstGeom prst="rect">
            <a:avLst/>
          </a:prstGeom>
          <a:solidFill>
            <a:srgbClr val="8C65FF"/>
          </a:solidFill>
          <a:ln w="12700">
            <a:solidFill>
              <a:srgbClr val="8C65FF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53" name="Text 51"/>
          <p:cNvSpPr/>
          <p:nvPr/>
        </p:nvSpPr>
        <p:spPr>
          <a:xfrm>
            <a:off x="841248" y="3300984"/>
            <a:ext cx="4782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F5F9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IA fuera del camino crítico</a:t>
            </a:r>
            <a:endParaRPr lang="en-US" sz="1450" dirty="0"/>
          </a:p>
        </p:txBody>
      </p:sp>
      <p:sp>
        <p:nvSpPr>
          <p:cNvPr id="54" name="Text 52"/>
          <p:cNvSpPr/>
          <p:nvPr/>
        </p:nvSpPr>
        <p:spPr>
          <a:xfrm>
            <a:off x="841248" y="3648456"/>
            <a:ext cx="475488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9AB2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Recomendaciones asíncronas y versionadas</a:t>
            </a:r>
            <a:endParaRPr lang="en-US" sz="1120" dirty="0"/>
          </a:p>
        </p:txBody>
      </p:sp>
      <p:sp>
        <p:nvSpPr>
          <p:cNvPr id="55" name="Shape 53"/>
          <p:cNvSpPr/>
          <p:nvPr/>
        </p:nvSpPr>
        <p:spPr>
          <a:xfrm>
            <a:off x="6099048" y="3154680"/>
            <a:ext cx="5074920" cy="1060704"/>
          </a:xfrm>
          <a:prstGeom prst="roundRect">
            <a:avLst>
              <a:gd name="adj" fmla="val 6897"/>
            </a:avLst>
          </a:prstGeom>
          <a:solidFill>
            <a:srgbClr val="0C1B2D"/>
          </a:solidFill>
          <a:ln w="13970">
            <a:solidFill>
              <a:srgbClr val="1D3B58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56" name="Shape 54"/>
          <p:cNvSpPr/>
          <p:nvPr/>
        </p:nvSpPr>
        <p:spPr>
          <a:xfrm>
            <a:off x="6135624" y="3209544"/>
            <a:ext cx="45720" cy="950976"/>
          </a:xfrm>
          <a:prstGeom prst="rect">
            <a:avLst/>
          </a:prstGeom>
          <a:solidFill>
            <a:srgbClr val="4B7BFF"/>
          </a:solidFill>
          <a:ln w="12700">
            <a:solidFill>
              <a:srgbClr val="4B7BFF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57" name="Text 55"/>
          <p:cNvSpPr/>
          <p:nvPr/>
        </p:nvSpPr>
        <p:spPr>
          <a:xfrm>
            <a:off x="6281928" y="3300984"/>
            <a:ext cx="4782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F5F9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Operación observable</a:t>
            </a:r>
            <a:endParaRPr lang="en-US" sz="1450" dirty="0"/>
          </a:p>
        </p:txBody>
      </p:sp>
      <p:sp>
        <p:nvSpPr>
          <p:cNvPr id="58" name="Text 56"/>
          <p:cNvSpPr/>
          <p:nvPr/>
        </p:nvSpPr>
        <p:spPr>
          <a:xfrm>
            <a:off x="6281928" y="3648456"/>
            <a:ext cx="475488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9AB2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Logs, correlation ID y métricas</a:t>
            </a:r>
            <a:endParaRPr lang="en-US" sz="1120" dirty="0"/>
          </a:p>
        </p:txBody>
      </p:sp>
      <p:sp>
        <p:nvSpPr>
          <p:cNvPr id="59" name="Shape 57"/>
          <p:cNvSpPr/>
          <p:nvPr/>
        </p:nvSpPr>
        <p:spPr>
          <a:xfrm>
            <a:off x="658368" y="4709160"/>
            <a:ext cx="10543032" cy="868680"/>
          </a:xfrm>
          <a:prstGeom prst="roundRect">
            <a:avLst>
              <a:gd name="adj" fmla="val 7368"/>
            </a:avLst>
          </a:prstGeom>
          <a:solidFill>
            <a:srgbClr val="27D3FF">
              <a:alpha val="11000"/>
            </a:srgbClr>
          </a:solidFill>
          <a:ln w="12700">
            <a:solidFill>
              <a:srgbClr val="27D3FF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60" name="Text 58"/>
          <p:cNvSpPr/>
          <p:nvPr/>
        </p:nvSpPr>
        <p:spPr>
          <a:xfrm>
            <a:off x="868680" y="4992624"/>
            <a:ext cx="10149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40" b="1" dirty="0">
                <a:solidFill>
                  <a:srgbClr val="F5F9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DEMO  →  POST /transactions  →  Worker logs  →  Recommendation  →  /metrics  →  pytest  →  docker compose ps</a:t>
            </a:r>
            <a:endParaRPr lang="en-US" sz="1140" dirty="0"/>
          </a:p>
        </p:txBody>
      </p:sp>
      <p:sp>
        <p:nvSpPr>
          <p:cNvPr id="61" name="Text 59"/>
          <p:cNvSpPr/>
          <p:nvPr/>
        </p:nvSpPr>
        <p:spPr>
          <a:xfrm>
            <a:off x="658368" y="582472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5F9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Gracias</a:t>
            </a:r>
            <a:endParaRPr lang="en-US" sz="2200" dirty="0"/>
          </a:p>
        </p:txBody>
      </p:sp>
      <p:sp>
        <p:nvSpPr>
          <p:cNvPr id="62" name="Text 60"/>
          <p:cNvSpPr/>
          <p:nvPr/>
        </p:nvSpPr>
        <p:spPr>
          <a:xfrm>
            <a:off x="2331720" y="5907024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AB2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SmartBancs • Technical Challenge MVP</a:t>
            </a:r>
            <a:endParaRPr lang="en-US" sz="1050" dirty="0"/>
          </a:p>
        </p:txBody>
      </p:sp>
      <p:sp>
        <p:nvSpPr>
          <p:cNvPr id="63" name="Shape 61"/>
          <p:cNvSpPr/>
          <p:nvPr/>
        </p:nvSpPr>
        <p:spPr>
          <a:xfrm>
            <a:off x="9784080" y="5742432"/>
            <a:ext cx="1417320" cy="310896"/>
          </a:xfrm>
          <a:prstGeom prst="roundRect">
            <a:avLst>
              <a:gd name="adj" fmla="val 35294"/>
            </a:avLst>
          </a:prstGeom>
          <a:solidFill>
            <a:srgbClr val="27D3FF">
              <a:alpha val="18000"/>
            </a:srgbClr>
          </a:solidFill>
          <a:ln w="10160">
            <a:solidFill>
              <a:srgbClr val="27D3FF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64" name="Text 62"/>
          <p:cNvSpPr/>
          <p:nvPr/>
        </p:nvSpPr>
        <p:spPr>
          <a:xfrm>
            <a:off x="9838944" y="5801868"/>
            <a:ext cx="1307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40" b="1" dirty="0">
                <a:solidFill>
                  <a:srgbClr val="27D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Q&amp;A</a:t>
            </a:r>
            <a:endParaRPr lang="en-US" sz="940" dirty="0"/>
          </a:p>
        </p:txBody>
      </p:sp>
      <p:sp>
        <p:nvSpPr>
          <p:cNvPr id="6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73952"/>
            <a:ext cx="36576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F8CA8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965</Words>
  <Application>Microsoft Office PowerPoint</Application>
  <PresentationFormat>Widescreen</PresentationFormat>
  <Paragraphs>267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SmartBancs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SmartBancs - MVP Técnico</dc:title>
  <dc:subject>SmartBancs Technical Challenge</dc:subject>
  <dc:creator>OpenAI</dc:creator>
  <cp:lastModifiedBy>Doménica Plaza</cp:lastModifiedBy>
  <cp:revision>2</cp:revision>
  <dcterms:created xsi:type="dcterms:W3CDTF">2026-09-24T00:27:37Z</dcterms:created>
  <dcterms:modified xsi:type="dcterms:W3CDTF">2026-09-24T05:05:47Z</dcterms:modified>
</cp:coreProperties>
</file>